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Montserrat Bold Italics" charset="1" panose="00000800000000000000"/>
      <p:regular r:id="rId24"/>
    </p:embeddedFont>
    <p:embeddedFont>
      <p:font typeface="Montserrat Bold" charset="1" panose="00000800000000000000"/>
      <p:regular r:id="rId25"/>
    </p:embeddedFont>
    <p:embeddedFont>
      <p:font typeface="Montserrat" charset="1" panose="00000500000000000000"/>
      <p:regular r:id="rId26"/>
    </p:embeddedFont>
    <p:embeddedFont>
      <p:font typeface="Glacial Indifference Bold Italics" charset="1" panose="00000800000000000000"/>
      <p:regular r:id="rId27"/>
    </p:embeddedFont>
    <p:embeddedFont>
      <p:font typeface="Glacial Indifference" charset="1" panose="0000000000000000000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1671" y="3655314"/>
            <a:ext cx="16569338" cy="66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 i="true">
                <a:solidFill>
                  <a:srgbClr val="000000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CHURN PREVENTION BLUEPRINT : A SYRIATEL CASE STUDY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487959" y="5517375"/>
            <a:ext cx="14147416" cy="513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8"/>
              </a:lnSpc>
            </a:pPr>
            <a:r>
              <a:rPr lang="en-US" b="true" sz="3042" i="true">
                <a:solidFill>
                  <a:srgbClr val="FF914D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 From Data</a:t>
            </a:r>
            <a:r>
              <a:rPr lang="en-US" b="true" sz="3042" i="true">
                <a:solidFill>
                  <a:srgbClr val="FF914D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 to Action: Reducing Attrition with Predictive Analytics</a:t>
            </a:r>
          </a:p>
        </p:txBody>
      </p:sp>
      <p:sp>
        <p:nvSpPr>
          <p:cNvPr name="AutoShape 5" id="5"/>
          <p:cNvSpPr/>
          <p:nvPr/>
        </p:nvSpPr>
        <p:spPr>
          <a:xfrm>
            <a:off x="4210885" y="4953000"/>
            <a:ext cx="11052890" cy="0"/>
          </a:xfrm>
          <a:prstGeom prst="line">
            <a:avLst/>
          </a:prstGeom>
          <a:ln cap="flat" w="38100">
            <a:solidFill>
              <a:srgbClr val="FF914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40814" y="106723"/>
            <a:ext cx="4070071" cy="1843954"/>
            <a:chOff x="0" y="0"/>
            <a:chExt cx="4070071" cy="184395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2902966" y="294513"/>
              <a:ext cx="956310" cy="27940"/>
            </a:xfrm>
            <a:custGeom>
              <a:avLst/>
              <a:gdLst/>
              <a:ahLst/>
              <a:cxnLst/>
              <a:rect r="r" b="b" t="t" l="l"/>
              <a:pathLst>
                <a:path h="27940" w="956310">
                  <a:moveTo>
                    <a:pt x="956310" y="27940"/>
                  </a:moveTo>
                  <a:lnTo>
                    <a:pt x="0" y="27940"/>
                  </a:lnTo>
                  <a:lnTo>
                    <a:pt x="0" y="0"/>
                  </a:lnTo>
                  <a:lnTo>
                    <a:pt x="956310" y="0"/>
                  </a:lnTo>
                  <a:lnTo>
                    <a:pt x="956310" y="27940"/>
                  </a:ln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034157" y="486791"/>
              <a:ext cx="243840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40">
                  <a:moveTo>
                    <a:pt x="121920" y="198755"/>
                  </a:moveTo>
                  <a:cubicBezTo>
                    <a:pt x="79502" y="198755"/>
                    <a:pt x="45085" y="164338"/>
                    <a:pt x="45085" y="121920"/>
                  </a:cubicBezTo>
                  <a:cubicBezTo>
                    <a:pt x="45085" y="79502"/>
                    <a:pt x="79502" y="45085"/>
                    <a:pt x="121920" y="45085"/>
                  </a:cubicBezTo>
                  <a:cubicBezTo>
                    <a:pt x="164338" y="45085"/>
                    <a:pt x="198755" y="79502"/>
                    <a:pt x="198755" y="121920"/>
                  </a:cubicBezTo>
                  <a:cubicBezTo>
                    <a:pt x="198755" y="164338"/>
                    <a:pt x="164338" y="198755"/>
                    <a:pt x="121920" y="198755"/>
                  </a:cubicBezTo>
                  <a:close/>
                  <a:moveTo>
                    <a:pt x="121920" y="0"/>
                  </a:moveTo>
                  <a:cubicBezTo>
                    <a:pt x="54610" y="0"/>
                    <a:pt x="0" y="54610"/>
                    <a:pt x="0" y="121920"/>
                  </a:cubicBezTo>
                  <a:cubicBezTo>
                    <a:pt x="0" y="189230"/>
                    <a:pt x="54610" y="243840"/>
                    <a:pt x="121920" y="243840"/>
                  </a:cubicBezTo>
                  <a:cubicBezTo>
                    <a:pt x="189230" y="243840"/>
                    <a:pt x="243840" y="189230"/>
                    <a:pt x="243840" y="121920"/>
                  </a:cubicBezTo>
                  <a:cubicBezTo>
                    <a:pt x="243840" y="54610"/>
                    <a:pt x="189230" y="0"/>
                    <a:pt x="121920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549275" y="383286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0"/>
                  </a:moveTo>
                  <a:cubicBezTo>
                    <a:pt x="37719" y="0"/>
                    <a:pt x="0" y="37592"/>
                    <a:pt x="0" y="84074"/>
                  </a:cubicBezTo>
                  <a:cubicBezTo>
                    <a:pt x="0" y="130556"/>
                    <a:pt x="37592" y="168148"/>
                    <a:pt x="84074" y="168148"/>
                  </a:cubicBezTo>
                  <a:cubicBezTo>
                    <a:pt x="130556" y="168148"/>
                    <a:pt x="168148" y="130556"/>
                    <a:pt x="168148" y="84074"/>
                  </a:cubicBezTo>
                  <a:cubicBezTo>
                    <a:pt x="168148" y="37592"/>
                    <a:pt x="130556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838448" y="224536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0"/>
                  </a:moveTo>
                  <a:cubicBezTo>
                    <a:pt x="37719" y="0"/>
                    <a:pt x="0" y="37592"/>
                    <a:pt x="0" y="84074"/>
                  </a:cubicBezTo>
                  <a:cubicBezTo>
                    <a:pt x="0" y="130556"/>
                    <a:pt x="37592" y="168148"/>
                    <a:pt x="84074" y="168148"/>
                  </a:cubicBezTo>
                  <a:cubicBezTo>
                    <a:pt x="130556" y="168148"/>
                    <a:pt x="168148" y="130556"/>
                    <a:pt x="168148" y="84074"/>
                  </a:cubicBezTo>
                  <a:cubicBezTo>
                    <a:pt x="168148" y="37592"/>
                    <a:pt x="130556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2551049" y="63500"/>
              <a:ext cx="168148" cy="140843"/>
            </a:xfrm>
            <a:custGeom>
              <a:avLst/>
              <a:gdLst/>
              <a:ahLst/>
              <a:cxnLst/>
              <a:rect r="r" b="b" t="t" l="l"/>
              <a:pathLst>
                <a:path h="140843" w="168148">
                  <a:moveTo>
                    <a:pt x="84074" y="3810"/>
                  </a:moveTo>
                  <a:cubicBezTo>
                    <a:pt x="113284" y="3810"/>
                    <a:pt x="137033" y="27559"/>
                    <a:pt x="137033" y="56769"/>
                  </a:cubicBezTo>
                  <a:cubicBezTo>
                    <a:pt x="137033" y="85979"/>
                    <a:pt x="113284" y="109728"/>
                    <a:pt x="84074" y="109728"/>
                  </a:cubicBezTo>
                  <a:cubicBezTo>
                    <a:pt x="54864" y="109728"/>
                    <a:pt x="31115" y="85979"/>
                    <a:pt x="31115" y="56769"/>
                  </a:cubicBezTo>
                  <a:cubicBezTo>
                    <a:pt x="31115" y="27559"/>
                    <a:pt x="54864" y="3810"/>
                    <a:pt x="84074" y="3810"/>
                  </a:cubicBezTo>
                  <a:close/>
                  <a:moveTo>
                    <a:pt x="22098" y="0"/>
                  </a:moveTo>
                  <a:cubicBezTo>
                    <a:pt x="8382" y="14986"/>
                    <a:pt x="0" y="34925"/>
                    <a:pt x="0" y="56769"/>
                  </a:cubicBezTo>
                  <a:cubicBezTo>
                    <a:pt x="0" y="103251"/>
                    <a:pt x="37592" y="140843"/>
                    <a:pt x="84074" y="140843"/>
                  </a:cubicBezTo>
                  <a:cubicBezTo>
                    <a:pt x="130556" y="140843"/>
                    <a:pt x="168148" y="103251"/>
                    <a:pt x="168148" y="56769"/>
                  </a:cubicBezTo>
                  <a:cubicBezTo>
                    <a:pt x="168148" y="34925"/>
                    <a:pt x="159766" y="14986"/>
                    <a:pt x="146050" y="0"/>
                  </a:cubicBezTo>
                  <a:close/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63500" y="63500"/>
              <a:ext cx="2995930" cy="975360"/>
            </a:xfrm>
            <a:custGeom>
              <a:avLst/>
              <a:gdLst/>
              <a:ahLst/>
              <a:cxnLst/>
              <a:rect r="r" b="b" t="t" l="l"/>
              <a:pathLst>
                <a:path h="975360" w="2995930">
                  <a:moveTo>
                    <a:pt x="1186561" y="0"/>
                  </a:moveTo>
                  <a:lnTo>
                    <a:pt x="1228979" y="42418"/>
                  </a:lnTo>
                  <a:lnTo>
                    <a:pt x="1794637" y="42418"/>
                  </a:lnTo>
                  <a:lnTo>
                    <a:pt x="1837182" y="0"/>
                  </a:lnTo>
                  <a:lnTo>
                    <a:pt x="1777873" y="0"/>
                  </a:lnTo>
                  <a:lnTo>
                    <a:pt x="1777365" y="508"/>
                  </a:lnTo>
                  <a:lnTo>
                    <a:pt x="1246378" y="508"/>
                  </a:lnTo>
                  <a:lnTo>
                    <a:pt x="1245870" y="0"/>
                  </a:lnTo>
                  <a:close/>
                  <a:moveTo>
                    <a:pt x="0" y="50038"/>
                  </a:moveTo>
                  <a:lnTo>
                    <a:pt x="0" y="77978"/>
                  </a:lnTo>
                  <a:lnTo>
                    <a:pt x="651002" y="77978"/>
                  </a:lnTo>
                  <a:lnTo>
                    <a:pt x="964057" y="391160"/>
                  </a:lnTo>
                  <a:lnTo>
                    <a:pt x="968121" y="395224"/>
                  </a:lnTo>
                  <a:lnTo>
                    <a:pt x="2259711" y="395224"/>
                  </a:lnTo>
                  <a:lnTo>
                    <a:pt x="2528697" y="126238"/>
                  </a:lnTo>
                  <a:lnTo>
                    <a:pt x="2508885" y="106426"/>
                  </a:lnTo>
                  <a:lnTo>
                    <a:pt x="2248027" y="367284"/>
                  </a:lnTo>
                  <a:lnTo>
                    <a:pt x="979805" y="367284"/>
                  </a:lnTo>
                  <a:lnTo>
                    <a:pt x="666750" y="54229"/>
                  </a:lnTo>
                  <a:lnTo>
                    <a:pt x="662686" y="50165"/>
                  </a:lnTo>
                  <a:close/>
                  <a:moveTo>
                    <a:pt x="0" y="391541"/>
                  </a:moveTo>
                  <a:lnTo>
                    <a:pt x="0" y="419481"/>
                  </a:lnTo>
                  <a:lnTo>
                    <a:pt x="495554" y="419481"/>
                  </a:lnTo>
                  <a:lnTo>
                    <a:pt x="495554" y="391541"/>
                  </a:lnTo>
                  <a:close/>
                  <a:moveTo>
                    <a:pt x="1312799" y="526796"/>
                  </a:moveTo>
                  <a:lnTo>
                    <a:pt x="906272" y="933450"/>
                  </a:lnTo>
                  <a:lnTo>
                    <a:pt x="0" y="933450"/>
                  </a:lnTo>
                  <a:lnTo>
                    <a:pt x="0" y="975360"/>
                  </a:lnTo>
                  <a:lnTo>
                    <a:pt x="923671" y="975360"/>
                  </a:lnTo>
                  <a:lnTo>
                    <a:pt x="1330198" y="568833"/>
                  </a:lnTo>
                  <a:lnTo>
                    <a:pt x="2995930" y="568833"/>
                  </a:lnTo>
                  <a:lnTo>
                    <a:pt x="2995930" y="526923"/>
                  </a:lnTo>
                  <a:close/>
                </a:path>
              </a:pathLst>
            </a:custGeom>
            <a:solidFill>
              <a:srgbClr val="C7D7F3"/>
            </a:solidFill>
          </p:spPr>
        </p:sp>
      </p:grp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13765635" y="7874360"/>
            <a:ext cx="4522365" cy="2767879"/>
            <a:chOff x="0" y="0"/>
            <a:chExt cx="4522368" cy="276787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349631" y="1218438"/>
              <a:ext cx="956310" cy="27940"/>
            </a:xfrm>
            <a:custGeom>
              <a:avLst/>
              <a:gdLst/>
              <a:ahLst/>
              <a:cxnLst/>
              <a:rect r="r" b="b" t="t" l="l"/>
              <a:pathLst>
                <a:path h="27940" w="956310">
                  <a:moveTo>
                    <a:pt x="0" y="27940"/>
                  </a:moveTo>
                  <a:lnTo>
                    <a:pt x="956310" y="27940"/>
                  </a:lnTo>
                  <a:lnTo>
                    <a:pt x="956310" y="0"/>
                  </a:lnTo>
                  <a:lnTo>
                    <a:pt x="0" y="0"/>
                  </a:lnTo>
                  <a:lnTo>
                    <a:pt x="0" y="27940"/>
                  </a:ln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63500" y="586359"/>
              <a:ext cx="239268" cy="243840"/>
            </a:xfrm>
            <a:custGeom>
              <a:avLst/>
              <a:gdLst/>
              <a:ahLst/>
              <a:cxnLst/>
              <a:rect r="r" b="b" t="t" l="l"/>
              <a:pathLst>
                <a:path h="243840" w="239268">
                  <a:moveTo>
                    <a:pt x="117348" y="45212"/>
                  </a:moveTo>
                  <a:cubicBezTo>
                    <a:pt x="159766" y="45212"/>
                    <a:pt x="194183" y="79629"/>
                    <a:pt x="194183" y="122047"/>
                  </a:cubicBezTo>
                  <a:cubicBezTo>
                    <a:pt x="194183" y="164465"/>
                    <a:pt x="159766" y="198882"/>
                    <a:pt x="117348" y="198882"/>
                  </a:cubicBezTo>
                  <a:cubicBezTo>
                    <a:pt x="74930" y="198882"/>
                    <a:pt x="40513" y="164465"/>
                    <a:pt x="40513" y="122047"/>
                  </a:cubicBezTo>
                  <a:cubicBezTo>
                    <a:pt x="40513" y="79629"/>
                    <a:pt x="74930" y="45212"/>
                    <a:pt x="117348" y="45212"/>
                  </a:cubicBezTo>
                  <a:close/>
                  <a:moveTo>
                    <a:pt x="117348" y="127"/>
                  </a:moveTo>
                  <a:cubicBezTo>
                    <a:pt x="61468" y="127"/>
                    <a:pt x="14478" y="37719"/>
                    <a:pt x="0" y="88900"/>
                  </a:cubicBezTo>
                  <a:lnTo>
                    <a:pt x="0" y="88900"/>
                  </a:lnTo>
                  <a:lnTo>
                    <a:pt x="0" y="155067"/>
                  </a:lnTo>
                  <a:cubicBezTo>
                    <a:pt x="14478" y="206248"/>
                    <a:pt x="61468" y="243840"/>
                    <a:pt x="117348" y="243840"/>
                  </a:cubicBezTo>
                  <a:cubicBezTo>
                    <a:pt x="184658" y="243840"/>
                    <a:pt x="239268" y="189230"/>
                    <a:pt x="239268" y="121920"/>
                  </a:cubicBezTo>
                  <a:cubicBezTo>
                    <a:pt x="239268" y="54610"/>
                    <a:pt x="184658" y="0"/>
                    <a:pt x="117348" y="0"/>
                  </a:cubicBezTo>
                  <a:close/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930783" y="1410716"/>
              <a:ext cx="243840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40">
                  <a:moveTo>
                    <a:pt x="121920" y="198755"/>
                  </a:moveTo>
                  <a:cubicBezTo>
                    <a:pt x="164338" y="198755"/>
                    <a:pt x="198755" y="164338"/>
                    <a:pt x="198755" y="121920"/>
                  </a:cubicBezTo>
                  <a:cubicBezTo>
                    <a:pt x="198755" y="79502"/>
                    <a:pt x="164338" y="45085"/>
                    <a:pt x="121920" y="45085"/>
                  </a:cubicBezTo>
                  <a:cubicBezTo>
                    <a:pt x="79502" y="45085"/>
                    <a:pt x="45085" y="79502"/>
                    <a:pt x="45085" y="121920"/>
                  </a:cubicBezTo>
                  <a:cubicBezTo>
                    <a:pt x="45085" y="164338"/>
                    <a:pt x="79502" y="198755"/>
                    <a:pt x="121920" y="198755"/>
                  </a:cubicBezTo>
                  <a:close/>
                  <a:moveTo>
                    <a:pt x="121920" y="0"/>
                  </a:moveTo>
                  <a:cubicBezTo>
                    <a:pt x="189230" y="0"/>
                    <a:pt x="243840" y="54610"/>
                    <a:pt x="243840" y="121920"/>
                  </a:cubicBezTo>
                  <a:cubicBezTo>
                    <a:pt x="243840" y="189230"/>
                    <a:pt x="189230" y="243840"/>
                    <a:pt x="121920" y="243840"/>
                  </a:cubicBezTo>
                  <a:cubicBezTo>
                    <a:pt x="54610" y="243840"/>
                    <a:pt x="0" y="189230"/>
                    <a:pt x="0" y="121920"/>
                  </a:cubicBezTo>
                  <a:cubicBezTo>
                    <a:pt x="0" y="54610"/>
                    <a:pt x="54610" y="0"/>
                    <a:pt x="121920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3491484" y="1307211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0"/>
                  </a:moveTo>
                  <a:cubicBezTo>
                    <a:pt x="130429" y="0"/>
                    <a:pt x="168148" y="37592"/>
                    <a:pt x="168148" y="84074"/>
                  </a:cubicBezTo>
                  <a:cubicBezTo>
                    <a:pt x="168148" y="130556"/>
                    <a:pt x="130556" y="168148"/>
                    <a:pt x="84074" y="168148"/>
                  </a:cubicBezTo>
                  <a:cubicBezTo>
                    <a:pt x="37592" y="168148"/>
                    <a:pt x="0" y="130556"/>
                    <a:pt x="0" y="84074"/>
                  </a:cubicBezTo>
                  <a:cubicBezTo>
                    <a:pt x="0" y="37592"/>
                    <a:pt x="37592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202311" y="1148461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0"/>
                  </a:moveTo>
                  <a:cubicBezTo>
                    <a:pt x="130429" y="0"/>
                    <a:pt x="168148" y="37592"/>
                    <a:pt x="168148" y="84074"/>
                  </a:cubicBezTo>
                  <a:cubicBezTo>
                    <a:pt x="168148" y="130556"/>
                    <a:pt x="130556" y="168148"/>
                    <a:pt x="84074" y="168148"/>
                  </a:cubicBezTo>
                  <a:cubicBezTo>
                    <a:pt x="37592" y="168148"/>
                    <a:pt x="0" y="130556"/>
                    <a:pt x="0" y="84074"/>
                  </a:cubicBezTo>
                  <a:cubicBezTo>
                    <a:pt x="0" y="37592"/>
                    <a:pt x="37592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006475" y="342646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0"/>
                  </a:moveTo>
                  <a:cubicBezTo>
                    <a:pt x="130429" y="0"/>
                    <a:pt x="168148" y="37592"/>
                    <a:pt x="168148" y="84074"/>
                  </a:cubicBezTo>
                  <a:cubicBezTo>
                    <a:pt x="168148" y="130556"/>
                    <a:pt x="130556" y="168148"/>
                    <a:pt x="84074" y="168148"/>
                  </a:cubicBezTo>
                  <a:cubicBezTo>
                    <a:pt x="37592" y="168148"/>
                    <a:pt x="0" y="130556"/>
                    <a:pt x="0" y="84074"/>
                  </a:cubicBezTo>
                  <a:cubicBezTo>
                    <a:pt x="0" y="37592"/>
                    <a:pt x="37592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1489583" y="960120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137033"/>
                  </a:moveTo>
                  <a:cubicBezTo>
                    <a:pt x="113411" y="137033"/>
                    <a:pt x="137033" y="113284"/>
                    <a:pt x="137033" y="84074"/>
                  </a:cubicBezTo>
                  <a:cubicBezTo>
                    <a:pt x="137033" y="54864"/>
                    <a:pt x="113284" y="31115"/>
                    <a:pt x="84074" y="31115"/>
                  </a:cubicBezTo>
                  <a:cubicBezTo>
                    <a:pt x="54864" y="31115"/>
                    <a:pt x="31115" y="54864"/>
                    <a:pt x="31115" y="84074"/>
                  </a:cubicBezTo>
                  <a:cubicBezTo>
                    <a:pt x="31115" y="113284"/>
                    <a:pt x="54864" y="137033"/>
                    <a:pt x="84074" y="137033"/>
                  </a:cubicBezTo>
                  <a:close/>
                  <a:moveTo>
                    <a:pt x="84074" y="0"/>
                  </a:moveTo>
                  <a:cubicBezTo>
                    <a:pt x="130556" y="0"/>
                    <a:pt x="168148" y="37592"/>
                    <a:pt x="168148" y="84074"/>
                  </a:cubicBezTo>
                  <a:cubicBezTo>
                    <a:pt x="168148" y="130556"/>
                    <a:pt x="130556" y="168148"/>
                    <a:pt x="84074" y="168148"/>
                  </a:cubicBezTo>
                  <a:cubicBezTo>
                    <a:pt x="37592" y="168148"/>
                    <a:pt x="0" y="130556"/>
                    <a:pt x="0" y="84074"/>
                  </a:cubicBezTo>
                  <a:cubicBezTo>
                    <a:pt x="0" y="37592"/>
                    <a:pt x="37592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3343021" y="395605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137033"/>
                  </a:moveTo>
                  <a:cubicBezTo>
                    <a:pt x="113284" y="137033"/>
                    <a:pt x="137033" y="113284"/>
                    <a:pt x="137033" y="84074"/>
                  </a:cubicBezTo>
                  <a:cubicBezTo>
                    <a:pt x="137033" y="54864"/>
                    <a:pt x="113284" y="31115"/>
                    <a:pt x="84074" y="31115"/>
                  </a:cubicBezTo>
                  <a:cubicBezTo>
                    <a:pt x="54864" y="31115"/>
                    <a:pt x="31115" y="54864"/>
                    <a:pt x="31115" y="84074"/>
                  </a:cubicBezTo>
                  <a:cubicBezTo>
                    <a:pt x="31115" y="113284"/>
                    <a:pt x="54864" y="137033"/>
                    <a:pt x="84074" y="137033"/>
                  </a:cubicBezTo>
                  <a:close/>
                  <a:moveTo>
                    <a:pt x="84074" y="0"/>
                  </a:moveTo>
                  <a:cubicBezTo>
                    <a:pt x="130429" y="0"/>
                    <a:pt x="168148" y="37592"/>
                    <a:pt x="168148" y="84074"/>
                  </a:cubicBezTo>
                  <a:cubicBezTo>
                    <a:pt x="168148" y="130556"/>
                    <a:pt x="130556" y="168148"/>
                    <a:pt x="84074" y="168148"/>
                  </a:cubicBezTo>
                  <a:cubicBezTo>
                    <a:pt x="37592" y="168148"/>
                    <a:pt x="0" y="130556"/>
                    <a:pt x="0" y="84074"/>
                  </a:cubicBezTo>
                  <a:cubicBezTo>
                    <a:pt x="0" y="37592"/>
                    <a:pt x="37592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286385" y="63500"/>
              <a:ext cx="4172458" cy="2045716"/>
            </a:xfrm>
            <a:custGeom>
              <a:avLst/>
              <a:gdLst/>
              <a:ahLst/>
              <a:cxnLst/>
              <a:rect r="r" b="b" t="t" l="l"/>
              <a:pathLst>
                <a:path h="2045716" w="4172458">
                  <a:moveTo>
                    <a:pt x="2886964" y="0"/>
                  </a:moveTo>
                  <a:lnTo>
                    <a:pt x="2531618" y="355346"/>
                  </a:lnTo>
                  <a:lnTo>
                    <a:pt x="862965" y="355346"/>
                  </a:lnTo>
                  <a:lnTo>
                    <a:pt x="862965" y="383286"/>
                  </a:lnTo>
                  <a:lnTo>
                    <a:pt x="2543175" y="383286"/>
                  </a:lnTo>
                  <a:lnTo>
                    <a:pt x="2926588" y="0"/>
                  </a:lnTo>
                  <a:close/>
                  <a:moveTo>
                    <a:pt x="3202051" y="398399"/>
                  </a:moveTo>
                  <a:lnTo>
                    <a:pt x="3202051" y="440309"/>
                  </a:lnTo>
                  <a:lnTo>
                    <a:pt x="4172458" y="440309"/>
                  </a:lnTo>
                  <a:lnTo>
                    <a:pt x="4172458" y="398399"/>
                  </a:lnTo>
                  <a:close/>
                  <a:moveTo>
                    <a:pt x="0" y="625856"/>
                  </a:moveTo>
                  <a:lnTo>
                    <a:pt x="0" y="667766"/>
                  </a:lnTo>
                  <a:lnTo>
                    <a:pt x="1765681" y="667766"/>
                  </a:lnTo>
                  <a:lnTo>
                    <a:pt x="2064258" y="966343"/>
                  </a:lnTo>
                  <a:lnTo>
                    <a:pt x="2629916" y="966343"/>
                  </a:lnTo>
                  <a:lnTo>
                    <a:pt x="2880106" y="716153"/>
                  </a:lnTo>
                  <a:lnTo>
                    <a:pt x="4172458" y="716153"/>
                  </a:lnTo>
                  <a:lnTo>
                    <a:pt x="4172458" y="674243"/>
                  </a:lnTo>
                  <a:lnTo>
                    <a:pt x="2862707" y="674243"/>
                  </a:lnTo>
                  <a:lnTo>
                    <a:pt x="2612517" y="924433"/>
                  </a:lnTo>
                  <a:lnTo>
                    <a:pt x="2081657" y="924433"/>
                  </a:lnTo>
                  <a:lnTo>
                    <a:pt x="1783207" y="625856"/>
                  </a:lnTo>
                  <a:close/>
                  <a:moveTo>
                    <a:pt x="3196336" y="973963"/>
                  </a:moveTo>
                  <a:lnTo>
                    <a:pt x="3192272" y="978027"/>
                  </a:lnTo>
                  <a:lnTo>
                    <a:pt x="2879217" y="1291082"/>
                  </a:lnTo>
                  <a:lnTo>
                    <a:pt x="1610868" y="1291082"/>
                  </a:lnTo>
                  <a:lnTo>
                    <a:pt x="1350010" y="1030351"/>
                  </a:lnTo>
                  <a:lnTo>
                    <a:pt x="1330198" y="1050163"/>
                  </a:lnTo>
                  <a:lnTo>
                    <a:pt x="1599184" y="1319149"/>
                  </a:lnTo>
                  <a:lnTo>
                    <a:pt x="2890774" y="1319149"/>
                  </a:lnTo>
                  <a:lnTo>
                    <a:pt x="2894838" y="1315085"/>
                  </a:lnTo>
                  <a:lnTo>
                    <a:pt x="3207893" y="1002030"/>
                  </a:lnTo>
                  <a:lnTo>
                    <a:pt x="4172458" y="1002030"/>
                  </a:lnTo>
                  <a:lnTo>
                    <a:pt x="4172458" y="974090"/>
                  </a:lnTo>
                  <a:close/>
                  <a:moveTo>
                    <a:pt x="3363468" y="1315339"/>
                  </a:moveTo>
                  <a:lnTo>
                    <a:pt x="3363468" y="1343279"/>
                  </a:lnTo>
                  <a:lnTo>
                    <a:pt x="4172458" y="1343279"/>
                  </a:lnTo>
                  <a:lnTo>
                    <a:pt x="4172458" y="1315339"/>
                  </a:lnTo>
                  <a:close/>
                  <a:moveTo>
                    <a:pt x="862965" y="1450721"/>
                  </a:moveTo>
                  <a:lnTo>
                    <a:pt x="862965" y="1492631"/>
                  </a:lnTo>
                  <a:lnTo>
                    <a:pt x="2528824" y="1492631"/>
                  </a:lnTo>
                  <a:lnTo>
                    <a:pt x="2935351" y="1899158"/>
                  </a:lnTo>
                  <a:lnTo>
                    <a:pt x="4025773" y="1899158"/>
                  </a:lnTo>
                  <a:lnTo>
                    <a:pt x="4172458" y="2045716"/>
                  </a:lnTo>
                  <a:lnTo>
                    <a:pt x="4172458" y="1986407"/>
                  </a:lnTo>
                  <a:lnTo>
                    <a:pt x="4043172" y="1857248"/>
                  </a:lnTo>
                  <a:lnTo>
                    <a:pt x="2952750" y="1857248"/>
                  </a:lnTo>
                  <a:lnTo>
                    <a:pt x="2546223" y="1450721"/>
                  </a:lnTo>
                  <a:close/>
                </a:path>
              </a:pathLst>
            </a:custGeom>
            <a:solidFill>
              <a:srgbClr val="C7D7F3"/>
            </a:solidFill>
          </p:spPr>
        </p:sp>
      </p:grpSp>
      <p:grpSp>
        <p:nvGrpSpPr>
          <p:cNvPr name="Group 23" id="23"/>
          <p:cNvGrpSpPr>
            <a:grpSpLocks noChangeAspect="true"/>
          </p:cNvGrpSpPr>
          <p:nvPr/>
        </p:nvGrpSpPr>
        <p:grpSpPr>
          <a:xfrm rot="0">
            <a:off x="13829128" y="-63503"/>
            <a:ext cx="4522365" cy="2767879"/>
            <a:chOff x="0" y="0"/>
            <a:chExt cx="4522368" cy="276787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349631" y="1218438"/>
              <a:ext cx="956310" cy="27940"/>
            </a:xfrm>
            <a:custGeom>
              <a:avLst/>
              <a:gdLst/>
              <a:ahLst/>
              <a:cxnLst/>
              <a:rect r="r" b="b" t="t" l="l"/>
              <a:pathLst>
                <a:path h="27940" w="956310">
                  <a:moveTo>
                    <a:pt x="0" y="27940"/>
                  </a:moveTo>
                  <a:lnTo>
                    <a:pt x="956310" y="27940"/>
                  </a:lnTo>
                  <a:lnTo>
                    <a:pt x="956310" y="0"/>
                  </a:lnTo>
                  <a:lnTo>
                    <a:pt x="0" y="0"/>
                  </a:lnTo>
                  <a:lnTo>
                    <a:pt x="0" y="27940"/>
                  </a:ln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63500" y="586359"/>
              <a:ext cx="239268" cy="243840"/>
            </a:xfrm>
            <a:custGeom>
              <a:avLst/>
              <a:gdLst/>
              <a:ahLst/>
              <a:cxnLst/>
              <a:rect r="r" b="b" t="t" l="l"/>
              <a:pathLst>
                <a:path h="243840" w="239268">
                  <a:moveTo>
                    <a:pt x="117348" y="45212"/>
                  </a:moveTo>
                  <a:cubicBezTo>
                    <a:pt x="159766" y="45212"/>
                    <a:pt x="194183" y="79629"/>
                    <a:pt x="194183" y="122047"/>
                  </a:cubicBezTo>
                  <a:cubicBezTo>
                    <a:pt x="194183" y="164465"/>
                    <a:pt x="159766" y="198882"/>
                    <a:pt x="117348" y="198882"/>
                  </a:cubicBezTo>
                  <a:cubicBezTo>
                    <a:pt x="74930" y="198882"/>
                    <a:pt x="40513" y="164465"/>
                    <a:pt x="40513" y="122047"/>
                  </a:cubicBezTo>
                  <a:cubicBezTo>
                    <a:pt x="40513" y="79629"/>
                    <a:pt x="74930" y="45212"/>
                    <a:pt x="117348" y="45212"/>
                  </a:cubicBezTo>
                  <a:close/>
                  <a:moveTo>
                    <a:pt x="117348" y="127"/>
                  </a:moveTo>
                  <a:cubicBezTo>
                    <a:pt x="61468" y="127"/>
                    <a:pt x="14478" y="37719"/>
                    <a:pt x="0" y="88900"/>
                  </a:cubicBezTo>
                  <a:lnTo>
                    <a:pt x="0" y="88900"/>
                  </a:lnTo>
                  <a:lnTo>
                    <a:pt x="0" y="155067"/>
                  </a:lnTo>
                  <a:cubicBezTo>
                    <a:pt x="14478" y="206248"/>
                    <a:pt x="61468" y="243840"/>
                    <a:pt x="117348" y="243840"/>
                  </a:cubicBezTo>
                  <a:cubicBezTo>
                    <a:pt x="184658" y="243840"/>
                    <a:pt x="239268" y="189230"/>
                    <a:pt x="239268" y="121920"/>
                  </a:cubicBezTo>
                  <a:cubicBezTo>
                    <a:pt x="239268" y="54610"/>
                    <a:pt x="184658" y="0"/>
                    <a:pt x="117348" y="0"/>
                  </a:cubicBezTo>
                  <a:close/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930783" y="1410716"/>
              <a:ext cx="243840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40">
                  <a:moveTo>
                    <a:pt x="121920" y="198755"/>
                  </a:moveTo>
                  <a:cubicBezTo>
                    <a:pt x="164338" y="198755"/>
                    <a:pt x="198755" y="164338"/>
                    <a:pt x="198755" y="121920"/>
                  </a:cubicBezTo>
                  <a:cubicBezTo>
                    <a:pt x="198755" y="79502"/>
                    <a:pt x="164338" y="45085"/>
                    <a:pt x="121920" y="45085"/>
                  </a:cubicBezTo>
                  <a:cubicBezTo>
                    <a:pt x="79502" y="45085"/>
                    <a:pt x="45085" y="79502"/>
                    <a:pt x="45085" y="121920"/>
                  </a:cubicBezTo>
                  <a:cubicBezTo>
                    <a:pt x="45085" y="164338"/>
                    <a:pt x="79502" y="198755"/>
                    <a:pt x="121920" y="198755"/>
                  </a:cubicBezTo>
                  <a:close/>
                  <a:moveTo>
                    <a:pt x="121920" y="0"/>
                  </a:moveTo>
                  <a:cubicBezTo>
                    <a:pt x="189230" y="0"/>
                    <a:pt x="243840" y="54610"/>
                    <a:pt x="243840" y="121920"/>
                  </a:cubicBezTo>
                  <a:cubicBezTo>
                    <a:pt x="243840" y="189230"/>
                    <a:pt x="189230" y="243840"/>
                    <a:pt x="121920" y="243840"/>
                  </a:cubicBezTo>
                  <a:cubicBezTo>
                    <a:pt x="54610" y="243840"/>
                    <a:pt x="0" y="189230"/>
                    <a:pt x="0" y="121920"/>
                  </a:cubicBezTo>
                  <a:cubicBezTo>
                    <a:pt x="0" y="54610"/>
                    <a:pt x="54610" y="0"/>
                    <a:pt x="121920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3491484" y="1307211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0"/>
                  </a:moveTo>
                  <a:cubicBezTo>
                    <a:pt x="130429" y="0"/>
                    <a:pt x="168148" y="37592"/>
                    <a:pt x="168148" y="84074"/>
                  </a:cubicBezTo>
                  <a:cubicBezTo>
                    <a:pt x="168148" y="130556"/>
                    <a:pt x="130556" y="168148"/>
                    <a:pt x="84074" y="168148"/>
                  </a:cubicBezTo>
                  <a:cubicBezTo>
                    <a:pt x="37592" y="168148"/>
                    <a:pt x="0" y="130556"/>
                    <a:pt x="0" y="84074"/>
                  </a:cubicBezTo>
                  <a:cubicBezTo>
                    <a:pt x="0" y="37592"/>
                    <a:pt x="37592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202311" y="1148461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0"/>
                  </a:moveTo>
                  <a:cubicBezTo>
                    <a:pt x="130429" y="0"/>
                    <a:pt x="168148" y="37592"/>
                    <a:pt x="168148" y="84074"/>
                  </a:cubicBezTo>
                  <a:cubicBezTo>
                    <a:pt x="168148" y="130556"/>
                    <a:pt x="130556" y="168148"/>
                    <a:pt x="84074" y="168148"/>
                  </a:cubicBezTo>
                  <a:cubicBezTo>
                    <a:pt x="37592" y="168148"/>
                    <a:pt x="0" y="130556"/>
                    <a:pt x="0" y="84074"/>
                  </a:cubicBezTo>
                  <a:cubicBezTo>
                    <a:pt x="0" y="37592"/>
                    <a:pt x="37592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1006475" y="342646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0"/>
                  </a:moveTo>
                  <a:cubicBezTo>
                    <a:pt x="130429" y="0"/>
                    <a:pt x="168148" y="37592"/>
                    <a:pt x="168148" y="84074"/>
                  </a:cubicBezTo>
                  <a:cubicBezTo>
                    <a:pt x="168148" y="130556"/>
                    <a:pt x="130556" y="168148"/>
                    <a:pt x="84074" y="168148"/>
                  </a:cubicBezTo>
                  <a:cubicBezTo>
                    <a:pt x="37592" y="168148"/>
                    <a:pt x="0" y="130556"/>
                    <a:pt x="0" y="84074"/>
                  </a:cubicBezTo>
                  <a:cubicBezTo>
                    <a:pt x="0" y="37592"/>
                    <a:pt x="37592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1489583" y="960120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137033"/>
                  </a:moveTo>
                  <a:cubicBezTo>
                    <a:pt x="113411" y="137033"/>
                    <a:pt x="137033" y="113284"/>
                    <a:pt x="137033" y="84074"/>
                  </a:cubicBezTo>
                  <a:cubicBezTo>
                    <a:pt x="137033" y="54864"/>
                    <a:pt x="113284" y="31115"/>
                    <a:pt x="84074" y="31115"/>
                  </a:cubicBezTo>
                  <a:cubicBezTo>
                    <a:pt x="54864" y="31115"/>
                    <a:pt x="31115" y="54864"/>
                    <a:pt x="31115" y="84074"/>
                  </a:cubicBezTo>
                  <a:cubicBezTo>
                    <a:pt x="31115" y="113284"/>
                    <a:pt x="54864" y="137033"/>
                    <a:pt x="84074" y="137033"/>
                  </a:cubicBezTo>
                  <a:close/>
                  <a:moveTo>
                    <a:pt x="84074" y="0"/>
                  </a:moveTo>
                  <a:cubicBezTo>
                    <a:pt x="130556" y="0"/>
                    <a:pt x="168148" y="37592"/>
                    <a:pt x="168148" y="84074"/>
                  </a:cubicBezTo>
                  <a:cubicBezTo>
                    <a:pt x="168148" y="130556"/>
                    <a:pt x="130556" y="168148"/>
                    <a:pt x="84074" y="168148"/>
                  </a:cubicBezTo>
                  <a:cubicBezTo>
                    <a:pt x="37592" y="168148"/>
                    <a:pt x="0" y="130556"/>
                    <a:pt x="0" y="84074"/>
                  </a:cubicBezTo>
                  <a:cubicBezTo>
                    <a:pt x="0" y="37592"/>
                    <a:pt x="37592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3343021" y="395605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137033"/>
                  </a:moveTo>
                  <a:cubicBezTo>
                    <a:pt x="113284" y="137033"/>
                    <a:pt x="137033" y="113284"/>
                    <a:pt x="137033" y="84074"/>
                  </a:cubicBezTo>
                  <a:cubicBezTo>
                    <a:pt x="137033" y="54864"/>
                    <a:pt x="113284" y="31115"/>
                    <a:pt x="84074" y="31115"/>
                  </a:cubicBezTo>
                  <a:cubicBezTo>
                    <a:pt x="54864" y="31115"/>
                    <a:pt x="31115" y="54864"/>
                    <a:pt x="31115" y="84074"/>
                  </a:cubicBezTo>
                  <a:cubicBezTo>
                    <a:pt x="31115" y="113284"/>
                    <a:pt x="54864" y="137033"/>
                    <a:pt x="84074" y="137033"/>
                  </a:cubicBezTo>
                  <a:close/>
                  <a:moveTo>
                    <a:pt x="84074" y="0"/>
                  </a:moveTo>
                  <a:cubicBezTo>
                    <a:pt x="130429" y="0"/>
                    <a:pt x="168148" y="37592"/>
                    <a:pt x="168148" y="84074"/>
                  </a:cubicBezTo>
                  <a:cubicBezTo>
                    <a:pt x="168148" y="130556"/>
                    <a:pt x="130556" y="168148"/>
                    <a:pt x="84074" y="168148"/>
                  </a:cubicBezTo>
                  <a:cubicBezTo>
                    <a:pt x="37592" y="168148"/>
                    <a:pt x="0" y="130556"/>
                    <a:pt x="0" y="84074"/>
                  </a:cubicBezTo>
                  <a:cubicBezTo>
                    <a:pt x="0" y="37592"/>
                    <a:pt x="37592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286385" y="63500"/>
              <a:ext cx="4172458" cy="2045716"/>
            </a:xfrm>
            <a:custGeom>
              <a:avLst/>
              <a:gdLst/>
              <a:ahLst/>
              <a:cxnLst/>
              <a:rect r="r" b="b" t="t" l="l"/>
              <a:pathLst>
                <a:path h="2045716" w="4172458">
                  <a:moveTo>
                    <a:pt x="2886964" y="0"/>
                  </a:moveTo>
                  <a:lnTo>
                    <a:pt x="2531618" y="355346"/>
                  </a:lnTo>
                  <a:lnTo>
                    <a:pt x="862965" y="355346"/>
                  </a:lnTo>
                  <a:lnTo>
                    <a:pt x="862965" y="383286"/>
                  </a:lnTo>
                  <a:lnTo>
                    <a:pt x="2543175" y="383286"/>
                  </a:lnTo>
                  <a:lnTo>
                    <a:pt x="2926588" y="0"/>
                  </a:lnTo>
                  <a:close/>
                  <a:moveTo>
                    <a:pt x="3202051" y="398399"/>
                  </a:moveTo>
                  <a:lnTo>
                    <a:pt x="3202051" y="440309"/>
                  </a:lnTo>
                  <a:lnTo>
                    <a:pt x="4172458" y="440309"/>
                  </a:lnTo>
                  <a:lnTo>
                    <a:pt x="4172458" y="398399"/>
                  </a:lnTo>
                  <a:close/>
                  <a:moveTo>
                    <a:pt x="0" y="625856"/>
                  </a:moveTo>
                  <a:lnTo>
                    <a:pt x="0" y="667766"/>
                  </a:lnTo>
                  <a:lnTo>
                    <a:pt x="1765681" y="667766"/>
                  </a:lnTo>
                  <a:lnTo>
                    <a:pt x="2064258" y="966343"/>
                  </a:lnTo>
                  <a:lnTo>
                    <a:pt x="2629916" y="966343"/>
                  </a:lnTo>
                  <a:lnTo>
                    <a:pt x="2880106" y="716153"/>
                  </a:lnTo>
                  <a:lnTo>
                    <a:pt x="4172458" y="716153"/>
                  </a:lnTo>
                  <a:lnTo>
                    <a:pt x="4172458" y="674243"/>
                  </a:lnTo>
                  <a:lnTo>
                    <a:pt x="2862707" y="674243"/>
                  </a:lnTo>
                  <a:lnTo>
                    <a:pt x="2612517" y="924433"/>
                  </a:lnTo>
                  <a:lnTo>
                    <a:pt x="2081657" y="924433"/>
                  </a:lnTo>
                  <a:lnTo>
                    <a:pt x="1783207" y="625856"/>
                  </a:lnTo>
                  <a:close/>
                  <a:moveTo>
                    <a:pt x="3196336" y="973963"/>
                  </a:moveTo>
                  <a:lnTo>
                    <a:pt x="3192272" y="978027"/>
                  </a:lnTo>
                  <a:lnTo>
                    <a:pt x="2879217" y="1291082"/>
                  </a:lnTo>
                  <a:lnTo>
                    <a:pt x="1610868" y="1291082"/>
                  </a:lnTo>
                  <a:lnTo>
                    <a:pt x="1350010" y="1030351"/>
                  </a:lnTo>
                  <a:lnTo>
                    <a:pt x="1330198" y="1050163"/>
                  </a:lnTo>
                  <a:lnTo>
                    <a:pt x="1599184" y="1319149"/>
                  </a:lnTo>
                  <a:lnTo>
                    <a:pt x="2890774" y="1319149"/>
                  </a:lnTo>
                  <a:lnTo>
                    <a:pt x="2894838" y="1315085"/>
                  </a:lnTo>
                  <a:lnTo>
                    <a:pt x="3207893" y="1002030"/>
                  </a:lnTo>
                  <a:lnTo>
                    <a:pt x="4172458" y="1002030"/>
                  </a:lnTo>
                  <a:lnTo>
                    <a:pt x="4172458" y="974090"/>
                  </a:lnTo>
                  <a:close/>
                  <a:moveTo>
                    <a:pt x="3363468" y="1315339"/>
                  </a:moveTo>
                  <a:lnTo>
                    <a:pt x="3363468" y="1343279"/>
                  </a:lnTo>
                  <a:lnTo>
                    <a:pt x="4172458" y="1343279"/>
                  </a:lnTo>
                  <a:lnTo>
                    <a:pt x="4172458" y="1315339"/>
                  </a:lnTo>
                  <a:close/>
                  <a:moveTo>
                    <a:pt x="862965" y="1450721"/>
                  </a:moveTo>
                  <a:lnTo>
                    <a:pt x="862965" y="1492631"/>
                  </a:lnTo>
                  <a:lnTo>
                    <a:pt x="2528824" y="1492631"/>
                  </a:lnTo>
                  <a:lnTo>
                    <a:pt x="2935351" y="1899158"/>
                  </a:lnTo>
                  <a:lnTo>
                    <a:pt x="4025773" y="1899158"/>
                  </a:lnTo>
                  <a:lnTo>
                    <a:pt x="4172458" y="2045716"/>
                  </a:lnTo>
                  <a:lnTo>
                    <a:pt x="4172458" y="1986407"/>
                  </a:lnTo>
                  <a:lnTo>
                    <a:pt x="4043172" y="1857248"/>
                  </a:lnTo>
                  <a:lnTo>
                    <a:pt x="2952750" y="1857248"/>
                  </a:lnTo>
                  <a:lnTo>
                    <a:pt x="2546223" y="1450721"/>
                  </a:lnTo>
                  <a:close/>
                </a:path>
              </a:pathLst>
            </a:custGeom>
            <a:solidFill>
              <a:srgbClr val="C7D7F3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-671119" y="9853900"/>
            <a:ext cx="19022613" cy="4006046"/>
            <a:chOff x="0" y="0"/>
            <a:chExt cx="5010071" cy="105509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010071" cy="1055090"/>
            </a:xfrm>
            <a:custGeom>
              <a:avLst/>
              <a:gdLst/>
              <a:ahLst/>
              <a:cxnLst/>
              <a:rect r="r" b="b" t="t" l="l"/>
              <a:pathLst>
                <a:path h="1055090" w="5010071">
                  <a:moveTo>
                    <a:pt x="0" y="0"/>
                  </a:moveTo>
                  <a:lnTo>
                    <a:pt x="5010071" y="0"/>
                  </a:lnTo>
                  <a:lnTo>
                    <a:pt x="5010071" y="1055090"/>
                  </a:lnTo>
                  <a:lnTo>
                    <a:pt x="0" y="1055090"/>
                  </a:lnTo>
                  <a:close/>
                </a:path>
              </a:pathLst>
            </a:custGeom>
            <a:gradFill rotWithShape="true">
              <a:gsLst>
                <a:gs pos="0">
                  <a:srgbClr val="114168">
                    <a:alpha val="100000"/>
                  </a:srgbClr>
                </a:gs>
                <a:gs pos="100000">
                  <a:srgbClr val="09023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5010071" cy="10931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12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-63503" y="-63503"/>
            <a:ext cx="4070071" cy="1843954"/>
            <a:chOff x="0" y="0"/>
            <a:chExt cx="4070071" cy="184395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2902966" y="294513"/>
              <a:ext cx="956310" cy="27940"/>
            </a:xfrm>
            <a:custGeom>
              <a:avLst/>
              <a:gdLst/>
              <a:ahLst/>
              <a:cxnLst/>
              <a:rect r="r" b="b" t="t" l="l"/>
              <a:pathLst>
                <a:path h="27940" w="956310">
                  <a:moveTo>
                    <a:pt x="956310" y="27940"/>
                  </a:moveTo>
                  <a:lnTo>
                    <a:pt x="0" y="27940"/>
                  </a:lnTo>
                  <a:lnTo>
                    <a:pt x="0" y="0"/>
                  </a:lnTo>
                  <a:lnTo>
                    <a:pt x="956310" y="0"/>
                  </a:lnTo>
                  <a:lnTo>
                    <a:pt x="956310" y="27940"/>
                  </a:ln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3034157" y="486791"/>
              <a:ext cx="243840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40">
                  <a:moveTo>
                    <a:pt x="121920" y="198755"/>
                  </a:moveTo>
                  <a:cubicBezTo>
                    <a:pt x="79502" y="198755"/>
                    <a:pt x="45085" y="164338"/>
                    <a:pt x="45085" y="121920"/>
                  </a:cubicBezTo>
                  <a:cubicBezTo>
                    <a:pt x="45085" y="79502"/>
                    <a:pt x="79502" y="45085"/>
                    <a:pt x="121920" y="45085"/>
                  </a:cubicBezTo>
                  <a:cubicBezTo>
                    <a:pt x="164338" y="45085"/>
                    <a:pt x="198755" y="79502"/>
                    <a:pt x="198755" y="121920"/>
                  </a:cubicBezTo>
                  <a:cubicBezTo>
                    <a:pt x="198755" y="164338"/>
                    <a:pt x="164338" y="198755"/>
                    <a:pt x="121920" y="198755"/>
                  </a:cubicBezTo>
                  <a:close/>
                  <a:moveTo>
                    <a:pt x="121920" y="0"/>
                  </a:moveTo>
                  <a:cubicBezTo>
                    <a:pt x="54610" y="0"/>
                    <a:pt x="0" y="54610"/>
                    <a:pt x="0" y="121920"/>
                  </a:cubicBezTo>
                  <a:cubicBezTo>
                    <a:pt x="0" y="189230"/>
                    <a:pt x="54610" y="243840"/>
                    <a:pt x="121920" y="243840"/>
                  </a:cubicBezTo>
                  <a:cubicBezTo>
                    <a:pt x="189230" y="243840"/>
                    <a:pt x="243840" y="189230"/>
                    <a:pt x="243840" y="121920"/>
                  </a:cubicBezTo>
                  <a:cubicBezTo>
                    <a:pt x="243840" y="54610"/>
                    <a:pt x="189230" y="0"/>
                    <a:pt x="121920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549275" y="383286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0"/>
                  </a:moveTo>
                  <a:cubicBezTo>
                    <a:pt x="37719" y="0"/>
                    <a:pt x="0" y="37592"/>
                    <a:pt x="0" y="84074"/>
                  </a:cubicBezTo>
                  <a:cubicBezTo>
                    <a:pt x="0" y="130556"/>
                    <a:pt x="37592" y="168148"/>
                    <a:pt x="84074" y="168148"/>
                  </a:cubicBezTo>
                  <a:cubicBezTo>
                    <a:pt x="130556" y="168148"/>
                    <a:pt x="168148" y="130556"/>
                    <a:pt x="168148" y="84074"/>
                  </a:cubicBezTo>
                  <a:cubicBezTo>
                    <a:pt x="168148" y="37592"/>
                    <a:pt x="130556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838448" y="224536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0"/>
                  </a:moveTo>
                  <a:cubicBezTo>
                    <a:pt x="37719" y="0"/>
                    <a:pt x="0" y="37592"/>
                    <a:pt x="0" y="84074"/>
                  </a:cubicBezTo>
                  <a:cubicBezTo>
                    <a:pt x="0" y="130556"/>
                    <a:pt x="37592" y="168148"/>
                    <a:pt x="84074" y="168148"/>
                  </a:cubicBezTo>
                  <a:cubicBezTo>
                    <a:pt x="130556" y="168148"/>
                    <a:pt x="168148" y="130556"/>
                    <a:pt x="168148" y="84074"/>
                  </a:cubicBezTo>
                  <a:cubicBezTo>
                    <a:pt x="168148" y="37592"/>
                    <a:pt x="130556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2551049" y="63500"/>
              <a:ext cx="168148" cy="140843"/>
            </a:xfrm>
            <a:custGeom>
              <a:avLst/>
              <a:gdLst/>
              <a:ahLst/>
              <a:cxnLst/>
              <a:rect r="r" b="b" t="t" l="l"/>
              <a:pathLst>
                <a:path h="140843" w="168148">
                  <a:moveTo>
                    <a:pt x="84074" y="3810"/>
                  </a:moveTo>
                  <a:cubicBezTo>
                    <a:pt x="113284" y="3810"/>
                    <a:pt x="137033" y="27559"/>
                    <a:pt x="137033" y="56769"/>
                  </a:cubicBezTo>
                  <a:cubicBezTo>
                    <a:pt x="137033" y="85979"/>
                    <a:pt x="113284" y="109728"/>
                    <a:pt x="84074" y="109728"/>
                  </a:cubicBezTo>
                  <a:cubicBezTo>
                    <a:pt x="54864" y="109728"/>
                    <a:pt x="31115" y="85979"/>
                    <a:pt x="31115" y="56769"/>
                  </a:cubicBezTo>
                  <a:cubicBezTo>
                    <a:pt x="31115" y="27559"/>
                    <a:pt x="54864" y="3810"/>
                    <a:pt x="84074" y="3810"/>
                  </a:cubicBezTo>
                  <a:close/>
                  <a:moveTo>
                    <a:pt x="22098" y="0"/>
                  </a:moveTo>
                  <a:cubicBezTo>
                    <a:pt x="8382" y="14986"/>
                    <a:pt x="0" y="34925"/>
                    <a:pt x="0" y="56769"/>
                  </a:cubicBezTo>
                  <a:cubicBezTo>
                    <a:pt x="0" y="103251"/>
                    <a:pt x="37592" y="140843"/>
                    <a:pt x="84074" y="140843"/>
                  </a:cubicBezTo>
                  <a:cubicBezTo>
                    <a:pt x="130556" y="140843"/>
                    <a:pt x="168148" y="103251"/>
                    <a:pt x="168148" y="56769"/>
                  </a:cubicBezTo>
                  <a:cubicBezTo>
                    <a:pt x="168148" y="34925"/>
                    <a:pt x="159766" y="14986"/>
                    <a:pt x="146050" y="0"/>
                  </a:cubicBezTo>
                  <a:close/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3500" y="63500"/>
              <a:ext cx="2995930" cy="975360"/>
            </a:xfrm>
            <a:custGeom>
              <a:avLst/>
              <a:gdLst/>
              <a:ahLst/>
              <a:cxnLst/>
              <a:rect r="r" b="b" t="t" l="l"/>
              <a:pathLst>
                <a:path h="975360" w="2995930">
                  <a:moveTo>
                    <a:pt x="1186561" y="0"/>
                  </a:moveTo>
                  <a:lnTo>
                    <a:pt x="1228979" y="42418"/>
                  </a:lnTo>
                  <a:lnTo>
                    <a:pt x="1794637" y="42418"/>
                  </a:lnTo>
                  <a:lnTo>
                    <a:pt x="1837182" y="0"/>
                  </a:lnTo>
                  <a:lnTo>
                    <a:pt x="1777873" y="0"/>
                  </a:lnTo>
                  <a:lnTo>
                    <a:pt x="1777365" y="508"/>
                  </a:lnTo>
                  <a:lnTo>
                    <a:pt x="1246378" y="508"/>
                  </a:lnTo>
                  <a:lnTo>
                    <a:pt x="1245870" y="0"/>
                  </a:lnTo>
                  <a:close/>
                  <a:moveTo>
                    <a:pt x="0" y="50038"/>
                  </a:moveTo>
                  <a:lnTo>
                    <a:pt x="0" y="77978"/>
                  </a:lnTo>
                  <a:lnTo>
                    <a:pt x="651002" y="77978"/>
                  </a:lnTo>
                  <a:lnTo>
                    <a:pt x="964057" y="391160"/>
                  </a:lnTo>
                  <a:lnTo>
                    <a:pt x="968121" y="395224"/>
                  </a:lnTo>
                  <a:lnTo>
                    <a:pt x="2259711" y="395224"/>
                  </a:lnTo>
                  <a:lnTo>
                    <a:pt x="2528697" y="126238"/>
                  </a:lnTo>
                  <a:lnTo>
                    <a:pt x="2508885" y="106426"/>
                  </a:lnTo>
                  <a:lnTo>
                    <a:pt x="2248027" y="367284"/>
                  </a:lnTo>
                  <a:lnTo>
                    <a:pt x="979805" y="367284"/>
                  </a:lnTo>
                  <a:lnTo>
                    <a:pt x="666750" y="54229"/>
                  </a:lnTo>
                  <a:lnTo>
                    <a:pt x="662686" y="50165"/>
                  </a:lnTo>
                  <a:close/>
                  <a:moveTo>
                    <a:pt x="0" y="391541"/>
                  </a:moveTo>
                  <a:lnTo>
                    <a:pt x="0" y="419481"/>
                  </a:lnTo>
                  <a:lnTo>
                    <a:pt x="495554" y="419481"/>
                  </a:lnTo>
                  <a:lnTo>
                    <a:pt x="495554" y="391541"/>
                  </a:lnTo>
                  <a:close/>
                  <a:moveTo>
                    <a:pt x="1312799" y="526796"/>
                  </a:moveTo>
                  <a:lnTo>
                    <a:pt x="906272" y="933450"/>
                  </a:lnTo>
                  <a:lnTo>
                    <a:pt x="0" y="933450"/>
                  </a:lnTo>
                  <a:lnTo>
                    <a:pt x="0" y="975360"/>
                  </a:lnTo>
                  <a:lnTo>
                    <a:pt x="923671" y="975360"/>
                  </a:lnTo>
                  <a:lnTo>
                    <a:pt x="1330198" y="568833"/>
                  </a:lnTo>
                  <a:lnTo>
                    <a:pt x="2995930" y="568833"/>
                  </a:lnTo>
                  <a:lnTo>
                    <a:pt x="2995930" y="526923"/>
                  </a:lnTo>
                  <a:close/>
                </a:path>
              </a:pathLst>
            </a:custGeom>
            <a:solidFill>
              <a:srgbClr val="C7D7F3"/>
            </a:solidFill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13829128" y="-63503"/>
            <a:ext cx="4522365" cy="2767879"/>
            <a:chOff x="0" y="0"/>
            <a:chExt cx="4522368" cy="276787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349631" y="1218438"/>
              <a:ext cx="956310" cy="27940"/>
            </a:xfrm>
            <a:custGeom>
              <a:avLst/>
              <a:gdLst/>
              <a:ahLst/>
              <a:cxnLst/>
              <a:rect r="r" b="b" t="t" l="l"/>
              <a:pathLst>
                <a:path h="27940" w="956310">
                  <a:moveTo>
                    <a:pt x="0" y="27940"/>
                  </a:moveTo>
                  <a:lnTo>
                    <a:pt x="956310" y="27940"/>
                  </a:lnTo>
                  <a:lnTo>
                    <a:pt x="956310" y="0"/>
                  </a:lnTo>
                  <a:lnTo>
                    <a:pt x="0" y="0"/>
                  </a:lnTo>
                  <a:lnTo>
                    <a:pt x="0" y="27940"/>
                  </a:ln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63500" y="586359"/>
              <a:ext cx="239268" cy="243840"/>
            </a:xfrm>
            <a:custGeom>
              <a:avLst/>
              <a:gdLst/>
              <a:ahLst/>
              <a:cxnLst/>
              <a:rect r="r" b="b" t="t" l="l"/>
              <a:pathLst>
                <a:path h="243840" w="239268">
                  <a:moveTo>
                    <a:pt x="117348" y="45212"/>
                  </a:moveTo>
                  <a:cubicBezTo>
                    <a:pt x="159766" y="45212"/>
                    <a:pt x="194183" y="79629"/>
                    <a:pt x="194183" y="122047"/>
                  </a:cubicBezTo>
                  <a:cubicBezTo>
                    <a:pt x="194183" y="164465"/>
                    <a:pt x="159766" y="198882"/>
                    <a:pt x="117348" y="198882"/>
                  </a:cubicBezTo>
                  <a:cubicBezTo>
                    <a:pt x="74930" y="198882"/>
                    <a:pt x="40513" y="164465"/>
                    <a:pt x="40513" y="122047"/>
                  </a:cubicBezTo>
                  <a:cubicBezTo>
                    <a:pt x="40513" y="79629"/>
                    <a:pt x="74930" y="45212"/>
                    <a:pt x="117348" y="45212"/>
                  </a:cubicBezTo>
                  <a:close/>
                  <a:moveTo>
                    <a:pt x="117348" y="127"/>
                  </a:moveTo>
                  <a:cubicBezTo>
                    <a:pt x="61468" y="127"/>
                    <a:pt x="14478" y="37719"/>
                    <a:pt x="0" y="88900"/>
                  </a:cubicBezTo>
                  <a:lnTo>
                    <a:pt x="0" y="88900"/>
                  </a:lnTo>
                  <a:lnTo>
                    <a:pt x="0" y="155067"/>
                  </a:lnTo>
                  <a:cubicBezTo>
                    <a:pt x="14478" y="206248"/>
                    <a:pt x="61468" y="243840"/>
                    <a:pt x="117348" y="243840"/>
                  </a:cubicBezTo>
                  <a:cubicBezTo>
                    <a:pt x="184658" y="243840"/>
                    <a:pt x="239268" y="189230"/>
                    <a:pt x="239268" y="121920"/>
                  </a:cubicBezTo>
                  <a:cubicBezTo>
                    <a:pt x="239268" y="54610"/>
                    <a:pt x="184658" y="0"/>
                    <a:pt x="117348" y="0"/>
                  </a:cubicBezTo>
                  <a:close/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930783" y="1410716"/>
              <a:ext cx="243840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40">
                  <a:moveTo>
                    <a:pt x="121920" y="198755"/>
                  </a:moveTo>
                  <a:cubicBezTo>
                    <a:pt x="164338" y="198755"/>
                    <a:pt x="198755" y="164338"/>
                    <a:pt x="198755" y="121920"/>
                  </a:cubicBezTo>
                  <a:cubicBezTo>
                    <a:pt x="198755" y="79502"/>
                    <a:pt x="164338" y="45085"/>
                    <a:pt x="121920" y="45085"/>
                  </a:cubicBezTo>
                  <a:cubicBezTo>
                    <a:pt x="79502" y="45085"/>
                    <a:pt x="45085" y="79502"/>
                    <a:pt x="45085" y="121920"/>
                  </a:cubicBezTo>
                  <a:cubicBezTo>
                    <a:pt x="45085" y="164338"/>
                    <a:pt x="79502" y="198755"/>
                    <a:pt x="121920" y="198755"/>
                  </a:cubicBezTo>
                  <a:close/>
                  <a:moveTo>
                    <a:pt x="121920" y="0"/>
                  </a:moveTo>
                  <a:cubicBezTo>
                    <a:pt x="189230" y="0"/>
                    <a:pt x="243840" y="54610"/>
                    <a:pt x="243840" y="121920"/>
                  </a:cubicBezTo>
                  <a:cubicBezTo>
                    <a:pt x="243840" y="189230"/>
                    <a:pt x="189230" y="243840"/>
                    <a:pt x="121920" y="243840"/>
                  </a:cubicBezTo>
                  <a:cubicBezTo>
                    <a:pt x="54610" y="243840"/>
                    <a:pt x="0" y="189230"/>
                    <a:pt x="0" y="121920"/>
                  </a:cubicBezTo>
                  <a:cubicBezTo>
                    <a:pt x="0" y="54610"/>
                    <a:pt x="54610" y="0"/>
                    <a:pt x="121920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3491484" y="1307211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0"/>
                  </a:moveTo>
                  <a:cubicBezTo>
                    <a:pt x="130429" y="0"/>
                    <a:pt x="168148" y="37592"/>
                    <a:pt x="168148" y="84074"/>
                  </a:cubicBezTo>
                  <a:cubicBezTo>
                    <a:pt x="168148" y="130556"/>
                    <a:pt x="130556" y="168148"/>
                    <a:pt x="84074" y="168148"/>
                  </a:cubicBezTo>
                  <a:cubicBezTo>
                    <a:pt x="37592" y="168148"/>
                    <a:pt x="0" y="130556"/>
                    <a:pt x="0" y="84074"/>
                  </a:cubicBezTo>
                  <a:cubicBezTo>
                    <a:pt x="0" y="37592"/>
                    <a:pt x="37592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202311" y="1148461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0"/>
                  </a:moveTo>
                  <a:cubicBezTo>
                    <a:pt x="130429" y="0"/>
                    <a:pt x="168148" y="37592"/>
                    <a:pt x="168148" y="84074"/>
                  </a:cubicBezTo>
                  <a:cubicBezTo>
                    <a:pt x="168148" y="130556"/>
                    <a:pt x="130556" y="168148"/>
                    <a:pt x="84074" y="168148"/>
                  </a:cubicBezTo>
                  <a:cubicBezTo>
                    <a:pt x="37592" y="168148"/>
                    <a:pt x="0" y="130556"/>
                    <a:pt x="0" y="84074"/>
                  </a:cubicBezTo>
                  <a:cubicBezTo>
                    <a:pt x="0" y="37592"/>
                    <a:pt x="37592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006475" y="342646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0"/>
                  </a:moveTo>
                  <a:cubicBezTo>
                    <a:pt x="130429" y="0"/>
                    <a:pt x="168148" y="37592"/>
                    <a:pt x="168148" y="84074"/>
                  </a:cubicBezTo>
                  <a:cubicBezTo>
                    <a:pt x="168148" y="130556"/>
                    <a:pt x="130556" y="168148"/>
                    <a:pt x="84074" y="168148"/>
                  </a:cubicBezTo>
                  <a:cubicBezTo>
                    <a:pt x="37592" y="168148"/>
                    <a:pt x="0" y="130556"/>
                    <a:pt x="0" y="84074"/>
                  </a:cubicBezTo>
                  <a:cubicBezTo>
                    <a:pt x="0" y="37592"/>
                    <a:pt x="37592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489583" y="960120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137033"/>
                  </a:moveTo>
                  <a:cubicBezTo>
                    <a:pt x="113411" y="137033"/>
                    <a:pt x="137033" y="113284"/>
                    <a:pt x="137033" y="84074"/>
                  </a:cubicBezTo>
                  <a:cubicBezTo>
                    <a:pt x="137033" y="54864"/>
                    <a:pt x="113284" y="31115"/>
                    <a:pt x="84074" y="31115"/>
                  </a:cubicBezTo>
                  <a:cubicBezTo>
                    <a:pt x="54864" y="31115"/>
                    <a:pt x="31115" y="54864"/>
                    <a:pt x="31115" y="84074"/>
                  </a:cubicBezTo>
                  <a:cubicBezTo>
                    <a:pt x="31115" y="113284"/>
                    <a:pt x="54864" y="137033"/>
                    <a:pt x="84074" y="137033"/>
                  </a:cubicBezTo>
                  <a:close/>
                  <a:moveTo>
                    <a:pt x="84074" y="0"/>
                  </a:moveTo>
                  <a:cubicBezTo>
                    <a:pt x="130556" y="0"/>
                    <a:pt x="168148" y="37592"/>
                    <a:pt x="168148" y="84074"/>
                  </a:cubicBezTo>
                  <a:cubicBezTo>
                    <a:pt x="168148" y="130556"/>
                    <a:pt x="130556" y="168148"/>
                    <a:pt x="84074" y="168148"/>
                  </a:cubicBezTo>
                  <a:cubicBezTo>
                    <a:pt x="37592" y="168148"/>
                    <a:pt x="0" y="130556"/>
                    <a:pt x="0" y="84074"/>
                  </a:cubicBezTo>
                  <a:cubicBezTo>
                    <a:pt x="0" y="37592"/>
                    <a:pt x="37592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3343021" y="395605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137033"/>
                  </a:moveTo>
                  <a:cubicBezTo>
                    <a:pt x="113284" y="137033"/>
                    <a:pt x="137033" y="113284"/>
                    <a:pt x="137033" y="84074"/>
                  </a:cubicBezTo>
                  <a:cubicBezTo>
                    <a:pt x="137033" y="54864"/>
                    <a:pt x="113284" y="31115"/>
                    <a:pt x="84074" y="31115"/>
                  </a:cubicBezTo>
                  <a:cubicBezTo>
                    <a:pt x="54864" y="31115"/>
                    <a:pt x="31115" y="54864"/>
                    <a:pt x="31115" y="84074"/>
                  </a:cubicBezTo>
                  <a:cubicBezTo>
                    <a:pt x="31115" y="113284"/>
                    <a:pt x="54864" y="137033"/>
                    <a:pt x="84074" y="137033"/>
                  </a:cubicBezTo>
                  <a:close/>
                  <a:moveTo>
                    <a:pt x="84074" y="0"/>
                  </a:moveTo>
                  <a:cubicBezTo>
                    <a:pt x="130429" y="0"/>
                    <a:pt x="168148" y="37592"/>
                    <a:pt x="168148" y="84074"/>
                  </a:cubicBezTo>
                  <a:cubicBezTo>
                    <a:pt x="168148" y="130556"/>
                    <a:pt x="130556" y="168148"/>
                    <a:pt x="84074" y="168148"/>
                  </a:cubicBezTo>
                  <a:cubicBezTo>
                    <a:pt x="37592" y="168148"/>
                    <a:pt x="0" y="130556"/>
                    <a:pt x="0" y="84074"/>
                  </a:cubicBezTo>
                  <a:cubicBezTo>
                    <a:pt x="0" y="37592"/>
                    <a:pt x="37592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286385" y="63500"/>
              <a:ext cx="4172458" cy="2045716"/>
            </a:xfrm>
            <a:custGeom>
              <a:avLst/>
              <a:gdLst/>
              <a:ahLst/>
              <a:cxnLst/>
              <a:rect r="r" b="b" t="t" l="l"/>
              <a:pathLst>
                <a:path h="2045716" w="4172458">
                  <a:moveTo>
                    <a:pt x="2886964" y="0"/>
                  </a:moveTo>
                  <a:lnTo>
                    <a:pt x="2531618" y="355346"/>
                  </a:lnTo>
                  <a:lnTo>
                    <a:pt x="862965" y="355346"/>
                  </a:lnTo>
                  <a:lnTo>
                    <a:pt x="862965" y="383286"/>
                  </a:lnTo>
                  <a:lnTo>
                    <a:pt x="2543175" y="383286"/>
                  </a:lnTo>
                  <a:lnTo>
                    <a:pt x="2926588" y="0"/>
                  </a:lnTo>
                  <a:close/>
                  <a:moveTo>
                    <a:pt x="3202051" y="398399"/>
                  </a:moveTo>
                  <a:lnTo>
                    <a:pt x="3202051" y="440309"/>
                  </a:lnTo>
                  <a:lnTo>
                    <a:pt x="4172458" y="440309"/>
                  </a:lnTo>
                  <a:lnTo>
                    <a:pt x="4172458" y="398399"/>
                  </a:lnTo>
                  <a:close/>
                  <a:moveTo>
                    <a:pt x="0" y="625856"/>
                  </a:moveTo>
                  <a:lnTo>
                    <a:pt x="0" y="667766"/>
                  </a:lnTo>
                  <a:lnTo>
                    <a:pt x="1765681" y="667766"/>
                  </a:lnTo>
                  <a:lnTo>
                    <a:pt x="2064258" y="966343"/>
                  </a:lnTo>
                  <a:lnTo>
                    <a:pt x="2629916" y="966343"/>
                  </a:lnTo>
                  <a:lnTo>
                    <a:pt x="2880106" y="716153"/>
                  </a:lnTo>
                  <a:lnTo>
                    <a:pt x="4172458" y="716153"/>
                  </a:lnTo>
                  <a:lnTo>
                    <a:pt x="4172458" y="674243"/>
                  </a:lnTo>
                  <a:lnTo>
                    <a:pt x="2862707" y="674243"/>
                  </a:lnTo>
                  <a:lnTo>
                    <a:pt x="2612517" y="924433"/>
                  </a:lnTo>
                  <a:lnTo>
                    <a:pt x="2081657" y="924433"/>
                  </a:lnTo>
                  <a:lnTo>
                    <a:pt x="1783207" y="625856"/>
                  </a:lnTo>
                  <a:close/>
                  <a:moveTo>
                    <a:pt x="3196336" y="973963"/>
                  </a:moveTo>
                  <a:lnTo>
                    <a:pt x="3192272" y="978027"/>
                  </a:lnTo>
                  <a:lnTo>
                    <a:pt x="2879217" y="1291082"/>
                  </a:lnTo>
                  <a:lnTo>
                    <a:pt x="1610868" y="1291082"/>
                  </a:lnTo>
                  <a:lnTo>
                    <a:pt x="1350010" y="1030351"/>
                  </a:lnTo>
                  <a:lnTo>
                    <a:pt x="1330198" y="1050163"/>
                  </a:lnTo>
                  <a:lnTo>
                    <a:pt x="1599184" y="1319149"/>
                  </a:lnTo>
                  <a:lnTo>
                    <a:pt x="2890774" y="1319149"/>
                  </a:lnTo>
                  <a:lnTo>
                    <a:pt x="2894838" y="1315085"/>
                  </a:lnTo>
                  <a:lnTo>
                    <a:pt x="3207893" y="1002030"/>
                  </a:lnTo>
                  <a:lnTo>
                    <a:pt x="4172458" y="1002030"/>
                  </a:lnTo>
                  <a:lnTo>
                    <a:pt x="4172458" y="974090"/>
                  </a:lnTo>
                  <a:close/>
                  <a:moveTo>
                    <a:pt x="3363468" y="1315339"/>
                  </a:moveTo>
                  <a:lnTo>
                    <a:pt x="3363468" y="1343279"/>
                  </a:lnTo>
                  <a:lnTo>
                    <a:pt x="4172458" y="1343279"/>
                  </a:lnTo>
                  <a:lnTo>
                    <a:pt x="4172458" y="1315339"/>
                  </a:lnTo>
                  <a:close/>
                  <a:moveTo>
                    <a:pt x="862965" y="1450721"/>
                  </a:moveTo>
                  <a:lnTo>
                    <a:pt x="862965" y="1492631"/>
                  </a:lnTo>
                  <a:lnTo>
                    <a:pt x="2528824" y="1492631"/>
                  </a:lnTo>
                  <a:lnTo>
                    <a:pt x="2935351" y="1899158"/>
                  </a:lnTo>
                  <a:lnTo>
                    <a:pt x="4025773" y="1899158"/>
                  </a:lnTo>
                  <a:lnTo>
                    <a:pt x="4172458" y="2045716"/>
                  </a:lnTo>
                  <a:lnTo>
                    <a:pt x="4172458" y="1986407"/>
                  </a:lnTo>
                  <a:lnTo>
                    <a:pt x="4043172" y="1857248"/>
                  </a:lnTo>
                  <a:lnTo>
                    <a:pt x="2952750" y="1857248"/>
                  </a:lnTo>
                  <a:lnTo>
                    <a:pt x="2546223" y="1450721"/>
                  </a:lnTo>
                  <a:close/>
                </a:path>
              </a:pathLst>
            </a:custGeom>
            <a:solidFill>
              <a:srgbClr val="C7D7F3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419035" y="1809026"/>
            <a:ext cx="16840265" cy="5099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BUSINESS PROBLEM</a:t>
            </a:r>
          </a:p>
          <a:p>
            <a:pPr algn="l">
              <a:lnSpc>
                <a:spcPts val="3598"/>
              </a:lnSpc>
            </a:pPr>
          </a:p>
          <a:p>
            <a:pPr algn="l">
              <a:lnSpc>
                <a:spcPts val="4139"/>
              </a:lnSpc>
            </a:pPr>
            <a:r>
              <a:rPr lang="en-US" sz="20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SyriaTel, a leading telecom provider, faces </a:t>
            </a:r>
            <a:r>
              <a:rPr lang="en-US" sz="207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rising customer churn</a:t>
            </a:r>
            <a:r>
              <a:rPr lang="en-US" sz="20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in a highly competitive market. </a:t>
            </a:r>
            <a:r>
              <a:rPr lang="en-US" sz="207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Retaining customers is critical for long-term growth and profitability</a:t>
            </a:r>
            <a:r>
              <a:rPr lang="en-US" sz="20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. This project leverages data and machine learning to better understand churn patterns and guide proactive retention strategies.</a:t>
            </a:r>
          </a:p>
          <a:p>
            <a:pPr algn="l">
              <a:lnSpc>
                <a:spcPts val="2911"/>
              </a:lnSpc>
              <a:spcBef>
                <a:spcPct val="0"/>
              </a:spcBef>
            </a:pP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PROJECT OBJECTIVES</a:t>
            </a:r>
          </a:p>
          <a:p>
            <a:pPr algn="l">
              <a:lnSpc>
                <a:spcPts val="2911"/>
              </a:lnSpc>
            </a:pPr>
          </a:p>
          <a:p>
            <a:pPr algn="l" marL="449071" indent="-224536" lvl="1">
              <a:lnSpc>
                <a:spcPts val="3639"/>
              </a:lnSpc>
              <a:buFont typeface="Arial"/>
              <a:buChar char="•"/>
            </a:pPr>
            <a:r>
              <a:rPr lang="en-US" sz="20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Which customer behaviors and service patterns are most predictive of churn?</a:t>
            </a:r>
          </a:p>
          <a:p>
            <a:pPr algn="l" marL="449071" indent="-224536" lvl="1">
              <a:lnSpc>
                <a:spcPts val="3639"/>
              </a:lnSpc>
              <a:buFont typeface="Arial"/>
              <a:buChar char="•"/>
            </a:pPr>
            <a:r>
              <a:rPr lang="en-US" sz="20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Can we identify specific customer segments that are more likely to leave?</a:t>
            </a:r>
          </a:p>
          <a:p>
            <a:pPr algn="l" marL="449071" indent="-224536" lvl="1">
              <a:lnSpc>
                <a:spcPts val="3639"/>
              </a:lnSpc>
              <a:buFont typeface="Arial"/>
              <a:buChar char="•"/>
            </a:pPr>
            <a:r>
              <a:rPr lang="en-US" sz="20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What proactive actions can the business take to reduce churn based on these insights?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-367306" y="9702835"/>
            <a:ext cx="19022613" cy="4006046"/>
            <a:chOff x="0" y="0"/>
            <a:chExt cx="5010071" cy="105509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010071" cy="1055090"/>
            </a:xfrm>
            <a:custGeom>
              <a:avLst/>
              <a:gdLst/>
              <a:ahLst/>
              <a:cxnLst/>
              <a:rect r="r" b="b" t="t" l="l"/>
              <a:pathLst>
                <a:path h="1055090" w="5010071">
                  <a:moveTo>
                    <a:pt x="0" y="0"/>
                  </a:moveTo>
                  <a:lnTo>
                    <a:pt x="5010071" y="0"/>
                  </a:lnTo>
                  <a:lnTo>
                    <a:pt x="5010071" y="1055090"/>
                  </a:lnTo>
                  <a:lnTo>
                    <a:pt x="0" y="1055090"/>
                  </a:lnTo>
                  <a:close/>
                </a:path>
              </a:pathLst>
            </a:custGeom>
            <a:gradFill rotWithShape="true">
              <a:gsLst>
                <a:gs pos="0">
                  <a:srgbClr val="114168">
                    <a:alpha val="100000"/>
                  </a:srgbClr>
                </a:gs>
                <a:gs pos="100000">
                  <a:srgbClr val="09023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5010071" cy="10931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12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89102" y="1110536"/>
            <a:ext cx="12618643" cy="5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UNDERSTANDING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89102" y="1358198"/>
            <a:ext cx="17803681" cy="7334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1"/>
              </a:lnSpc>
              <a:spcBef>
                <a:spcPct val="0"/>
              </a:spcBef>
            </a:pPr>
          </a:p>
          <a:p>
            <a:pPr algn="l">
              <a:lnSpc>
                <a:spcPts val="2911"/>
              </a:lnSpc>
              <a:spcBef>
                <a:spcPct val="0"/>
              </a:spcBef>
            </a:pPr>
          </a:p>
          <a:p>
            <a:pPr algn="l">
              <a:lnSpc>
                <a:spcPts val="2911"/>
              </a:lnSpc>
              <a:spcBef>
                <a:spcPct val="0"/>
              </a:spcBef>
            </a:pPr>
            <a:r>
              <a:rPr lang="en-US" b="true" sz="207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Dataset Summary</a:t>
            </a:r>
          </a:p>
          <a:p>
            <a:pPr algn="l">
              <a:lnSpc>
                <a:spcPts val="2911"/>
              </a:lnSpc>
              <a:spcBef>
                <a:spcPct val="0"/>
              </a:spcBef>
            </a:pPr>
          </a:p>
          <a:p>
            <a:pPr algn="l">
              <a:lnSpc>
                <a:spcPts val="2911"/>
              </a:lnSpc>
              <a:spcBef>
                <a:spcPct val="0"/>
              </a:spcBef>
            </a:pPr>
            <a:r>
              <a:rPr lang="en-US" sz="20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The dataset contains 3,333 customer records and 21 features. There are no missing values or duplicate entries, indicating that the data is clean. The features include a mix of categorical, numerical, and boolean variables. The target variable is churn, which is a binary outcome indicating whether a customer has churned (True) or not (False)</a:t>
            </a:r>
            <a:r>
              <a:rPr lang="en-US" b="true" sz="207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.</a:t>
            </a:r>
          </a:p>
          <a:p>
            <a:pPr algn="l">
              <a:lnSpc>
                <a:spcPts val="2911"/>
              </a:lnSpc>
              <a:spcBef>
                <a:spcPct val="0"/>
              </a:spcBef>
            </a:pPr>
          </a:p>
          <a:p>
            <a:pPr algn="l">
              <a:lnSpc>
                <a:spcPts val="2911"/>
              </a:lnSpc>
              <a:spcBef>
                <a:spcPct val="0"/>
              </a:spcBef>
            </a:pPr>
            <a:r>
              <a:rPr lang="en-US" b="true" sz="207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Observations</a:t>
            </a:r>
          </a:p>
          <a:p>
            <a:pPr algn="l">
              <a:lnSpc>
                <a:spcPts val="2911"/>
              </a:lnSpc>
              <a:spcBef>
                <a:spcPct val="0"/>
              </a:spcBef>
            </a:pPr>
          </a:p>
          <a:p>
            <a:pPr algn="l">
              <a:lnSpc>
                <a:spcPts val="2911"/>
              </a:lnSpc>
              <a:spcBef>
                <a:spcPct val="0"/>
              </a:spcBef>
            </a:pPr>
            <a:r>
              <a:rPr lang="en-US" sz="20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The dataset includes a healthy mix of feature types suitable for machine learning.</a:t>
            </a:r>
          </a:p>
          <a:p>
            <a:pPr algn="l">
              <a:lnSpc>
                <a:spcPts val="2911"/>
              </a:lnSpc>
              <a:spcBef>
                <a:spcPct val="0"/>
              </a:spcBef>
            </a:pPr>
            <a:r>
              <a:rPr lang="en-US" sz="20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No preprocessing is needed for missing values or duplicates.</a:t>
            </a:r>
          </a:p>
          <a:p>
            <a:pPr algn="l">
              <a:lnSpc>
                <a:spcPts val="2911"/>
              </a:lnSpc>
              <a:spcBef>
                <a:spcPct val="0"/>
              </a:spcBef>
            </a:pPr>
            <a:r>
              <a:rPr lang="en-US" sz="20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The target variable (`churn`) is imbalanced only 14.5% of customers churned.</a:t>
            </a:r>
          </a:p>
          <a:p>
            <a:pPr algn="l">
              <a:lnSpc>
                <a:spcPts val="2911"/>
              </a:lnSpc>
              <a:spcBef>
                <a:spcPct val="0"/>
              </a:spcBef>
            </a:pPr>
          </a:p>
          <a:p>
            <a:pPr algn="l">
              <a:lnSpc>
                <a:spcPts val="2911"/>
              </a:lnSpc>
              <a:spcBef>
                <a:spcPct val="0"/>
              </a:spcBef>
            </a:pPr>
            <a:r>
              <a:rPr lang="en-US" b="true" sz="207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Why Class Imbalance Matters</a:t>
            </a:r>
          </a:p>
          <a:p>
            <a:pPr algn="l">
              <a:lnSpc>
                <a:spcPts val="2911"/>
              </a:lnSpc>
              <a:spcBef>
                <a:spcPct val="0"/>
              </a:spcBef>
            </a:pPr>
          </a:p>
          <a:p>
            <a:pPr algn="l">
              <a:lnSpc>
                <a:spcPts val="2911"/>
              </a:lnSpc>
              <a:spcBef>
                <a:spcPct val="0"/>
              </a:spcBef>
            </a:pPr>
            <a:r>
              <a:rPr lang="en-US" sz="20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 model may achieve high accuracy by predicting most customers as “not churned”.</a:t>
            </a:r>
          </a:p>
          <a:p>
            <a:pPr algn="l">
              <a:lnSpc>
                <a:spcPts val="2911"/>
              </a:lnSpc>
              <a:spcBef>
                <a:spcPct val="0"/>
              </a:spcBef>
            </a:pPr>
            <a:r>
              <a:rPr lang="en-US" sz="20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We'll focus on Precision, Recall, F1-Score, and ROC-AUC for evaluation.</a:t>
            </a:r>
          </a:p>
          <a:p>
            <a:pPr algn="l">
              <a:lnSpc>
                <a:spcPts val="2212"/>
              </a:lnSpc>
              <a:spcBef>
                <a:spcPct val="0"/>
              </a:spcBef>
            </a:pPr>
          </a:p>
          <a:p>
            <a:pPr algn="l">
              <a:lnSpc>
                <a:spcPts val="2212"/>
              </a:lnSpc>
              <a:spcBef>
                <a:spcPct val="0"/>
              </a:spcBef>
            </a:pPr>
          </a:p>
          <a:p>
            <a:pPr algn="l">
              <a:lnSpc>
                <a:spcPts val="2212"/>
              </a:lnSpc>
              <a:spcBef>
                <a:spcPct val="0"/>
              </a:spcBef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-671119" y="9715153"/>
            <a:ext cx="19022613" cy="4006046"/>
            <a:chOff x="0" y="0"/>
            <a:chExt cx="5010071" cy="105509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10071" cy="1055090"/>
            </a:xfrm>
            <a:custGeom>
              <a:avLst/>
              <a:gdLst/>
              <a:ahLst/>
              <a:cxnLst/>
              <a:rect r="r" b="b" t="t" l="l"/>
              <a:pathLst>
                <a:path h="1055090" w="5010071">
                  <a:moveTo>
                    <a:pt x="0" y="0"/>
                  </a:moveTo>
                  <a:lnTo>
                    <a:pt x="5010071" y="0"/>
                  </a:lnTo>
                  <a:lnTo>
                    <a:pt x="5010071" y="1055090"/>
                  </a:lnTo>
                  <a:lnTo>
                    <a:pt x="0" y="1055090"/>
                  </a:lnTo>
                  <a:close/>
                </a:path>
              </a:pathLst>
            </a:custGeom>
            <a:gradFill rotWithShape="true">
              <a:gsLst>
                <a:gs pos="0">
                  <a:srgbClr val="114168">
                    <a:alpha val="100000"/>
                  </a:srgbClr>
                </a:gs>
                <a:gs pos="100000">
                  <a:srgbClr val="09023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10071" cy="10931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12"/>
                </a:lnSpc>
              </a:pPr>
            </a:p>
          </p:txBody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-63503" y="-63503"/>
            <a:ext cx="4070071" cy="1843954"/>
            <a:chOff x="0" y="0"/>
            <a:chExt cx="4070071" cy="184395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902966" y="294513"/>
              <a:ext cx="956310" cy="27940"/>
            </a:xfrm>
            <a:custGeom>
              <a:avLst/>
              <a:gdLst/>
              <a:ahLst/>
              <a:cxnLst/>
              <a:rect r="r" b="b" t="t" l="l"/>
              <a:pathLst>
                <a:path h="27940" w="956310">
                  <a:moveTo>
                    <a:pt x="956310" y="27940"/>
                  </a:moveTo>
                  <a:lnTo>
                    <a:pt x="0" y="27940"/>
                  </a:lnTo>
                  <a:lnTo>
                    <a:pt x="0" y="0"/>
                  </a:lnTo>
                  <a:lnTo>
                    <a:pt x="956310" y="0"/>
                  </a:lnTo>
                  <a:lnTo>
                    <a:pt x="956310" y="27940"/>
                  </a:ln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034157" y="486791"/>
              <a:ext cx="243840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40">
                  <a:moveTo>
                    <a:pt x="121920" y="198755"/>
                  </a:moveTo>
                  <a:cubicBezTo>
                    <a:pt x="79502" y="198755"/>
                    <a:pt x="45085" y="164338"/>
                    <a:pt x="45085" y="121920"/>
                  </a:cubicBezTo>
                  <a:cubicBezTo>
                    <a:pt x="45085" y="79502"/>
                    <a:pt x="79502" y="45085"/>
                    <a:pt x="121920" y="45085"/>
                  </a:cubicBezTo>
                  <a:cubicBezTo>
                    <a:pt x="164338" y="45085"/>
                    <a:pt x="198755" y="79502"/>
                    <a:pt x="198755" y="121920"/>
                  </a:cubicBezTo>
                  <a:cubicBezTo>
                    <a:pt x="198755" y="164338"/>
                    <a:pt x="164338" y="198755"/>
                    <a:pt x="121920" y="198755"/>
                  </a:cubicBezTo>
                  <a:close/>
                  <a:moveTo>
                    <a:pt x="121920" y="0"/>
                  </a:moveTo>
                  <a:cubicBezTo>
                    <a:pt x="54610" y="0"/>
                    <a:pt x="0" y="54610"/>
                    <a:pt x="0" y="121920"/>
                  </a:cubicBezTo>
                  <a:cubicBezTo>
                    <a:pt x="0" y="189230"/>
                    <a:pt x="54610" y="243840"/>
                    <a:pt x="121920" y="243840"/>
                  </a:cubicBezTo>
                  <a:cubicBezTo>
                    <a:pt x="189230" y="243840"/>
                    <a:pt x="243840" y="189230"/>
                    <a:pt x="243840" y="121920"/>
                  </a:cubicBezTo>
                  <a:cubicBezTo>
                    <a:pt x="243840" y="54610"/>
                    <a:pt x="189230" y="0"/>
                    <a:pt x="121920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549275" y="383286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0"/>
                  </a:moveTo>
                  <a:cubicBezTo>
                    <a:pt x="37719" y="0"/>
                    <a:pt x="0" y="37592"/>
                    <a:pt x="0" y="84074"/>
                  </a:cubicBezTo>
                  <a:cubicBezTo>
                    <a:pt x="0" y="130556"/>
                    <a:pt x="37592" y="168148"/>
                    <a:pt x="84074" y="168148"/>
                  </a:cubicBezTo>
                  <a:cubicBezTo>
                    <a:pt x="130556" y="168148"/>
                    <a:pt x="168148" y="130556"/>
                    <a:pt x="168148" y="84074"/>
                  </a:cubicBezTo>
                  <a:cubicBezTo>
                    <a:pt x="168148" y="37592"/>
                    <a:pt x="130556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3838448" y="224536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0"/>
                  </a:moveTo>
                  <a:cubicBezTo>
                    <a:pt x="37719" y="0"/>
                    <a:pt x="0" y="37592"/>
                    <a:pt x="0" y="84074"/>
                  </a:cubicBezTo>
                  <a:cubicBezTo>
                    <a:pt x="0" y="130556"/>
                    <a:pt x="37592" y="168148"/>
                    <a:pt x="84074" y="168148"/>
                  </a:cubicBezTo>
                  <a:cubicBezTo>
                    <a:pt x="130556" y="168148"/>
                    <a:pt x="168148" y="130556"/>
                    <a:pt x="168148" y="84074"/>
                  </a:cubicBezTo>
                  <a:cubicBezTo>
                    <a:pt x="168148" y="37592"/>
                    <a:pt x="130556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2551049" y="63500"/>
              <a:ext cx="168148" cy="140843"/>
            </a:xfrm>
            <a:custGeom>
              <a:avLst/>
              <a:gdLst/>
              <a:ahLst/>
              <a:cxnLst/>
              <a:rect r="r" b="b" t="t" l="l"/>
              <a:pathLst>
                <a:path h="140843" w="168148">
                  <a:moveTo>
                    <a:pt x="84074" y="3810"/>
                  </a:moveTo>
                  <a:cubicBezTo>
                    <a:pt x="113284" y="3810"/>
                    <a:pt x="137033" y="27559"/>
                    <a:pt x="137033" y="56769"/>
                  </a:cubicBezTo>
                  <a:cubicBezTo>
                    <a:pt x="137033" y="85979"/>
                    <a:pt x="113284" y="109728"/>
                    <a:pt x="84074" y="109728"/>
                  </a:cubicBezTo>
                  <a:cubicBezTo>
                    <a:pt x="54864" y="109728"/>
                    <a:pt x="31115" y="85979"/>
                    <a:pt x="31115" y="56769"/>
                  </a:cubicBezTo>
                  <a:cubicBezTo>
                    <a:pt x="31115" y="27559"/>
                    <a:pt x="54864" y="3810"/>
                    <a:pt x="84074" y="3810"/>
                  </a:cubicBezTo>
                  <a:close/>
                  <a:moveTo>
                    <a:pt x="22098" y="0"/>
                  </a:moveTo>
                  <a:cubicBezTo>
                    <a:pt x="8382" y="14986"/>
                    <a:pt x="0" y="34925"/>
                    <a:pt x="0" y="56769"/>
                  </a:cubicBezTo>
                  <a:cubicBezTo>
                    <a:pt x="0" y="103251"/>
                    <a:pt x="37592" y="140843"/>
                    <a:pt x="84074" y="140843"/>
                  </a:cubicBezTo>
                  <a:cubicBezTo>
                    <a:pt x="130556" y="140843"/>
                    <a:pt x="168148" y="103251"/>
                    <a:pt x="168148" y="56769"/>
                  </a:cubicBezTo>
                  <a:cubicBezTo>
                    <a:pt x="168148" y="34925"/>
                    <a:pt x="159766" y="14986"/>
                    <a:pt x="146050" y="0"/>
                  </a:cubicBezTo>
                  <a:close/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63500" y="63500"/>
              <a:ext cx="2995930" cy="975360"/>
            </a:xfrm>
            <a:custGeom>
              <a:avLst/>
              <a:gdLst/>
              <a:ahLst/>
              <a:cxnLst/>
              <a:rect r="r" b="b" t="t" l="l"/>
              <a:pathLst>
                <a:path h="975360" w="2995930">
                  <a:moveTo>
                    <a:pt x="1186561" y="0"/>
                  </a:moveTo>
                  <a:lnTo>
                    <a:pt x="1228979" y="42418"/>
                  </a:lnTo>
                  <a:lnTo>
                    <a:pt x="1794637" y="42418"/>
                  </a:lnTo>
                  <a:lnTo>
                    <a:pt x="1837182" y="0"/>
                  </a:lnTo>
                  <a:lnTo>
                    <a:pt x="1777873" y="0"/>
                  </a:lnTo>
                  <a:lnTo>
                    <a:pt x="1777365" y="508"/>
                  </a:lnTo>
                  <a:lnTo>
                    <a:pt x="1246378" y="508"/>
                  </a:lnTo>
                  <a:lnTo>
                    <a:pt x="1245870" y="0"/>
                  </a:lnTo>
                  <a:close/>
                  <a:moveTo>
                    <a:pt x="0" y="50038"/>
                  </a:moveTo>
                  <a:lnTo>
                    <a:pt x="0" y="77978"/>
                  </a:lnTo>
                  <a:lnTo>
                    <a:pt x="651002" y="77978"/>
                  </a:lnTo>
                  <a:lnTo>
                    <a:pt x="964057" y="391160"/>
                  </a:lnTo>
                  <a:lnTo>
                    <a:pt x="968121" y="395224"/>
                  </a:lnTo>
                  <a:lnTo>
                    <a:pt x="2259711" y="395224"/>
                  </a:lnTo>
                  <a:lnTo>
                    <a:pt x="2528697" y="126238"/>
                  </a:lnTo>
                  <a:lnTo>
                    <a:pt x="2508885" y="106426"/>
                  </a:lnTo>
                  <a:lnTo>
                    <a:pt x="2248027" y="367284"/>
                  </a:lnTo>
                  <a:lnTo>
                    <a:pt x="979805" y="367284"/>
                  </a:lnTo>
                  <a:lnTo>
                    <a:pt x="666750" y="54229"/>
                  </a:lnTo>
                  <a:lnTo>
                    <a:pt x="662686" y="50165"/>
                  </a:lnTo>
                  <a:close/>
                  <a:moveTo>
                    <a:pt x="0" y="391541"/>
                  </a:moveTo>
                  <a:lnTo>
                    <a:pt x="0" y="419481"/>
                  </a:lnTo>
                  <a:lnTo>
                    <a:pt x="495554" y="419481"/>
                  </a:lnTo>
                  <a:lnTo>
                    <a:pt x="495554" y="391541"/>
                  </a:lnTo>
                  <a:close/>
                  <a:moveTo>
                    <a:pt x="1312799" y="526796"/>
                  </a:moveTo>
                  <a:lnTo>
                    <a:pt x="906272" y="933450"/>
                  </a:lnTo>
                  <a:lnTo>
                    <a:pt x="0" y="933450"/>
                  </a:lnTo>
                  <a:lnTo>
                    <a:pt x="0" y="975360"/>
                  </a:lnTo>
                  <a:lnTo>
                    <a:pt x="923671" y="975360"/>
                  </a:lnTo>
                  <a:lnTo>
                    <a:pt x="1330198" y="568833"/>
                  </a:lnTo>
                  <a:lnTo>
                    <a:pt x="2995930" y="568833"/>
                  </a:lnTo>
                  <a:lnTo>
                    <a:pt x="2995930" y="526923"/>
                  </a:lnTo>
                  <a:close/>
                </a:path>
              </a:pathLst>
            </a:custGeom>
            <a:solidFill>
              <a:srgbClr val="C7D7F3"/>
            </a:solidFill>
          </p:spPr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13829128" y="-63503"/>
            <a:ext cx="4522365" cy="2767879"/>
            <a:chOff x="0" y="0"/>
            <a:chExt cx="4522368" cy="276787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349631" y="1218438"/>
              <a:ext cx="956310" cy="27940"/>
            </a:xfrm>
            <a:custGeom>
              <a:avLst/>
              <a:gdLst/>
              <a:ahLst/>
              <a:cxnLst/>
              <a:rect r="r" b="b" t="t" l="l"/>
              <a:pathLst>
                <a:path h="27940" w="956310">
                  <a:moveTo>
                    <a:pt x="0" y="27940"/>
                  </a:moveTo>
                  <a:lnTo>
                    <a:pt x="956310" y="27940"/>
                  </a:lnTo>
                  <a:lnTo>
                    <a:pt x="956310" y="0"/>
                  </a:lnTo>
                  <a:lnTo>
                    <a:pt x="0" y="0"/>
                  </a:lnTo>
                  <a:lnTo>
                    <a:pt x="0" y="27940"/>
                  </a:ln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63500" y="586359"/>
              <a:ext cx="239268" cy="243840"/>
            </a:xfrm>
            <a:custGeom>
              <a:avLst/>
              <a:gdLst/>
              <a:ahLst/>
              <a:cxnLst/>
              <a:rect r="r" b="b" t="t" l="l"/>
              <a:pathLst>
                <a:path h="243840" w="239268">
                  <a:moveTo>
                    <a:pt x="117348" y="45212"/>
                  </a:moveTo>
                  <a:cubicBezTo>
                    <a:pt x="159766" y="45212"/>
                    <a:pt x="194183" y="79629"/>
                    <a:pt x="194183" y="122047"/>
                  </a:cubicBezTo>
                  <a:cubicBezTo>
                    <a:pt x="194183" y="164465"/>
                    <a:pt x="159766" y="198882"/>
                    <a:pt x="117348" y="198882"/>
                  </a:cubicBezTo>
                  <a:cubicBezTo>
                    <a:pt x="74930" y="198882"/>
                    <a:pt x="40513" y="164465"/>
                    <a:pt x="40513" y="122047"/>
                  </a:cubicBezTo>
                  <a:cubicBezTo>
                    <a:pt x="40513" y="79629"/>
                    <a:pt x="74930" y="45212"/>
                    <a:pt x="117348" y="45212"/>
                  </a:cubicBezTo>
                  <a:close/>
                  <a:moveTo>
                    <a:pt x="117348" y="127"/>
                  </a:moveTo>
                  <a:cubicBezTo>
                    <a:pt x="61468" y="127"/>
                    <a:pt x="14478" y="37719"/>
                    <a:pt x="0" y="88900"/>
                  </a:cubicBezTo>
                  <a:lnTo>
                    <a:pt x="0" y="88900"/>
                  </a:lnTo>
                  <a:lnTo>
                    <a:pt x="0" y="155067"/>
                  </a:lnTo>
                  <a:cubicBezTo>
                    <a:pt x="14478" y="206248"/>
                    <a:pt x="61468" y="243840"/>
                    <a:pt x="117348" y="243840"/>
                  </a:cubicBezTo>
                  <a:cubicBezTo>
                    <a:pt x="184658" y="243840"/>
                    <a:pt x="239268" y="189230"/>
                    <a:pt x="239268" y="121920"/>
                  </a:cubicBezTo>
                  <a:cubicBezTo>
                    <a:pt x="239268" y="54610"/>
                    <a:pt x="184658" y="0"/>
                    <a:pt x="117348" y="0"/>
                  </a:cubicBezTo>
                  <a:close/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930783" y="1410716"/>
              <a:ext cx="243840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40">
                  <a:moveTo>
                    <a:pt x="121920" y="198755"/>
                  </a:moveTo>
                  <a:cubicBezTo>
                    <a:pt x="164338" y="198755"/>
                    <a:pt x="198755" y="164338"/>
                    <a:pt x="198755" y="121920"/>
                  </a:cubicBezTo>
                  <a:cubicBezTo>
                    <a:pt x="198755" y="79502"/>
                    <a:pt x="164338" y="45085"/>
                    <a:pt x="121920" y="45085"/>
                  </a:cubicBezTo>
                  <a:cubicBezTo>
                    <a:pt x="79502" y="45085"/>
                    <a:pt x="45085" y="79502"/>
                    <a:pt x="45085" y="121920"/>
                  </a:cubicBezTo>
                  <a:cubicBezTo>
                    <a:pt x="45085" y="164338"/>
                    <a:pt x="79502" y="198755"/>
                    <a:pt x="121920" y="198755"/>
                  </a:cubicBezTo>
                  <a:close/>
                  <a:moveTo>
                    <a:pt x="121920" y="0"/>
                  </a:moveTo>
                  <a:cubicBezTo>
                    <a:pt x="189230" y="0"/>
                    <a:pt x="243840" y="54610"/>
                    <a:pt x="243840" y="121920"/>
                  </a:cubicBezTo>
                  <a:cubicBezTo>
                    <a:pt x="243840" y="189230"/>
                    <a:pt x="189230" y="243840"/>
                    <a:pt x="121920" y="243840"/>
                  </a:cubicBezTo>
                  <a:cubicBezTo>
                    <a:pt x="54610" y="243840"/>
                    <a:pt x="0" y="189230"/>
                    <a:pt x="0" y="121920"/>
                  </a:cubicBezTo>
                  <a:cubicBezTo>
                    <a:pt x="0" y="54610"/>
                    <a:pt x="54610" y="0"/>
                    <a:pt x="121920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3491484" y="1307211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0"/>
                  </a:moveTo>
                  <a:cubicBezTo>
                    <a:pt x="130429" y="0"/>
                    <a:pt x="168148" y="37592"/>
                    <a:pt x="168148" y="84074"/>
                  </a:cubicBezTo>
                  <a:cubicBezTo>
                    <a:pt x="168148" y="130556"/>
                    <a:pt x="130556" y="168148"/>
                    <a:pt x="84074" y="168148"/>
                  </a:cubicBezTo>
                  <a:cubicBezTo>
                    <a:pt x="37592" y="168148"/>
                    <a:pt x="0" y="130556"/>
                    <a:pt x="0" y="84074"/>
                  </a:cubicBezTo>
                  <a:cubicBezTo>
                    <a:pt x="0" y="37592"/>
                    <a:pt x="37592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202311" y="1148461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0"/>
                  </a:moveTo>
                  <a:cubicBezTo>
                    <a:pt x="130429" y="0"/>
                    <a:pt x="168148" y="37592"/>
                    <a:pt x="168148" y="84074"/>
                  </a:cubicBezTo>
                  <a:cubicBezTo>
                    <a:pt x="168148" y="130556"/>
                    <a:pt x="130556" y="168148"/>
                    <a:pt x="84074" y="168148"/>
                  </a:cubicBezTo>
                  <a:cubicBezTo>
                    <a:pt x="37592" y="168148"/>
                    <a:pt x="0" y="130556"/>
                    <a:pt x="0" y="84074"/>
                  </a:cubicBezTo>
                  <a:cubicBezTo>
                    <a:pt x="0" y="37592"/>
                    <a:pt x="37592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1006475" y="342646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0"/>
                  </a:moveTo>
                  <a:cubicBezTo>
                    <a:pt x="130429" y="0"/>
                    <a:pt x="168148" y="37592"/>
                    <a:pt x="168148" y="84074"/>
                  </a:cubicBezTo>
                  <a:cubicBezTo>
                    <a:pt x="168148" y="130556"/>
                    <a:pt x="130556" y="168148"/>
                    <a:pt x="84074" y="168148"/>
                  </a:cubicBezTo>
                  <a:cubicBezTo>
                    <a:pt x="37592" y="168148"/>
                    <a:pt x="0" y="130556"/>
                    <a:pt x="0" y="84074"/>
                  </a:cubicBezTo>
                  <a:cubicBezTo>
                    <a:pt x="0" y="37592"/>
                    <a:pt x="37592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1489583" y="960120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137033"/>
                  </a:moveTo>
                  <a:cubicBezTo>
                    <a:pt x="113411" y="137033"/>
                    <a:pt x="137033" y="113284"/>
                    <a:pt x="137033" y="84074"/>
                  </a:cubicBezTo>
                  <a:cubicBezTo>
                    <a:pt x="137033" y="54864"/>
                    <a:pt x="113284" y="31115"/>
                    <a:pt x="84074" y="31115"/>
                  </a:cubicBezTo>
                  <a:cubicBezTo>
                    <a:pt x="54864" y="31115"/>
                    <a:pt x="31115" y="54864"/>
                    <a:pt x="31115" y="84074"/>
                  </a:cubicBezTo>
                  <a:cubicBezTo>
                    <a:pt x="31115" y="113284"/>
                    <a:pt x="54864" y="137033"/>
                    <a:pt x="84074" y="137033"/>
                  </a:cubicBezTo>
                  <a:close/>
                  <a:moveTo>
                    <a:pt x="84074" y="0"/>
                  </a:moveTo>
                  <a:cubicBezTo>
                    <a:pt x="130556" y="0"/>
                    <a:pt x="168148" y="37592"/>
                    <a:pt x="168148" y="84074"/>
                  </a:cubicBezTo>
                  <a:cubicBezTo>
                    <a:pt x="168148" y="130556"/>
                    <a:pt x="130556" y="168148"/>
                    <a:pt x="84074" y="168148"/>
                  </a:cubicBezTo>
                  <a:cubicBezTo>
                    <a:pt x="37592" y="168148"/>
                    <a:pt x="0" y="130556"/>
                    <a:pt x="0" y="84074"/>
                  </a:cubicBezTo>
                  <a:cubicBezTo>
                    <a:pt x="0" y="37592"/>
                    <a:pt x="37592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3343021" y="395605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137033"/>
                  </a:moveTo>
                  <a:cubicBezTo>
                    <a:pt x="113284" y="137033"/>
                    <a:pt x="137033" y="113284"/>
                    <a:pt x="137033" y="84074"/>
                  </a:cubicBezTo>
                  <a:cubicBezTo>
                    <a:pt x="137033" y="54864"/>
                    <a:pt x="113284" y="31115"/>
                    <a:pt x="84074" y="31115"/>
                  </a:cubicBezTo>
                  <a:cubicBezTo>
                    <a:pt x="54864" y="31115"/>
                    <a:pt x="31115" y="54864"/>
                    <a:pt x="31115" y="84074"/>
                  </a:cubicBezTo>
                  <a:cubicBezTo>
                    <a:pt x="31115" y="113284"/>
                    <a:pt x="54864" y="137033"/>
                    <a:pt x="84074" y="137033"/>
                  </a:cubicBezTo>
                  <a:close/>
                  <a:moveTo>
                    <a:pt x="84074" y="0"/>
                  </a:moveTo>
                  <a:cubicBezTo>
                    <a:pt x="130429" y="0"/>
                    <a:pt x="168148" y="37592"/>
                    <a:pt x="168148" y="84074"/>
                  </a:cubicBezTo>
                  <a:cubicBezTo>
                    <a:pt x="168148" y="130556"/>
                    <a:pt x="130556" y="168148"/>
                    <a:pt x="84074" y="168148"/>
                  </a:cubicBezTo>
                  <a:cubicBezTo>
                    <a:pt x="37592" y="168148"/>
                    <a:pt x="0" y="130556"/>
                    <a:pt x="0" y="84074"/>
                  </a:cubicBezTo>
                  <a:cubicBezTo>
                    <a:pt x="0" y="37592"/>
                    <a:pt x="37592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286385" y="63500"/>
              <a:ext cx="4172458" cy="2045716"/>
            </a:xfrm>
            <a:custGeom>
              <a:avLst/>
              <a:gdLst/>
              <a:ahLst/>
              <a:cxnLst/>
              <a:rect r="r" b="b" t="t" l="l"/>
              <a:pathLst>
                <a:path h="2045716" w="4172458">
                  <a:moveTo>
                    <a:pt x="2886964" y="0"/>
                  </a:moveTo>
                  <a:lnTo>
                    <a:pt x="2531618" y="355346"/>
                  </a:lnTo>
                  <a:lnTo>
                    <a:pt x="862965" y="355346"/>
                  </a:lnTo>
                  <a:lnTo>
                    <a:pt x="862965" y="383286"/>
                  </a:lnTo>
                  <a:lnTo>
                    <a:pt x="2543175" y="383286"/>
                  </a:lnTo>
                  <a:lnTo>
                    <a:pt x="2926588" y="0"/>
                  </a:lnTo>
                  <a:close/>
                  <a:moveTo>
                    <a:pt x="3202051" y="398399"/>
                  </a:moveTo>
                  <a:lnTo>
                    <a:pt x="3202051" y="440309"/>
                  </a:lnTo>
                  <a:lnTo>
                    <a:pt x="4172458" y="440309"/>
                  </a:lnTo>
                  <a:lnTo>
                    <a:pt x="4172458" y="398399"/>
                  </a:lnTo>
                  <a:close/>
                  <a:moveTo>
                    <a:pt x="0" y="625856"/>
                  </a:moveTo>
                  <a:lnTo>
                    <a:pt x="0" y="667766"/>
                  </a:lnTo>
                  <a:lnTo>
                    <a:pt x="1765681" y="667766"/>
                  </a:lnTo>
                  <a:lnTo>
                    <a:pt x="2064258" y="966343"/>
                  </a:lnTo>
                  <a:lnTo>
                    <a:pt x="2629916" y="966343"/>
                  </a:lnTo>
                  <a:lnTo>
                    <a:pt x="2880106" y="716153"/>
                  </a:lnTo>
                  <a:lnTo>
                    <a:pt x="4172458" y="716153"/>
                  </a:lnTo>
                  <a:lnTo>
                    <a:pt x="4172458" y="674243"/>
                  </a:lnTo>
                  <a:lnTo>
                    <a:pt x="2862707" y="674243"/>
                  </a:lnTo>
                  <a:lnTo>
                    <a:pt x="2612517" y="924433"/>
                  </a:lnTo>
                  <a:lnTo>
                    <a:pt x="2081657" y="924433"/>
                  </a:lnTo>
                  <a:lnTo>
                    <a:pt x="1783207" y="625856"/>
                  </a:lnTo>
                  <a:close/>
                  <a:moveTo>
                    <a:pt x="3196336" y="973963"/>
                  </a:moveTo>
                  <a:lnTo>
                    <a:pt x="3192272" y="978027"/>
                  </a:lnTo>
                  <a:lnTo>
                    <a:pt x="2879217" y="1291082"/>
                  </a:lnTo>
                  <a:lnTo>
                    <a:pt x="1610868" y="1291082"/>
                  </a:lnTo>
                  <a:lnTo>
                    <a:pt x="1350010" y="1030351"/>
                  </a:lnTo>
                  <a:lnTo>
                    <a:pt x="1330198" y="1050163"/>
                  </a:lnTo>
                  <a:lnTo>
                    <a:pt x="1599184" y="1319149"/>
                  </a:lnTo>
                  <a:lnTo>
                    <a:pt x="2890774" y="1319149"/>
                  </a:lnTo>
                  <a:lnTo>
                    <a:pt x="2894838" y="1315085"/>
                  </a:lnTo>
                  <a:lnTo>
                    <a:pt x="3207893" y="1002030"/>
                  </a:lnTo>
                  <a:lnTo>
                    <a:pt x="4172458" y="1002030"/>
                  </a:lnTo>
                  <a:lnTo>
                    <a:pt x="4172458" y="974090"/>
                  </a:lnTo>
                  <a:close/>
                  <a:moveTo>
                    <a:pt x="3363468" y="1315339"/>
                  </a:moveTo>
                  <a:lnTo>
                    <a:pt x="3363468" y="1343279"/>
                  </a:lnTo>
                  <a:lnTo>
                    <a:pt x="4172458" y="1343279"/>
                  </a:lnTo>
                  <a:lnTo>
                    <a:pt x="4172458" y="1315339"/>
                  </a:lnTo>
                  <a:close/>
                  <a:moveTo>
                    <a:pt x="862965" y="1450721"/>
                  </a:moveTo>
                  <a:lnTo>
                    <a:pt x="862965" y="1492631"/>
                  </a:lnTo>
                  <a:lnTo>
                    <a:pt x="2528824" y="1492631"/>
                  </a:lnTo>
                  <a:lnTo>
                    <a:pt x="2935351" y="1899158"/>
                  </a:lnTo>
                  <a:lnTo>
                    <a:pt x="4025773" y="1899158"/>
                  </a:lnTo>
                  <a:lnTo>
                    <a:pt x="4172458" y="2045716"/>
                  </a:lnTo>
                  <a:lnTo>
                    <a:pt x="4172458" y="1986407"/>
                  </a:lnTo>
                  <a:lnTo>
                    <a:pt x="4043172" y="1857248"/>
                  </a:lnTo>
                  <a:lnTo>
                    <a:pt x="2952750" y="1857248"/>
                  </a:lnTo>
                  <a:lnTo>
                    <a:pt x="2546223" y="1450721"/>
                  </a:lnTo>
                  <a:close/>
                </a:path>
              </a:pathLst>
            </a:custGeom>
            <a:solidFill>
              <a:srgbClr val="C7D7F3"/>
            </a:solid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36181" y="1596974"/>
            <a:ext cx="16114031" cy="7947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1"/>
              </a:lnSpc>
              <a:spcBef>
                <a:spcPct val="0"/>
              </a:spcBef>
            </a:pPr>
            <a:r>
              <a:rPr lang="en-US" sz="20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Before modeling, we applied several key steps to prepare the data for analysis:</a:t>
            </a:r>
          </a:p>
          <a:p>
            <a:pPr algn="l">
              <a:lnSpc>
                <a:spcPts val="2911"/>
              </a:lnSpc>
              <a:spcBef>
                <a:spcPct val="0"/>
              </a:spcBef>
            </a:pPr>
          </a:p>
          <a:p>
            <a:pPr algn="l" marL="449071" indent="-224536" lvl="1">
              <a:lnSpc>
                <a:spcPts val="2911"/>
              </a:lnSpc>
              <a:spcBef>
                <a:spcPct val="0"/>
              </a:spcBef>
              <a:buFont typeface="Arial"/>
              <a:buChar char="•"/>
            </a:pPr>
            <a:r>
              <a:rPr lang="en-US" sz="20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Dropped Uninformative Columns:</a:t>
            </a:r>
          </a:p>
          <a:p>
            <a:pPr algn="l">
              <a:lnSpc>
                <a:spcPts val="2911"/>
              </a:lnSpc>
              <a:spcBef>
                <a:spcPct val="0"/>
              </a:spcBef>
            </a:pPr>
            <a:r>
              <a:rPr lang="en-US" sz="20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        </a:t>
            </a:r>
            <a:r>
              <a:rPr lang="en-US" sz="20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phone number: a unique identifier with no predictive value.</a:t>
            </a:r>
          </a:p>
          <a:p>
            <a:pPr algn="l">
              <a:lnSpc>
                <a:spcPts val="2911"/>
              </a:lnSpc>
              <a:spcBef>
                <a:spcPct val="0"/>
              </a:spcBef>
            </a:pPr>
            <a:r>
              <a:rPr lang="en-US" sz="20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        state: high cardinality leading to model complexity and potential overfitting.</a:t>
            </a:r>
          </a:p>
          <a:p>
            <a:pPr algn="l">
              <a:lnSpc>
                <a:spcPts val="2911"/>
              </a:lnSpc>
              <a:spcBef>
                <a:spcPct val="0"/>
              </a:spcBef>
            </a:pPr>
            <a:r>
              <a:rPr lang="en-US" sz="20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        area_code: low correlation with churn and limited behavioral insight.</a:t>
            </a:r>
          </a:p>
          <a:p>
            <a:pPr algn="l">
              <a:lnSpc>
                <a:spcPts val="2911"/>
              </a:lnSpc>
              <a:spcBef>
                <a:spcPct val="0"/>
              </a:spcBef>
            </a:pPr>
          </a:p>
          <a:p>
            <a:pPr algn="l" marL="449071" indent="-224536" lvl="1">
              <a:lnSpc>
                <a:spcPts val="2911"/>
              </a:lnSpc>
              <a:spcBef>
                <a:spcPct val="0"/>
              </a:spcBef>
              <a:buFont typeface="Arial"/>
              <a:buChar char="•"/>
            </a:pPr>
            <a:r>
              <a:rPr lang="en-US" sz="20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Categorical Encoding:</a:t>
            </a:r>
          </a:p>
          <a:p>
            <a:pPr algn="l">
              <a:lnSpc>
                <a:spcPts val="2911"/>
              </a:lnSpc>
              <a:spcBef>
                <a:spcPct val="0"/>
              </a:spcBef>
            </a:pPr>
            <a:r>
              <a:rPr lang="en-US" sz="20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         </a:t>
            </a:r>
            <a:r>
              <a:rPr lang="en-US" sz="20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Converted international plan and voice mail plan from 'yes'/'no' to 1/0.</a:t>
            </a:r>
          </a:p>
          <a:p>
            <a:pPr algn="l">
              <a:lnSpc>
                <a:spcPts val="2911"/>
              </a:lnSpc>
              <a:spcBef>
                <a:spcPct val="0"/>
              </a:spcBef>
            </a:pPr>
          </a:p>
          <a:p>
            <a:pPr algn="l" marL="449071" indent="-224536" lvl="1">
              <a:lnSpc>
                <a:spcPts val="2911"/>
              </a:lnSpc>
              <a:spcBef>
                <a:spcPct val="0"/>
              </a:spcBef>
              <a:buFont typeface="Arial"/>
              <a:buChar char="•"/>
            </a:pPr>
            <a:r>
              <a:rPr lang="en-US" sz="20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Target Variable Transformation:</a:t>
            </a:r>
          </a:p>
          <a:p>
            <a:pPr algn="l">
              <a:lnSpc>
                <a:spcPts val="2911"/>
              </a:lnSpc>
              <a:spcBef>
                <a:spcPct val="0"/>
              </a:spcBef>
            </a:pPr>
            <a:r>
              <a:rPr lang="en-US" sz="20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         </a:t>
            </a:r>
            <a:r>
              <a:rPr lang="en-US" sz="20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Encoded churn (True/False) to 1/0 using LabelEncoder.</a:t>
            </a:r>
          </a:p>
          <a:p>
            <a:pPr algn="l">
              <a:lnSpc>
                <a:spcPts val="2911"/>
              </a:lnSpc>
              <a:spcBef>
                <a:spcPct val="0"/>
              </a:spcBef>
            </a:pPr>
          </a:p>
          <a:p>
            <a:pPr algn="l" marL="449071" indent="-224536" lvl="1">
              <a:lnSpc>
                <a:spcPts val="2911"/>
              </a:lnSpc>
              <a:spcBef>
                <a:spcPct val="0"/>
              </a:spcBef>
              <a:buFont typeface="Arial"/>
              <a:buChar char="•"/>
            </a:pPr>
            <a:r>
              <a:rPr lang="en-US" sz="20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Column Name Standardization:</a:t>
            </a:r>
          </a:p>
          <a:p>
            <a:pPr algn="l">
              <a:lnSpc>
                <a:spcPts val="2911"/>
              </a:lnSpc>
              <a:spcBef>
                <a:spcPct val="0"/>
              </a:spcBef>
            </a:pPr>
            <a:r>
              <a:rPr lang="en-US" sz="20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          </a:t>
            </a:r>
            <a:r>
              <a:rPr lang="en-US" sz="20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Lowercased all names.</a:t>
            </a:r>
          </a:p>
          <a:p>
            <a:pPr algn="l">
              <a:lnSpc>
                <a:spcPts val="2911"/>
              </a:lnSpc>
              <a:spcBef>
                <a:spcPct val="0"/>
              </a:spcBef>
            </a:pPr>
            <a:r>
              <a:rPr lang="en-US" sz="20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          Trimmed whitespaces.</a:t>
            </a:r>
          </a:p>
          <a:p>
            <a:pPr algn="l">
              <a:lnSpc>
                <a:spcPts val="2911"/>
              </a:lnSpc>
              <a:spcBef>
                <a:spcPct val="0"/>
              </a:spcBef>
            </a:pPr>
            <a:r>
              <a:rPr lang="en-US" sz="20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          Replaced spaces with underscores.</a:t>
            </a:r>
          </a:p>
          <a:p>
            <a:pPr algn="l">
              <a:lnSpc>
                <a:spcPts val="2911"/>
              </a:lnSpc>
              <a:spcBef>
                <a:spcPct val="0"/>
              </a:spcBef>
            </a:pPr>
          </a:p>
          <a:p>
            <a:pPr algn="l" marL="449071" indent="-224536" lvl="1">
              <a:lnSpc>
                <a:spcPts val="2911"/>
              </a:lnSpc>
              <a:spcBef>
                <a:spcPct val="0"/>
              </a:spcBef>
              <a:buFont typeface="Arial"/>
              <a:buChar char="•"/>
            </a:pPr>
            <a:r>
              <a:rPr lang="en-US" sz="20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Final Dataset:</a:t>
            </a:r>
          </a:p>
          <a:p>
            <a:pPr algn="l">
              <a:lnSpc>
                <a:spcPts val="2911"/>
              </a:lnSpc>
              <a:spcBef>
                <a:spcPct val="0"/>
              </a:spcBef>
            </a:pPr>
            <a:r>
              <a:rPr lang="en-US" sz="20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          </a:t>
            </a:r>
            <a:r>
              <a:rPr lang="en-US" sz="20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3,333 rows, 20 features.</a:t>
            </a:r>
          </a:p>
          <a:p>
            <a:pPr algn="l">
              <a:lnSpc>
                <a:spcPts val="2911"/>
              </a:lnSpc>
              <a:spcBef>
                <a:spcPct val="0"/>
              </a:spcBef>
            </a:pPr>
            <a:r>
              <a:rPr lang="en-US" sz="20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          No missing or duplicate values.</a:t>
            </a:r>
          </a:p>
          <a:p>
            <a:pPr algn="l">
              <a:lnSpc>
                <a:spcPts val="2911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0" y="848949"/>
            <a:ext cx="7437205" cy="5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CLEANING &amp; PREPARATION</a:t>
            </a:r>
          </a:p>
        </p:txBody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1515006" y="3554924"/>
            <a:ext cx="5543064" cy="5543064"/>
            <a:chOff x="0" y="0"/>
            <a:chExt cx="14840029" cy="1484002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-366471" y="-11891"/>
              <a:ext cx="15572971" cy="14863810"/>
            </a:xfrm>
            <a:custGeom>
              <a:avLst/>
              <a:gdLst/>
              <a:ahLst/>
              <a:cxnLst/>
              <a:rect r="r" b="b" t="t" l="l"/>
              <a:pathLst>
                <a:path h="14863810" w="15572971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547692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-156193" y="188812"/>
              <a:ext cx="15152415" cy="14462405"/>
            </a:xfrm>
            <a:custGeom>
              <a:avLst/>
              <a:gdLst/>
              <a:ahLst/>
              <a:cxnLst/>
              <a:rect r="r" b="b" t="t" l="l"/>
              <a:pathLst>
                <a:path h="14462405" w="1515241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223301" y="551024"/>
              <a:ext cx="14393427" cy="13737979"/>
            </a:xfrm>
            <a:custGeom>
              <a:avLst/>
              <a:gdLst/>
              <a:ahLst/>
              <a:cxnLst/>
              <a:rect r="r" b="b" t="t" l="l"/>
              <a:pathLst>
                <a:path h="13737979" w="14393427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3"/>
              <a:stretch>
                <a:fillRect l="-48954" t="0" r="-647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0799340" y="4258206"/>
            <a:ext cx="1980690" cy="198069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47692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12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-1118110" y="9601200"/>
            <a:ext cx="19022613" cy="4006046"/>
            <a:chOff x="0" y="0"/>
            <a:chExt cx="5010071" cy="105509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010071" cy="1055090"/>
            </a:xfrm>
            <a:custGeom>
              <a:avLst/>
              <a:gdLst/>
              <a:ahLst/>
              <a:cxnLst/>
              <a:rect r="r" b="b" t="t" l="l"/>
              <a:pathLst>
                <a:path h="1055090" w="5010071">
                  <a:moveTo>
                    <a:pt x="0" y="0"/>
                  </a:moveTo>
                  <a:lnTo>
                    <a:pt x="5010071" y="0"/>
                  </a:lnTo>
                  <a:lnTo>
                    <a:pt x="5010071" y="1055090"/>
                  </a:lnTo>
                  <a:lnTo>
                    <a:pt x="0" y="1055090"/>
                  </a:lnTo>
                  <a:close/>
                </a:path>
              </a:pathLst>
            </a:custGeom>
            <a:gradFill rotWithShape="true">
              <a:gsLst>
                <a:gs pos="0">
                  <a:srgbClr val="114168">
                    <a:alpha val="100000"/>
                  </a:srgbClr>
                </a:gs>
                <a:gs pos="100000">
                  <a:srgbClr val="09023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5010071" cy="10931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12"/>
                </a:lnSpc>
              </a:pPr>
            </a:p>
          </p:txBody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-63503" y="-53978"/>
            <a:ext cx="4070071" cy="1843954"/>
            <a:chOff x="0" y="0"/>
            <a:chExt cx="4070071" cy="184395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2902966" y="294513"/>
              <a:ext cx="956310" cy="27940"/>
            </a:xfrm>
            <a:custGeom>
              <a:avLst/>
              <a:gdLst/>
              <a:ahLst/>
              <a:cxnLst/>
              <a:rect r="r" b="b" t="t" l="l"/>
              <a:pathLst>
                <a:path h="27940" w="956310">
                  <a:moveTo>
                    <a:pt x="956310" y="27940"/>
                  </a:moveTo>
                  <a:lnTo>
                    <a:pt x="0" y="27940"/>
                  </a:lnTo>
                  <a:lnTo>
                    <a:pt x="0" y="0"/>
                  </a:lnTo>
                  <a:lnTo>
                    <a:pt x="956310" y="0"/>
                  </a:lnTo>
                  <a:lnTo>
                    <a:pt x="956310" y="27940"/>
                  </a:ln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3034157" y="486791"/>
              <a:ext cx="243840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40">
                  <a:moveTo>
                    <a:pt x="121920" y="198755"/>
                  </a:moveTo>
                  <a:cubicBezTo>
                    <a:pt x="79502" y="198755"/>
                    <a:pt x="45085" y="164338"/>
                    <a:pt x="45085" y="121920"/>
                  </a:cubicBezTo>
                  <a:cubicBezTo>
                    <a:pt x="45085" y="79502"/>
                    <a:pt x="79502" y="45085"/>
                    <a:pt x="121920" y="45085"/>
                  </a:cubicBezTo>
                  <a:cubicBezTo>
                    <a:pt x="164338" y="45085"/>
                    <a:pt x="198755" y="79502"/>
                    <a:pt x="198755" y="121920"/>
                  </a:cubicBezTo>
                  <a:cubicBezTo>
                    <a:pt x="198755" y="164338"/>
                    <a:pt x="164338" y="198755"/>
                    <a:pt x="121920" y="198755"/>
                  </a:cubicBezTo>
                  <a:close/>
                  <a:moveTo>
                    <a:pt x="121920" y="0"/>
                  </a:moveTo>
                  <a:cubicBezTo>
                    <a:pt x="54610" y="0"/>
                    <a:pt x="0" y="54610"/>
                    <a:pt x="0" y="121920"/>
                  </a:cubicBezTo>
                  <a:cubicBezTo>
                    <a:pt x="0" y="189230"/>
                    <a:pt x="54610" y="243840"/>
                    <a:pt x="121920" y="243840"/>
                  </a:cubicBezTo>
                  <a:cubicBezTo>
                    <a:pt x="189230" y="243840"/>
                    <a:pt x="243840" y="189230"/>
                    <a:pt x="243840" y="121920"/>
                  </a:cubicBezTo>
                  <a:cubicBezTo>
                    <a:pt x="243840" y="54610"/>
                    <a:pt x="189230" y="0"/>
                    <a:pt x="121920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549275" y="383286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0"/>
                  </a:moveTo>
                  <a:cubicBezTo>
                    <a:pt x="37719" y="0"/>
                    <a:pt x="0" y="37592"/>
                    <a:pt x="0" y="84074"/>
                  </a:cubicBezTo>
                  <a:cubicBezTo>
                    <a:pt x="0" y="130556"/>
                    <a:pt x="37592" y="168148"/>
                    <a:pt x="84074" y="168148"/>
                  </a:cubicBezTo>
                  <a:cubicBezTo>
                    <a:pt x="130556" y="168148"/>
                    <a:pt x="168148" y="130556"/>
                    <a:pt x="168148" y="84074"/>
                  </a:cubicBezTo>
                  <a:cubicBezTo>
                    <a:pt x="168148" y="37592"/>
                    <a:pt x="130556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3838448" y="224536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0"/>
                  </a:moveTo>
                  <a:cubicBezTo>
                    <a:pt x="37719" y="0"/>
                    <a:pt x="0" y="37592"/>
                    <a:pt x="0" y="84074"/>
                  </a:cubicBezTo>
                  <a:cubicBezTo>
                    <a:pt x="0" y="130556"/>
                    <a:pt x="37592" y="168148"/>
                    <a:pt x="84074" y="168148"/>
                  </a:cubicBezTo>
                  <a:cubicBezTo>
                    <a:pt x="130556" y="168148"/>
                    <a:pt x="168148" y="130556"/>
                    <a:pt x="168148" y="84074"/>
                  </a:cubicBezTo>
                  <a:cubicBezTo>
                    <a:pt x="168148" y="37592"/>
                    <a:pt x="130556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2551049" y="63500"/>
              <a:ext cx="168148" cy="140843"/>
            </a:xfrm>
            <a:custGeom>
              <a:avLst/>
              <a:gdLst/>
              <a:ahLst/>
              <a:cxnLst/>
              <a:rect r="r" b="b" t="t" l="l"/>
              <a:pathLst>
                <a:path h="140843" w="168148">
                  <a:moveTo>
                    <a:pt x="84074" y="3810"/>
                  </a:moveTo>
                  <a:cubicBezTo>
                    <a:pt x="113284" y="3810"/>
                    <a:pt x="137033" y="27559"/>
                    <a:pt x="137033" y="56769"/>
                  </a:cubicBezTo>
                  <a:cubicBezTo>
                    <a:pt x="137033" y="85979"/>
                    <a:pt x="113284" y="109728"/>
                    <a:pt x="84074" y="109728"/>
                  </a:cubicBezTo>
                  <a:cubicBezTo>
                    <a:pt x="54864" y="109728"/>
                    <a:pt x="31115" y="85979"/>
                    <a:pt x="31115" y="56769"/>
                  </a:cubicBezTo>
                  <a:cubicBezTo>
                    <a:pt x="31115" y="27559"/>
                    <a:pt x="54864" y="3810"/>
                    <a:pt x="84074" y="3810"/>
                  </a:cubicBezTo>
                  <a:close/>
                  <a:moveTo>
                    <a:pt x="22098" y="0"/>
                  </a:moveTo>
                  <a:cubicBezTo>
                    <a:pt x="8382" y="14986"/>
                    <a:pt x="0" y="34925"/>
                    <a:pt x="0" y="56769"/>
                  </a:cubicBezTo>
                  <a:cubicBezTo>
                    <a:pt x="0" y="103251"/>
                    <a:pt x="37592" y="140843"/>
                    <a:pt x="84074" y="140843"/>
                  </a:cubicBezTo>
                  <a:cubicBezTo>
                    <a:pt x="130556" y="140843"/>
                    <a:pt x="168148" y="103251"/>
                    <a:pt x="168148" y="56769"/>
                  </a:cubicBezTo>
                  <a:cubicBezTo>
                    <a:pt x="168148" y="34925"/>
                    <a:pt x="159766" y="14986"/>
                    <a:pt x="146050" y="0"/>
                  </a:cubicBezTo>
                  <a:close/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63500" y="63500"/>
              <a:ext cx="2995930" cy="975360"/>
            </a:xfrm>
            <a:custGeom>
              <a:avLst/>
              <a:gdLst/>
              <a:ahLst/>
              <a:cxnLst/>
              <a:rect r="r" b="b" t="t" l="l"/>
              <a:pathLst>
                <a:path h="975360" w="2995930">
                  <a:moveTo>
                    <a:pt x="1186561" y="0"/>
                  </a:moveTo>
                  <a:lnTo>
                    <a:pt x="1228979" y="42418"/>
                  </a:lnTo>
                  <a:lnTo>
                    <a:pt x="1794637" y="42418"/>
                  </a:lnTo>
                  <a:lnTo>
                    <a:pt x="1837182" y="0"/>
                  </a:lnTo>
                  <a:lnTo>
                    <a:pt x="1777873" y="0"/>
                  </a:lnTo>
                  <a:lnTo>
                    <a:pt x="1777365" y="508"/>
                  </a:lnTo>
                  <a:lnTo>
                    <a:pt x="1246378" y="508"/>
                  </a:lnTo>
                  <a:lnTo>
                    <a:pt x="1245870" y="0"/>
                  </a:lnTo>
                  <a:close/>
                  <a:moveTo>
                    <a:pt x="0" y="50038"/>
                  </a:moveTo>
                  <a:lnTo>
                    <a:pt x="0" y="77978"/>
                  </a:lnTo>
                  <a:lnTo>
                    <a:pt x="651002" y="77978"/>
                  </a:lnTo>
                  <a:lnTo>
                    <a:pt x="964057" y="391160"/>
                  </a:lnTo>
                  <a:lnTo>
                    <a:pt x="968121" y="395224"/>
                  </a:lnTo>
                  <a:lnTo>
                    <a:pt x="2259711" y="395224"/>
                  </a:lnTo>
                  <a:lnTo>
                    <a:pt x="2528697" y="126238"/>
                  </a:lnTo>
                  <a:lnTo>
                    <a:pt x="2508885" y="106426"/>
                  </a:lnTo>
                  <a:lnTo>
                    <a:pt x="2248027" y="367284"/>
                  </a:lnTo>
                  <a:lnTo>
                    <a:pt x="979805" y="367284"/>
                  </a:lnTo>
                  <a:lnTo>
                    <a:pt x="666750" y="54229"/>
                  </a:lnTo>
                  <a:lnTo>
                    <a:pt x="662686" y="50165"/>
                  </a:lnTo>
                  <a:close/>
                  <a:moveTo>
                    <a:pt x="0" y="391541"/>
                  </a:moveTo>
                  <a:lnTo>
                    <a:pt x="0" y="419481"/>
                  </a:lnTo>
                  <a:lnTo>
                    <a:pt x="495554" y="419481"/>
                  </a:lnTo>
                  <a:lnTo>
                    <a:pt x="495554" y="391541"/>
                  </a:lnTo>
                  <a:close/>
                  <a:moveTo>
                    <a:pt x="1312799" y="526796"/>
                  </a:moveTo>
                  <a:lnTo>
                    <a:pt x="906272" y="933450"/>
                  </a:lnTo>
                  <a:lnTo>
                    <a:pt x="0" y="933450"/>
                  </a:lnTo>
                  <a:lnTo>
                    <a:pt x="0" y="975360"/>
                  </a:lnTo>
                  <a:lnTo>
                    <a:pt x="923671" y="975360"/>
                  </a:lnTo>
                  <a:lnTo>
                    <a:pt x="1330198" y="568833"/>
                  </a:lnTo>
                  <a:lnTo>
                    <a:pt x="2995930" y="568833"/>
                  </a:lnTo>
                  <a:lnTo>
                    <a:pt x="2995930" y="526923"/>
                  </a:lnTo>
                  <a:close/>
                </a:path>
              </a:pathLst>
            </a:custGeom>
            <a:solidFill>
              <a:srgbClr val="C7D7F3"/>
            </a:solidFill>
          </p:spPr>
        </p:sp>
      </p:grpSp>
      <p:grpSp>
        <p:nvGrpSpPr>
          <p:cNvPr name="Group 22" id="22"/>
          <p:cNvGrpSpPr>
            <a:grpSpLocks noChangeAspect="true"/>
          </p:cNvGrpSpPr>
          <p:nvPr/>
        </p:nvGrpSpPr>
        <p:grpSpPr>
          <a:xfrm rot="0">
            <a:off x="13829128" y="-63503"/>
            <a:ext cx="4522365" cy="2767879"/>
            <a:chOff x="0" y="0"/>
            <a:chExt cx="4522368" cy="276787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349631" y="1218438"/>
              <a:ext cx="956310" cy="27940"/>
            </a:xfrm>
            <a:custGeom>
              <a:avLst/>
              <a:gdLst/>
              <a:ahLst/>
              <a:cxnLst/>
              <a:rect r="r" b="b" t="t" l="l"/>
              <a:pathLst>
                <a:path h="27940" w="956310">
                  <a:moveTo>
                    <a:pt x="0" y="27940"/>
                  </a:moveTo>
                  <a:lnTo>
                    <a:pt x="956310" y="27940"/>
                  </a:lnTo>
                  <a:lnTo>
                    <a:pt x="956310" y="0"/>
                  </a:lnTo>
                  <a:lnTo>
                    <a:pt x="0" y="0"/>
                  </a:lnTo>
                  <a:lnTo>
                    <a:pt x="0" y="27940"/>
                  </a:ln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63500" y="586359"/>
              <a:ext cx="239268" cy="243840"/>
            </a:xfrm>
            <a:custGeom>
              <a:avLst/>
              <a:gdLst/>
              <a:ahLst/>
              <a:cxnLst/>
              <a:rect r="r" b="b" t="t" l="l"/>
              <a:pathLst>
                <a:path h="243840" w="239268">
                  <a:moveTo>
                    <a:pt x="117348" y="45212"/>
                  </a:moveTo>
                  <a:cubicBezTo>
                    <a:pt x="159766" y="45212"/>
                    <a:pt x="194183" y="79629"/>
                    <a:pt x="194183" y="122047"/>
                  </a:cubicBezTo>
                  <a:cubicBezTo>
                    <a:pt x="194183" y="164465"/>
                    <a:pt x="159766" y="198882"/>
                    <a:pt x="117348" y="198882"/>
                  </a:cubicBezTo>
                  <a:cubicBezTo>
                    <a:pt x="74930" y="198882"/>
                    <a:pt x="40513" y="164465"/>
                    <a:pt x="40513" y="122047"/>
                  </a:cubicBezTo>
                  <a:cubicBezTo>
                    <a:pt x="40513" y="79629"/>
                    <a:pt x="74930" y="45212"/>
                    <a:pt x="117348" y="45212"/>
                  </a:cubicBezTo>
                  <a:close/>
                  <a:moveTo>
                    <a:pt x="117348" y="127"/>
                  </a:moveTo>
                  <a:cubicBezTo>
                    <a:pt x="61468" y="127"/>
                    <a:pt x="14478" y="37719"/>
                    <a:pt x="0" y="88900"/>
                  </a:cubicBezTo>
                  <a:lnTo>
                    <a:pt x="0" y="88900"/>
                  </a:lnTo>
                  <a:lnTo>
                    <a:pt x="0" y="155067"/>
                  </a:lnTo>
                  <a:cubicBezTo>
                    <a:pt x="14478" y="206248"/>
                    <a:pt x="61468" y="243840"/>
                    <a:pt x="117348" y="243840"/>
                  </a:cubicBezTo>
                  <a:cubicBezTo>
                    <a:pt x="184658" y="243840"/>
                    <a:pt x="239268" y="189230"/>
                    <a:pt x="239268" y="121920"/>
                  </a:cubicBezTo>
                  <a:cubicBezTo>
                    <a:pt x="239268" y="54610"/>
                    <a:pt x="184658" y="0"/>
                    <a:pt x="117348" y="0"/>
                  </a:cubicBezTo>
                  <a:close/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930783" y="1410716"/>
              <a:ext cx="243840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40">
                  <a:moveTo>
                    <a:pt x="121920" y="198755"/>
                  </a:moveTo>
                  <a:cubicBezTo>
                    <a:pt x="164338" y="198755"/>
                    <a:pt x="198755" y="164338"/>
                    <a:pt x="198755" y="121920"/>
                  </a:cubicBezTo>
                  <a:cubicBezTo>
                    <a:pt x="198755" y="79502"/>
                    <a:pt x="164338" y="45085"/>
                    <a:pt x="121920" y="45085"/>
                  </a:cubicBezTo>
                  <a:cubicBezTo>
                    <a:pt x="79502" y="45085"/>
                    <a:pt x="45085" y="79502"/>
                    <a:pt x="45085" y="121920"/>
                  </a:cubicBezTo>
                  <a:cubicBezTo>
                    <a:pt x="45085" y="164338"/>
                    <a:pt x="79502" y="198755"/>
                    <a:pt x="121920" y="198755"/>
                  </a:cubicBezTo>
                  <a:close/>
                  <a:moveTo>
                    <a:pt x="121920" y="0"/>
                  </a:moveTo>
                  <a:cubicBezTo>
                    <a:pt x="189230" y="0"/>
                    <a:pt x="243840" y="54610"/>
                    <a:pt x="243840" y="121920"/>
                  </a:cubicBezTo>
                  <a:cubicBezTo>
                    <a:pt x="243840" y="189230"/>
                    <a:pt x="189230" y="243840"/>
                    <a:pt x="121920" y="243840"/>
                  </a:cubicBezTo>
                  <a:cubicBezTo>
                    <a:pt x="54610" y="243840"/>
                    <a:pt x="0" y="189230"/>
                    <a:pt x="0" y="121920"/>
                  </a:cubicBezTo>
                  <a:cubicBezTo>
                    <a:pt x="0" y="54610"/>
                    <a:pt x="54610" y="0"/>
                    <a:pt x="121920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3491484" y="1307211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0"/>
                  </a:moveTo>
                  <a:cubicBezTo>
                    <a:pt x="130429" y="0"/>
                    <a:pt x="168148" y="37592"/>
                    <a:pt x="168148" y="84074"/>
                  </a:cubicBezTo>
                  <a:cubicBezTo>
                    <a:pt x="168148" y="130556"/>
                    <a:pt x="130556" y="168148"/>
                    <a:pt x="84074" y="168148"/>
                  </a:cubicBezTo>
                  <a:cubicBezTo>
                    <a:pt x="37592" y="168148"/>
                    <a:pt x="0" y="130556"/>
                    <a:pt x="0" y="84074"/>
                  </a:cubicBezTo>
                  <a:cubicBezTo>
                    <a:pt x="0" y="37592"/>
                    <a:pt x="37592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202311" y="1148461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0"/>
                  </a:moveTo>
                  <a:cubicBezTo>
                    <a:pt x="130429" y="0"/>
                    <a:pt x="168148" y="37592"/>
                    <a:pt x="168148" y="84074"/>
                  </a:cubicBezTo>
                  <a:cubicBezTo>
                    <a:pt x="168148" y="130556"/>
                    <a:pt x="130556" y="168148"/>
                    <a:pt x="84074" y="168148"/>
                  </a:cubicBezTo>
                  <a:cubicBezTo>
                    <a:pt x="37592" y="168148"/>
                    <a:pt x="0" y="130556"/>
                    <a:pt x="0" y="84074"/>
                  </a:cubicBezTo>
                  <a:cubicBezTo>
                    <a:pt x="0" y="37592"/>
                    <a:pt x="37592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1006475" y="342646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0"/>
                  </a:moveTo>
                  <a:cubicBezTo>
                    <a:pt x="130429" y="0"/>
                    <a:pt x="168148" y="37592"/>
                    <a:pt x="168148" y="84074"/>
                  </a:cubicBezTo>
                  <a:cubicBezTo>
                    <a:pt x="168148" y="130556"/>
                    <a:pt x="130556" y="168148"/>
                    <a:pt x="84074" y="168148"/>
                  </a:cubicBezTo>
                  <a:cubicBezTo>
                    <a:pt x="37592" y="168148"/>
                    <a:pt x="0" y="130556"/>
                    <a:pt x="0" y="84074"/>
                  </a:cubicBezTo>
                  <a:cubicBezTo>
                    <a:pt x="0" y="37592"/>
                    <a:pt x="37592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1489583" y="960120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137033"/>
                  </a:moveTo>
                  <a:cubicBezTo>
                    <a:pt x="113411" y="137033"/>
                    <a:pt x="137033" y="113284"/>
                    <a:pt x="137033" y="84074"/>
                  </a:cubicBezTo>
                  <a:cubicBezTo>
                    <a:pt x="137033" y="54864"/>
                    <a:pt x="113284" y="31115"/>
                    <a:pt x="84074" y="31115"/>
                  </a:cubicBezTo>
                  <a:cubicBezTo>
                    <a:pt x="54864" y="31115"/>
                    <a:pt x="31115" y="54864"/>
                    <a:pt x="31115" y="84074"/>
                  </a:cubicBezTo>
                  <a:cubicBezTo>
                    <a:pt x="31115" y="113284"/>
                    <a:pt x="54864" y="137033"/>
                    <a:pt x="84074" y="137033"/>
                  </a:cubicBezTo>
                  <a:close/>
                  <a:moveTo>
                    <a:pt x="84074" y="0"/>
                  </a:moveTo>
                  <a:cubicBezTo>
                    <a:pt x="130556" y="0"/>
                    <a:pt x="168148" y="37592"/>
                    <a:pt x="168148" y="84074"/>
                  </a:cubicBezTo>
                  <a:cubicBezTo>
                    <a:pt x="168148" y="130556"/>
                    <a:pt x="130556" y="168148"/>
                    <a:pt x="84074" y="168148"/>
                  </a:cubicBezTo>
                  <a:cubicBezTo>
                    <a:pt x="37592" y="168148"/>
                    <a:pt x="0" y="130556"/>
                    <a:pt x="0" y="84074"/>
                  </a:cubicBezTo>
                  <a:cubicBezTo>
                    <a:pt x="0" y="37592"/>
                    <a:pt x="37592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3343021" y="395605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137033"/>
                  </a:moveTo>
                  <a:cubicBezTo>
                    <a:pt x="113284" y="137033"/>
                    <a:pt x="137033" y="113284"/>
                    <a:pt x="137033" y="84074"/>
                  </a:cubicBezTo>
                  <a:cubicBezTo>
                    <a:pt x="137033" y="54864"/>
                    <a:pt x="113284" y="31115"/>
                    <a:pt x="84074" y="31115"/>
                  </a:cubicBezTo>
                  <a:cubicBezTo>
                    <a:pt x="54864" y="31115"/>
                    <a:pt x="31115" y="54864"/>
                    <a:pt x="31115" y="84074"/>
                  </a:cubicBezTo>
                  <a:cubicBezTo>
                    <a:pt x="31115" y="113284"/>
                    <a:pt x="54864" y="137033"/>
                    <a:pt x="84074" y="137033"/>
                  </a:cubicBezTo>
                  <a:close/>
                  <a:moveTo>
                    <a:pt x="84074" y="0"/>
                  </a:moveTo>
                  <a:cubicBezTo>
                    <a:pt x="130429" y="0"/>
                    <a:pt x="168148" y="37592"/>
                    <a:pt x="168148" y="84074"/>
                  </a:cubicBezTo>
                  <a:cubicBezTo>
                    <a:pt x="168148" y="130556"/>
                    <a:pt x="130556" y="168148"/>
                    <a:pt x="84074" y="168148"/>
                  </a:cubicBezTo>
                  <a:cubicBezTo>
                    <a:pt x="37592" y="168148"/>
                    <a:pt x="0" y="130556"/>
                    <a:pt x="0" y="84074"/>
                  </a:cubicBezTo>
                  <a:cubicBezTo>
                    <a:pt x="0" y="37592"/>
                    <a:pt x="37592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286385" y="63500"/>
              <a:ext cx="4172458" cy="2045716"/>
            </a:xfrm>
            <a:custGeom>
              <a:avLst/>
              <a:gdLst/>
              <a:ahLst/>
              <a:cxnLst/>
              <a:rect r="r" b="b" t="t" l="l"/>
              <a:pathLst>
                <a:path h="2045716" w="4172458">
                  <a:moveTo>
                    <a:pt x="2886964" y="0"/>
                  </a:moveTo>
                  <a:lnTo>
                    <a:pt x="2531618" y="355346"/>
                  </a:lnTo>
                  <a:lnTo>
                    <a:pt x="862965" y="355346"/>
                  </a:lnTo>
                  <a:lnTo>
                    <a:pt x="862965" y="383286"/>
                  </a:lnTo>
                  <a:lnTo>
                    <a:pt x="2543175" y="383286"/>
                  </a:lnTo>
                  <a:lnTo>
                    <a:pt x="2926588" y="0"/>
                  </a:lnTo>
                  <a:close/>
                  <a:moveTo>
                    <a:pt x="3202051" y="398399"/>
                  </a:moveTo>
                  <a:lnTo>
                    <a:pt x="3202051" y="440309"/>
                  </a:lnTo>
                  <a:lnTo>
                    <a:pt x="4172458" y="440309"/>
                  </a:lnTo>
                  <a:lnTo>
                    <a:pt x="4172458" y="398399"/>
                  </a:lnTo>
                  <a:close/>
                  <a:moveTo>
                    <a:pt x="0" y="625856"/>
                  </a:moveTo>
                  <a:lnTo>
                    <a:pt x="0" y="667766"/>
                  </a:lnTo>
                  <a:lnTo>
                    <a:pt x="1765681" y="667766"/>
                  </a:lnTo>
                  <a:lnTo>
                    <a:pt x="2064258" y="966343"/>
                  </a:lnTo>
                  <a:lnTo>
                    <a:pt x="2629916" y="966343"/>
                  </a:lnTo>
                  <a:lnTo>
                    <a:pt x="2880106" y="716153"/>
                  </a:lnTo>
                  <a:lnTo>
                    <a:pt x="4172458" y="716153"/>
                  </a:lnTo>
                  <a:lnTo>
                    <a:pt x="4172458" y="674243"/>
                  </a:lnTo>
                  <a:lnTo>
                    <a:pt x="2862707" y="674243"/>
                  </a:lnTo>
                  <a:lnTo>
                    <a:pt x="2612517" y="924433"/>
                  </a:lnTo>
                  <a:lnTo>
                    <a:pt x="2081657" y="924433"/>
                  </a:lnTo>
                  <a:lnTo>
                    <a:pt x="1783207" y="625856"/>
                  </a:lnTo>
                  <a:close/>
                  <a:moveTo>
                    <a:pt x="3196336" y="973963"/>
                  </a:moveTo>
                  <a:lnTo>
                    <a:pt x="3192272" y="978027"/>
                  </a:lnTo>
                  <a:lnTo>
                    <a:pt x="2879217" y="1291082"/>
                  </a:lnTo>
                  <a:lnTo>
                    <a:pt x="1610868" y="1291082"/>
                  </a:lnTo>
                  <a:lnTo>
                    <a:pt x="1350010" y="1030351"/>
                  </a:lnTo>
                  <a:lnTo>
                    <a:pt x="1330198" y="1050163"/>
                  </a:lnTo>
                  <a:lnTo>
                    <a:pt x="1599184" y="1319149"/>
                  </a:lnTo>
                  <a:lnTo>
                    <a:pt x="2890774" y="1319149"/>
                  </a:lnTo>
                  <a:lnTo>
                    <a:pt x="2894838" y="1315085"/>
                  </a:lnTo>
                  <a:lnTo>
                    <a:pt x="3207893" y="1002030"/>
                  </a:lnTo>
                  <a:lnTo>
                    <a:pt x="4172458" y="1002030"/>
                  </a:lnTo>
                  <a:lnTo>
                    <a:pt x="4172458" y="974090"/>
                  </a:lnTo>
                  <a:close/>
                  <a:moveTo>
                    <a:pt x="3363468" y="1315339"/>
                  </a:moveTo>
                  <a:lnTo>
                    <a:pt x="3363468" y="1343279"/>
                  </a:lnTo>
                  <a:lnTo>
                    <a:pt x="4172458" y="1343279"/>
                  </a:lnTo>
                  <a:lnTo>
                    <a:pt x="4172458" y="1315339"/>
                  </a:lnTo>
                  <a:close/>
                  <a:moveTo>
                    <a:pt x="862965" y="1450721"/>
                  </a:moveTo>
                  <a:lnTo>
                    <a:pt x="862965" y="1492631"/>
                  </a:lnTo>
                  <a:lnTo>
                    <a:pt x="2528824" y="1492631"/>
                  </a:lnTo>
                  <a:lnTo>
                    <a:pt x="2935351" y="1899158"/>
                  </a:lnTo>
                  <a:lnTo>
                    <a:pt x="4025773" y="1899158"/>
                  </a:lnTo>
                  <a:lnTo>
                    <a:pt x="4172458" y="2045716"/>
                  </a:lnTo>
                  <a:lnTo>
                    <a:pt x="4172458" y="1986407"/>
                  </a:lnTo>
                  <a:lnTo>
                    <a:pt x="4043172" y="1857248"/>
                  </a:lnTo>
                  <a:lnTo>
                    <a:pt x="2952750" y="1857248"/>
                  </a:lnTo>
                  <a:lnTo>
                    <a:pt x="2546223" y="1450721"/>
                  </a:lnTo>
                  <a:close/>
                </a:path>
              </a:pathLst>
            </a:custGeom>
            <a:solidFill>
              <a:srgbClr val="C7D7F3"/>
            </a:solid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-63503" y="-63503"/>
            <a:ext cx="4357106" cy="1984210"/>
            <a:chOff x="0" y="0"/>
            <a:chExt cx="4357103" cy="19842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3189986" y="434848"/>
              <a:ext cx="956310" cy="27940"/>
            </a:xfrm>
            <a:custGeom>
              <a:avLst/>
              <a:gdLst/>
              <a:ahLst/>
              <a:cxnLst/>
              <a:rect r="r" b="b" t="t" l="l"/>
              <a:pathLst>
                <a:path h="27940" w="956310">
                  <a:moveTo>
                    <a:pt x="956310" y="27940"/>
                  </a:moveTo>
                  <a:lnTo>
                    <a:pt x="0" y="27940"/>
                  </a:lnTo>
                  <a:lnTo>
                    <a:pt x="0" y="0"/>
                  </a:lnTo>
                  <a:lnTo>
                    <a:pt x="956310" y="0"/>
                  </a:lnTo>
                  <a:lnTo>
                    <a:pt x="956310" y="27940"/>
                  </a:ln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3321177" y="626999"/>
              <a:ext cx="243840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40">
                  <a:moveTo>
                    <a:pt x="121920" y="198755"/>
                  </a:moveTo>
                  <a:cubicBezTo>
                    <a:pt x="79502" y="198755"/>
                    <a:pt x="45085" y="164338"/>
                    <a:pt x="45085" y="121920"/>
                  </a:cubicBezTo>
                  <a:cubicBezTo>
                    <a:pt x="45085" y="79502"/>
                    <a:pt x="79502" y="45085"/>
                    <a:pt x="121920" y="45085"/>
                  </a:cubicBezTo>
                  <a:cubicBezTo>
                    <a:pt x="164338" y="45085"/>
                    <a:pt x="198755" y="79502"/>
                    <a:pt x="198755" y="121920"/>
                  </a:cubicBezTo>
                  <a:cubicBezTo>
                    <a:pt x="198755" y="164338"/>
                    <a:pt x="164338" y="198755"/>
                    <a:pt x="121920" y="198755"/>
                  </a:cubicBezTo>
                  <a:close/>
                  <a:moveTo>
                    <a:pt x="121920" y="0"/>
                  </a:moveTo>
                  <a:cubicBezTo>
                    <a:pt x="54610" y="0"/>
                    <a:pt x="0" y="54610"/>
                    <a:pt x="0" y="121920"/>
                  </a:cubicBezTo>
                  <a:cubicBezTo>
                    <a:pt x="0" y="189230"/>
                    <a:pt x="54610" y="243840"/>
                    <a:pt x="121920" y="243840"/>
                  </a:cubicBezTo>
                  <a:cubicBezTo>
                    <a:pt x="189230" y="243840"/>
                    <a:pt x="243840" y="189230"/>
                    <a:pt x="243840" y="121920"/>
                  </a:cubicBezTo>
                  <a:cubicBezTo>
                    <a:pt x="243840" y="54610"/>
                    <a:pt x="189230" y="0"/>
                    <a:pt x="121920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836295" y="523621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0"/>
                  </a:moveTo>
                  <a:cubicBezTo>
                    <a:pt x="37719" y="0"/>
                    <a:pt x="0" y="37592"/>
                    <a:pt x="0" y="84074"/>
                  </a:cubicBezTo>
                  <a:cubicBezTo>
                    <a:pt x="0" y="130556"/>
                    <a:pt x="37592" y="168148"/>
                    <a:pt x="84074" y="168148"/>
                  </a:cubicBezTo>
                  <a:cubicBezTo>
                    <a:pt x="130556" y="168148"/>
                    <a:pt x="168148" y="130556"/>
                    <a:pt x="168148" y="84074"/>
                  </a:cubicBezTo>
                  <a:cubicBezTo>
                    <a:pt x="168148" y="37592"/>
                    <a:pt x="130556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4125468" y="364744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0"/>
                  </a:moveTo>
                  <a:cubicBezTo>
                    <a:pt x="37719" y="0"/>
                    <a:pt x="0" y="37592"/>
                    <a:pt x="0" y="84074"/>
                  </a:cubicBezTo>
                  <a:cubicBezTo>
                    <a:pt x="0" y="130556"/>
                    <a:pt x="37592" y="168148"/>
                    <a:pt x="84074" y="168148"/>
                  </a:cubicBezTo>
                  <a:cubicBezTo>
                    <a:pt x="130556" y="168148"/>
                    <a:pt x="168148" y="130556"/>
                    <a:pt x="168148" y="84074"/>
                  </a:cubicBezTo>
                  <a:cubicBezTo>
                    <a:pt x="168148" y="37592"/>
                    <a:pt x="130556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2838196" y="176530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137033"/>
                  </a:moveTo>
                  <a:cubicBezTo>
                    <a:pt x="54737" y="137033"/>
                    <a:pt x="31115" y="113284"/>
                    <a:pt x="31115" y="84074"/>
                  </a:cubicBezTo>
                  <a:cubicBezTo>
                    <a:pt x="31115" y="54864"/>
                    <a:pt x="54864" y="31115"/>
                    <a:pt x="84074" y="31115"/>
                  </a:cubicBezTo>
                  <a:cubicBezTo>
                    <a:pt x="113284" y="31115"/>
                    <a:pt x="137033" y="54864"/>
                    <a:pt x="137033" y="84074"/>
                  </a:cubicBezTo>
                  <a:cubicBezTo>
                    <a:pt x="137033" y="113284"/>
                    <a:pt x="113284" y="137033"/>
                    <a:pt x="84074" y="137033"/>
                  </a:cubicBezTo>
                  <a:close/>
                  <a:moveTo>
                    <a:pt x="84074" y="0"/>
                  </a:moveTo>
                  <a:cubicBezTo>
                    <a:pt x="37592" y="0"/>
                    <a:pt x="0" y="37592"/>
                    <a:pt x="0" y="84074"/>
                  </a:cubicBezTo>
                  <a:cubicBezTo>
                    <a:pt x="0" y="130556"/>
                    <a:pt x="37592" y="168148"/>
                    <a:pt x="84074" y="168148"/>
                  </a:cubicBezTo>
                  <a:cubicBezTo>
                    <a:pt x="130556" y="168148"/>
                    <a:pt x="168148" y="130556"/>
                    <a:pt x="168148" y="84074"/>
                  </a:cubicBezTo>
                  <a:cubicBezTo>
                    <a:pt x="168148" y="37592"/>
                    <a:pt x="130556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3500" y="63500"/>
              <a:ext cx="3282950" cy="1235710"/>
            </a:xfrm>
            <a:custGeom>
              <a:avLst/>
              <a:gdLst/>
              <a:ahLst/>
              <a:cxnLst/>
              <a:rect r="r" b="b" t="t" l="l"/>
              <a:pathLst>
                <a:path h="1235710" w="3282950">
                  <a:moveTo>
                    <a:pt x="1333373" y="0"/>
                  </a:moveTo>
                  <a:lnTo>
                    <a:pt x="1516126" y="182753"/>
                  </a:lnTo>
                  <a:lnTo>
                    <a:pt x="2081784" y="182753"/>
                  </a:lnTo>
                  <a:lnTo>
                    <a:pt x="2264537" y="0"/>
                  </a:lnTo>
                  <a:lnTo>
                    <a:pt x="2205228" y="0"/>
                  </a:lnTo>
                  <a:lnTo>
                    <a:pt x="2064385" y="140716"/>
                  </a:lnTo>
                  <a:lnTo>
                    <a:pt x="1533398" y="140716"/>
                  </a:lnTo>
                  <a:lnTo>
                    <a:pt x="1392682" y="0"/>
                  </a:lnTo>
                  <a:close/>
                  <a:moveTo>
                    <a:pt x="0" y="190373"/>
                  </a:moveTo>
                  <a:lnTo>
                    <a:pt x="0" y="218313"/>
                  </a:lnTo>
                  <a:lnTo>
                    <a:pt x="938149" y="218313"/>
                  </a:lnTo>
                  <a:lnTo>
                    <a:pt x="1251204" y="531368"/>
                  </a:lnTo>
                  <a:lnTo>
                    <a:pt x="1255268" y="535432"/>
                  </a:lnTo>
                  <a:lnTo>
                    <a:pt x="2546731" y="535432"/>
                  </a:lnTo>
                  <a:lnTo>
                    <a:pt x="2815717" y="266446"/>
                  </a:lnTo>
                  <a:lnTo>
                    <a:pt x="2795905" y="246634"/>
                  </a:lnTo>
                  <a:lnTo>
                    <a:pt x="2535047" y="507492"/>
                  </a:lnTo>
                  <a:lnTo>
                    <a:pt x="1266825" y="507492"/>
                  </a:lnTo>
                  <a:lnTo>
                    <a:pt x="953770" y="194437"/>
                  </a:lnTo>
                  <a:lnTo>
                    <a:pt x="949706" y="190373"/>
                  </a:lnTo>
                  <a:close/>
                  <a:moveTo>
                    <a:pt x="0" y="531749"/>
                  </a:moveTo>
                  <a:lnTo>
                    <a:pt x="0" y="559689"/>
                  </a:lnTo>
                  <a:lnTo>
                    <a:pt x="782574" y="559689"/>
                  </a:lnTo>
                  <a:lnTo>
                    <a:pt x="782574" y="531749"/>
                  </a:lnTo>
                  <a:close/>
                  <a:moveTo>
                    <a:pt x="1599819" y="667131"/>
                  </a:moveTo>
                  <a:lnTo>
                    <a:pt x="1193292" y="1073658"/>
                  </a:lnTo>
                  <a:lnTo>
                    <a:pt x="102870" y="1073658"/>
                  </a:lnTo>
                  <a:lnTo>
                    <a:pt x="0" y="1176401"/>
                  </a:lnTo>
                  <a:lnTo>
                    <a:pt x="0" y="1235710"/>
                  </a:lnTo>
                  <a:lnTo>
                    <a:pt x="120269" y="1115568"/>
                  </a:lnTo>
                  <a:lnTo>
                    <a:pt x="1210691" y="1115568"/>
                  </a:lnTo>
                  <a:lnTo>
                    <a:pt x="1617218" y="709041"/>
                  </a:lnTo>
                  <a:lnTo>
                    <a:pt x="3282950" y="709041"/>
                  </a:lnTo>
                  <a:lnTo>
                    <a:pt x="3282950" y="667131"/>
                  </a:lnTo>
                  <a:close/>
                </a:path>
              </a:pathLst>
            </a:custGeom>
            <a:solidFill>
              <a:srgbClr val="C7D7F3"/>
            </a:solidFill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13829128" y="-63503"/>
            <a:ext cx="4522365" cy="2767879"/>
            <a:chOff x="0" y="0"/>
            <a:chExt cx="4522368" cy="276787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349631" y="1218438"/>
              <a:ext cx="956310" cy="27940"/>
            </a:xfrm>
            <a:custGeom>
              <a:avLst/>
              <a:gdLst/>
              <a:ahLst/>
              <a:cxnLst/>
              <a:rect r="r" b="b" t="t" l="l"/>
              <a:pathLst>
                <a:path h="27940" w="956310">
                  <a:moveTo>
                    <a:pt x="0" y="27940"/>
                  </a:moveTo>
                  <a:lnTo>
                    <a:pt x="956310" y="27940"/>
                  </a:lnTo>
                  <a:lnTo>
                    <a:pt x="956310" y="0"/>
                  </a:lnTo>
                  <a:lnTo>
                    <a:pt x="0" y="0"/>
                  </a:lnTo>
                  <a:lnTo>
                    <a:pt x="0" y="27940"/>
                  </a:ln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63500" y="586359"/>
              <a:ext cx="239268" cy="243840"/>
            </a:xfrm>
            <a:custGeom>
              <a:avLst/>
              <a:gdLst/>
              <a:ahLst/>
              <a:cxnLst/>
              <a:rect r="r" b="b" t="t" l="l"/>
              <a:pathLst>
                <a:path h="243840" w="239268">
                  <a:moveTo>
                    <a:pt x="117348" y="45212"/>
                  </a:moveTo>
                  <a:cubicBezTo>
                    <a:pt x="159766" y="45212"/>
                    <a:pt x="194183" y="79629"/>
                    <a:pt x="194183" y="122047"/>
                  </a:cubicBezTo>
                  <a:cubicBezTo>
                    <a:pt x="194183" y="164465"/>
                    <a:pt x="159766" y="198882"/>
                    <a:pt x="117348" y="198882"/>
                  </a:cubicBezTo>
                  <a:cubicBezTo>
                    <a:pt x="74930" y="198882"/>
                    <a:pt x="40513" y="164465"/>
                    <a:pt x="40513" y="122047"/>
                  </a:cubicBezTo>
                  <a:cubicBezTo>
                    <a:pt x="40513" y="79629"/>
                    <a:pt x="74930" y="45212"/>
                    <a:pt x="117348" y="45212"/>
                  </a:cubicBezTo>
                  <a:close/>
                  <a:moveTo>
                    <a:pt x="117348" y="127"/>
                  </a:moveTo>
                  <a:cubicBezTo>
                    <a:pt x="61468" y="127"/>
                    <a:pt x="14478" y="37719"/>
                    <a:pt x="0" y="88900"/>
                  </a:cubicBezTo>
                  <a:lnTo>
                    <a:pt x="0" y="88900"/>
                  </a:lnTo>
                  <a:lnTo>
                    <a:pt x="0" y="155067"/>
                  </a:lnTo>
                  <a:cubicBezTo>
                    <a:pt x="14478" y="206248"/>
                    <a:pt x="61468" y="243840"/>
                    <a:pt x="117348" y="243840"/>
                  </a:cubicBezTo>
                  <a:cubicBezTo>
                    <a:pt x="184658" y="243840"/>
                    <a:pt x="239268" y="189230"/>
                    <a:pt x="239268" y="121920"/>
                  </a:cubicBezTo>
                  <a:cubicBezTo>
                    <a:pt x="239268" y="54610"/>
                    <a:pt x="184658" y="0"/>
                    <a:pt x="117348" y="0"/>
                  </a:cubicBezTo>
                  <a:close/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930783" y="1410716"/>
              <a:ext cx="243840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40">
                  <a:moveTo>
                    <a:pt x="121920" y="198755"/>
                  </a:moveTo>
                  <a:cubicBezTo>
                    <a:pt x="164338" y="198755"/>
                    <a:pt x="198755" y="164338"/>
                    <a:pt x="198755" y="121920"/>
                  </a:cubicBezTo>
                  <a:cubicBezTo>
                    <a:pt x="198755" y="79502"/>
                    <a:pt x="164338" y="45085"/>
                    <a:pt x="121920" y="45085"/>
                  </a:cubicBezTo>
                  <a:cubicBezTo>
                    <a:pt x="79502" y="45085"/>
                    <a:pt x="45085" y="79502"/>
                    <a:pt x="45085" y="121920"/>
                  </a:cubicBezTo>
                  <a:cubicBezTo>
                    <a:pt x="45085" y="164338"/>
                    <a:pt x="79502" y="198755"/>
                    <a:pt x="121920" y="198755"/>
                  </a:cubicBezTo>
                  <a:close/>
                  <a:moveTo>
                    <a:pt x="121920" y="0"/>
                  </a:moveTo>
                  <a:cubicBezTo>
                    <a:pt x="189230" y="0"/>
                    <a:pt x="243840" y="54610"/>
                    <a:pt x="243840" y="121920"/>
                  </a:cubicBezTo>
                  <a:cubicBezTo>
                    <a:pt x="243840" y="189230"/>
                    <a:pt x="189230" y="243840"/>
                    <a:pt x="121920" y="243840"/>
                  </a:cubicBezTo>
                  <a:cubicBezTo>
                    <a:pt x="54610" y="243840"/>
                    <a:pt x="0" y="189230"/>
                    <a:pt x="0" y="121920"/>
                  </a:cubicBezTo>
                  <a:cubicBezTo>
                    <a:pt x="0" y="54610"/>
                    <a:pt x="54610" y="0"/>
                    <a:pt x="121920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3491484" y="1307211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0"/>
                  </a:moveTo>
                  <a:cubicBezTo>
                    <a:pt x="130429" y="0"/>
                    <a:pt x="168148" y="37592"/>
                    <a:pt x="168148" y="84074"/>
                  </a:cubicBezTo>
                  <a:cubicBezTo>
                    <a:pt x="168148" y="130556"/>
                    <a:pt x="130556" y="168148"/>
                    <a:pt x="84074" y="168148"/>
                  </a:cubicBezTo>
                  <a:cubicBezTo>
                    <a:pt x="37592" y="168148"/>
                    <a:pt x="0" y="130556"/>
                    <a:pt x="0" y="84074"/>
                  </a:cubicBezTo>
                  <a:cubicBezTo>
                    <a:pt x="0" y="37592"/>
                    <a:pt x="37592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202311" y="1148461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0"/>
                  </a:moveTo>
                  <a:cubicBezTo>
                    <a:pt x="130429" y="0"/>
                    <a:pt x="168148" y="37592"/>
                    <a:pt x="168148" y="84074"/>
                  </a:cubicBezTo>
                  <a:cubicBezTo>
                    <a:pt x="168148" y="130556"/>
                    <a:pt x="130556" y="168148"/>
                    <a:pt x="84074" y="168148"/>
                  </a:cubicBezTo>
                  <a:cubicBezTo>
                    <a:pt x="37592" y="168148"/>
                    <a:pt x="0" y="130556"/>
                    <a:pt x="0" y="84074"/>
                  </a:cubicBezTo>
                  <a:cubicBezTo>
                    <a:pt x="0" y="37592"/>
                    <a:pt x="37592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006475" y="342646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0"/>
                  </a:moveTo>
                  <a:cubicBezTo>
                    <a:pt x="130429" y="0"/>
                    <a:pt x="168148" y="37592"/>
                    <a:pt x="168148" y="84074"/>
                  </a:cubicBezTo>
                  <a:cubicBezTo>
                    <a:pt x="168148" y="130556"/>
                    <a:pt x="130556" y="168148"/>
                    <a:pt x="84074" y="168148"/>
                  </a:cubicBezTo>
                  <a:cubicBezTo>
                    <a:pt x="37592" y="168148"/>
                    <a:pt x="0" y="130556"/>
                    <a:pt x="0" y="84074"/>
                  </a:cubicBezTo>
                  <a:cubicBezTo>
                    <a:pt x="0" y="37592"/>
                    <a:pt x="37592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489583" y="960120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137033"/>
                  </a:moveTo>
                  <a:cubicBezTo>
                    <a:pt x="113411" y="137033"/>
                    <a:pt x="137033" y="113284"/>
                    <a:pt x="137033" y="84074"/>
                  </a:cubicBezTo>
                  <a:cubicBezTo>
                    <a:pt x="137033" y="54864"/>
                    <a:pt x="113284" y="31115"/>
                    <a:pt x="84074" y="31115"/>
                  </a:cubicBezTo>
                  <a:cubicBezTo>
                    <a:pt x="54864" y="31115"/>
                    <a:pt x="31115" y="54864"/>
                    <a:pt x="31115" y="84074"/>
                  </a:cubicBezTo>
                  <a:cubicBezTo>
                    <a:pt x="31115" y="113284"/>
                    <a:pt x="54864" y="137033"/>
                    <a:pt x="84074" y="137033"/>
                  </a:cubicBezTo>
                  <a:close/>
                  <a:moveTo>
                    <a:pt x="84074" y="0"/>
                  </a:moveTo>
                  <a:cubicBezTo>
                    <a:pt x="130556" y="0"/>
                    <a:pt x="168148" y="37592"/>
                    <a:pt x="168148" y="84074"/>
                  </a:cubicBezTo>
                  <a:cubicBezTo>
                    <a:pt x="168148" y="130556"/>
                    <a:pt x="130556" y="168148"/>
                    <a:pt x="84074" y="168148"/>
                  </a:cubicBezTo>
                  <a:cubicBezTo>
                    <a:pt x="37592" y="168148"/>
                    <a:pt x="0" y="130556"/>
                    <a:pt x="0" y="84074"/>
                  </a:cubicBezTo>
                  <a:cubicBezTo>
                    <a:pt x="0" y="37592"/>
                    <a:pt x="37592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3343021" y="395605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137033"/>
                  </a:moveTo>
                  <a:cubicBezTo>
                    <a:pt x="113284" y="137033"/>
                    <a:pt x="137033" y="113284"/>
                    <a:pt x="137033" y="84074"/>
                  </a:cubicBezTo>
                  <a:cubicBezTo>
                    <a:pt x="137033" y="54864"/>
                    <a:pt x="113284" y="31115"/>
                    <a:pt x="84074" y="31115"/>
                  </a:cubicBezTo>
                  <a:cubicBezTo>
                    <a:pt x="54864" y="31115"/>
                    <a:pt x="31115" y="54864"/>
                    <a:pt x="31115" y="84074"/>
                  </a:cubicBezTo>
                  <a:cubicBezTo>
                    <a:pt x="31115" y="113284"/>
                    <a:pt x="54864" y="137033"/>
                    <a:pt x="84074" y="137033"/>
                  </a:cubicBezTo>
                  <a:close/>
                  <a:moveTo>
                    <a:pt x="84074" y="0"/>
                  </a:moveTo>
                  <a:cubicBezTo>
                    <a:pt x="130429" y="0"/>
                    <a:pt x="168148" y="37592"/>
                    <a:pt x="168148" y="84074"/>
                  </a:cubicBezTo>
                  <a:cubicBezTo>
                    <a:pt x="168148" y="130556"/>
                    <a:pt x="130556" y="168148"/>
                    <a:pt x="84074" y="168148"/>
                  </a:cubicBezTo>
                  <a:cubicBezTo>
                    <a:pt x="37592" y="168148"/>
                    <a:pt x="0" y="130556"/>
                    <a:pt x="0" y="84074"/>
                  </a:cubicBezTo>
                  <a:cubicBezTo>
                    <a:pt x="0" y="37592"/>
                    <a:pt x="37592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286385" y="63500"/>
              <a:ext cx="4172458" cy="2045716"/>
            </a:xfrm>
            <a:custGeom>
              <a:avLst/>
              <a:gdLst/>
              <a:ahLst/>
              <a:cxnLst/>
              <a:rect r="r" b="b" t="t" l="l"/>
              <a:pathLst>
                <a:path h="2045716" w="4172458">
                  <a:moveTo>
                    <a:pt x="2886964" y="0"/>
                  </a:moveTo>
                  <a:lnTo>
                    <a:pt x="2531618" y="355346"/>
                  </a:lnTo>
                  <a:lnTo>
                    <a:pt x="862965" y="355346"/>
                  </a:lnTo>
                  <a:lnTo>
                    <a:pt x="862965" y="383286"/>
                  </a:lnTo>
                  <a:lnTo>
                    <a:pt x="2543175" y="383286"/>
                  </a:lnTo>
                  <a:lnTo>
                    <a:pt x="2926588" y="0"/>
                  </a:lnTo>
                  <a:close/>
                  <a:moveTo>
                    <a:pt x="3202051" y="398399"/>
                  </a:moveTo>
                  <a:lnTo>
                    <a:pt x="3202051" y="440309"/>
                  </a:lnTo>
                  <a:lnTo>
                    <a:pt x="4172458" y="440309"/>
                  </a:lnTo>
                  <a:lnTo>
                    <a:pt x="4172458" y="398399"/>
                  </a:lnTo>
                  <a:close/>
                  <a:moveTo>
                    <a:pt x="0" y="625856"/>
                  </a:moveTo>
                  <a:lnTo>
                    <a:pt x="0" y="667766"/>
                  </a:lnTo>
                  <a:lnTo>
                    <a:pt x="1765681" y="667766"/>
                  </a:lnTo>
                  <a:lnTo>
                    <a:pt x="2064258" y="966343"/>
                  </a:lnTo>
                  <a:lnTo>
                    <a:pt x="2629916" y="966343"/>
                  </a:lnTo>
                  <a:lnTo>
                    <a:pt x="2880106" y="716153"/>
                  </a:lnTo>
                  <a:lnTo>
                    <a:pt x="4172458" y="716153"/>
                  </a:lnTo>
                  <a:lnTo>
                    <a:pt x="4172458" y="674243"/>
                  </a:lnTo>
                  <a:lnTo>
                    <a:pt x="2862707" y="674243"/>
                  </a:lnTo>
                  <a:lnTo>
                    <a:pt x="2612517" y="924433"/>
                  </a:lnTo>
                  <a:lnTo>
                    <a:pt x="2081657" y="924433"/>
                  </a:lnTo>
                  <a:lnTo>
                    <a:pt x="1783207" y="625856"/>
                  </a:lnTo>
                  <a:close/>
                  <a:moveTo>
                    <a:pt x="3196336" y="973963"/>
                  </a:moveTo>
                  <a:lnTo>
                    <a:pt x="3192272" y="978027"/>
                  </a:lnTo>
                  <a:lnTo>
                    <a:pt x="2879217" y="1291082"/>
                  </a:lnTo>
                  <a:lnTo>
                    <a:pt x="1610868" y="1291082"/>
                  </a:lnTo>
                  <a:lnTo>
                    <a:pt x="1350010" y="1030351"/>
                  </a:lnTo>
                  <a:lnTo>
                    <a:pt x="1330198" y="1050163"/>
                  </a:lnTo>
                  <a:lnTo>
                    <a:pt x="1599184" y="1319149"/>
                  </a:lnTo>
                  <a:lnTo>
                    <a:pt x="2890774" y="1319149"/>
                  </a:lnTo>
                  <a:lnTo>
                    <a:pt x="2894838" y="1315085"/>
                  </a:lnTo>
                  <a:lnTo>
                    <a:pt x="3207893" y="1002030"/>
                  </a:lnTo>
                  <a:lnTo>
                    <a:pt x="4172458" y="1002030"/>
                  </a:lnTo>
                  <a:lnTo>
                    <a:pt x="4172458" y="974090"/>
                  </a:lnTo>
                  <a:close/>
                  <a:moveTo>
                    <a:pt x="3363468" y="1315339"/>
                  </a:moveTo>
                  <a:lnTo>
                    <a:pt x="3363468" y="1343279"/>
                  </a:lnTo>
                  <a:lnTo>
                    <a:pt x="4172458" y="1343279"/>
                  </a:lnTo>
                  <a:lnTo>
                    <a:pt x="4172458" y="1315339"/>
                  </a:lnTo>
                  <a:close/>
                  <a:moveTo>
                    <a:pt x="862965" y="1450721"/>
                  </a:moveTo>
                  <a:lnTo>
                    <a:pt x="862965" y="1492631"/>
                  </a:lnTo>
                  <a:lnTo>
                    <a:pt x="2528824" y="1492631"/>
                  </a:lnTo>
                  <a:lnTo>
                    <a:pt x="2935351" y="1899158"/>
                  </a:lnTo>
                  <a:lnTo>
                    <a:pt x="4025773" y="1899158"/>
                  </a:lnTo>
                  <a:lnTo>
                    <a:pt x="4172458" y="2045716"/>
                  </a:lnTo>
                  <a:lnTo>
                    <a:pt x="4172458" y="1986407"/>
                  </a:lnTo>
                  <a:lnTo>
                    <a:pt x="4043172" y="1857248"/>
                  </a:lnTo>
                  <a:lnTo>
                    <a:pt x="2952750" y="1857248"/>
                  </a:lnTo>
                  <a:lnTo>
                    <a:pt x="2546223" y="1450721"/>
                  </a:lnTo>
                  <a:close/>
                </a:path>
              </a:pathLst>
            </a:custGeom>
            <a:solidFill>
              <a:srgbClr val="C7D7F3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416597" y="1962527"/>
            <a:ext cx="17454806" cy="7190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FF914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Target Variable Distribution</a:t>
            </a:r>
          </a:p>
          <a:p>
            <a:pPr algn="just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Bar plot showing churn distribution with percentages (85.5% not churned, 14.5% churned)</a:t>
            </a:r>
          </a:p>
          <a:p>
            <a:pPr algn="just">
              <a:lnSpc>
                <a:spcPts val="3220"/>
              </a:lnSpc>
              <a:spcBef>
                <a:spcPct val="0"/>
              </a:spcBef>
            </a:pPr>
          </a:p>
          <a:p>
            <a:pPr algn="just">
              <a:lnSpc>
                <a:spcPts val="3220"/>
              </a:lnSpc>
              <a:spcBef>
                <a:spcPct val="0"/>
              </a:spcBef>
            </a:pPr>
          </a:p>
          <a:p>
            <a:pPr algn="just">
              <a:lnSpc>
                <a:spcPts val="3220"/>
              </a:lnSpc>
              <a:spcBef>
                <a:spcPct val="0"/>
              </a:spcBef>
            </a:pPr>
          </a:p>
          <a:p>
            <a:pPr algn="just">
              <a:lnSpc>
                <a:spcPts val="3220"/>
              </a:lnSpc>
              <a:spcBef>
                <a:spcPct val="0"/>
              </a:spcBef>
            </a:pPr>
          </a:p>
          <a:p>
            <a:pPr algn="just">
              <a:lnSpc>
                <a:spcPts val="3220"/>
              </a:lnSpc>
              <a:spcBef>
                <a:spcPct val="0"/>
              </a:spcBef>
            </a:pPr>
          </a:p>
          <a:p>
            <a:pPr algn="just">
              <a:lnSpc>
                <a:spcPts val="3220"/>
              </a:lnSpc>
              <a:spcBef>
                <a:spcPct val="0"/>
              </a:spcBef>
            </a:pPr>
          </a:p>
          <a:p>
            <a:pPr algn="just">
              <a:lnSpc>
                <a:spcPts val="3220"/>
              </a:lnSpc>
              <a:spcBef>
                <a:spcPct val="0"/>
              </a:spcBef>
            </a:pPr>
          </a:p>
          <a:p>
            <a:pPr algn="just">
              <a:lnSpc>
                <a:spcPts val="3220"/>
              </a:lnSpc>
              <a:spcBef>
                <a:spcPct val="0"/>
              </a:spcBef>
            </a:pPr>
          </a:p>
          <a:p>
            <a:pPr algn="just">
              <a:lnSpc>
                <a:spcPts val="3220"/>
              </a:lnSpc>
              <a:spcBef>
                <a:spcPct val="0"/>
              </a:spcBef>
            </a:pPr>
          </a:p>
          <a:p>
            <a:pPr algn="just">
              <a:lnSpc>
                <a:spcPts val="3220"/>
              </a:lnSpc>
              <a:spcBef>
                <a:spcPct val="0"/>
              </a:spcBef>
            </a:pPr>
          </a:p>
          <a:p>
            <a:pPr algn="just">
              <a:lnSpc>
                <a:spcPts val="3220"/>
              </a:lnSpc>
              <a:spcBef>
                <a:spcPct val="0"/>
              </a:spcBef>
            </a:pPr>
          </a:p>
          <a:p>
            <a:pPr algn="just">
              <a:lnSpc>
                <a:spcPts val="3220"/>
              </a:lnSpc>
              <a:spcBef>
                <a:spcPct val="0"/>
              </a:spcBef>
            </a:pPr>
          </a:p>
          <a:p>
            <a:pPr algn="just">
              <a:lnSpc>
                <a:spcPts val="3220"/>
              </a:lnSpc>
              <a:spcBef>
                <a:spcPct val="0"/>
              </a:spcBef>
            </a:pPr>
          </a:p>
          <a:p>
            <a:pPr algn="just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FF914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Key Points:</a:t>
            </a:r>
          </a:p>
          <a:p>
            <a:pPr algn="just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Significant class imbalance: 14.5% of customers have churned.</a:t>
            </a:r>
          </a:p>
          <a:p>
            <a:pPr algn="just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Imbalance necessitates resampling techniques  during model training to avoid model bias.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349361" y="3083668"/>
            <a:ext cx="6181827" cy="4876792"/>
          </a:xfrm>
          <a:custGeom>
            <a:avLst/>
            <a:gdLst/>
            <a:ahLst/>
            <a:cxnLst/>
            <a:rect r="r" b="b" t="t" l="l"/>
            <a:pathLst>
              <a:path h="4876792" w="6181827">
                <a:moveTo>
                  <a:pt x="0" y="0"/>
                </a:moveTo>
                <a:lnTo>
                  <a:pt x="6181827" y="0"/>
                </a:lnTo>
                <a:lnTo>
                  <a:pt x="6181827" y="4876792"/>
                </a:lnTo>
                <a:lnTo>
                  <a:pt x="0" y="48767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43" t="-1513" r="-1655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221866" y="1158499"/>
            <a:ext cx="12618643" cy="5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EXPLORATORY DATA ANALYSIS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-652069" y="9705975"/>
            <a:ext cx="19022613" cy="4006046"/>
            <a:chOff x="0" y="0"/>
            <a:chExt cx="5010071" cy="105509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010071" cy="1055090"/>
            </a:xfrm>
            <a:custGeom>
              <a:avLst/>
              <a:gdLst/>
              <a:ahLst/>
              <a:cxnLst/>
              <a:rect r="r" b="b" t="t" l="l"/>
              <a:pathLst>
                <a:path h="1055090" w="5010071">
                  <a:moveTo>
                    <a:pt x="0" y="0"/>
                  </a:moveTo>
                  <a:lnTo>
                    <a:pt x="5010071" y="0"/>
                  </a:lnTo>
                  <a:lnTo>
                    <a:pt x="5010071" y="1055090"/>
                  </a:lnTo>
                  <a:lnTo>
                    <a:pt x="0" y="1055090"/>
                  </a:lnTo>
                  <a:close/>
                </a:path>
              </a:pathLst>
            </a:custGeom>
            <a:gradFill rotWithShape="true">
              <a:gsLst>
                <a:gs pos="0">
                  <a:srgbClr val="114168">
                    <a:alpha val="100000"/>
                  </a:srgbClr>
                </a:gs>
                <a:gs pos="100000">
                  <a:srgbClr val="09023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5010071" cy="10931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12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34126" y="2547446"/>
            <a:ext cx="9016937" cy="5778062"/>
          </a:xfrm>
          <a:custGeom>
            <a:avLst/>
            <a:gdLst/>
            <a:ahLst/>
            <a:cxnLst/>
            <a:rect r="r" b="b" t="t" l="l"/>
            <a:pathLst>
              <a:path h="5778062" w="9016937">
                <a:moveTo>
                  <a:pt x="0" y="0"/>
                </a:moveTo>
                <a:lnTo>
                  <a:pt x="9016937" y="0"/>
                </a:lnTo>
                <a:lnTo>
                  <a:pt x="9016937" y="5778062"/>
                </a:lnTo>
                <a:lnTo>
                  <a:pt x="0" y="57780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42769" y="1634944"/>
            <a:ext cx="9962183" cy="5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CORRELATION BETWEEN FEATURES AND CHURN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854200" y="2090186"/>
            <a:ext cx="8022084" cy="2388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1"/>
              </a:lnSpc>
              <a:spcBef>
                <a:spcPct val="0"/>
              </a:spcBef>
            </a:pPr>
            <a:r>
              <a:rPr lang="en-US" sz="19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We looked at how different features relate to churn:</a:t>
            </a:r>
          </a:p>
          <a:p>
            <a:pPr algn="ctr">
              <a:lnSpc>
                <a:spcPts val="2771"/>
              </a:lnSpc>
              <a:spcBef>
                <a:spcPct val="0"/>
              </a:spcBef>
            </a:pPr>
          </a:p>
          <a:p>
            <a:pPr algn="ctr">
              <a:lnSpc>
                <a:spcPts val="2771"/>
              </a:lnSpc>
              <a:spcBef>
                <a:spcPct val="0"/>
              </a:spcBef>
            </a:pPr>
            <a:r>
              <a:rPr lang="en-US" b="true" sz="197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Higher Churn Risk</a:t>
            </a:r>
          </a:p>
          <a:p>
            <a:pPr algn="ctr">
              <a:lnSpc>
                <a:spcPts val="2771"/>
              </a:lnSpc>
              <a:spcBef>
                <a:spcPct val="0"/>
              </a:spcBef>
            </a:pPr>
          </a:p>
          <a:p>
            <a:pPr algn="ctr">
              <a:lnSpc>
                <a:spcPts val="2771"/>
              </a:lnSpc>
              <a:spcBef>
                <a:spcPct val="0"/>
              </a:spcBef>
            </a:pPr>
            <a:r>
              <a:rPr lang="en-US" sz="19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International Plan (+0.26): Customers with this plan churn more.</a:t>
            </a:r>
          </a:p>
          <a:p>
            <a:pPr algn="ctr">
              <a:lnSpc>
                <a:spcPts val="2771"/>
              </a:lnSpc>
              <a:spcBef>
                <a:spcPct val="0"/>
              </a:spcBef>
            </a:pPr>
            <a:r>
              <a:rPr lang="en-US" sz="19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Customer Service Calls (+0.21): More calls mean higher churn.</a:t>
            </a:r>
          </a:p>
          <a:p>
            <a:pPr algn="ctr">
              <a:lnSpc>
                <a:spcPts val="2771"/>
              </a:lnSpc>
              <a:spcBef>
                <a:spcPct val="0"/>
              </a:spcBef>
            </a:pPr>
            <a:r>
              <a:rPr lang="en-US" sz="19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Day Usage (+0.21): Heavy daytime use is linked to churn.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854200" y="5121088"/>
            <a:ext cx="8254504" cy="3204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1"/>
              </a:lnSpc>
              <a:spcBef>
                <a:spcPct val="0"/>
              </a:spcBef>
            </a:pPr>
            <a:r>
              <a:rPr lang="en-US" b="true" sz="207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Mild Positive Links</a:t>
            </a:r>
          </a:p>
          <a:p>
            <a:pPr algn="ctr">
              <a:lnSpc>
                <a:spcPts val="2911"/>
              </a:lnSpc>
              <a:spcBef>
                <a:spcPct val="0"/>
              </a:spcBef>
            </a:pPr>
          </a:p>
          <a:p>
            <a:pPr algn="ctr">
              <a:lnSpc>
                <a:spcPts val="2771"/>
              </a:lnSpc>
              <a:spcBef>
                <a:spcPct val="0"/>
              </a:spcBef>
            </a:pPr>
            <a:r>
              <a:rPr lang="en-US" sz="19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Evening, night, and international usage show weak links to churn.</a:t>
            </a:r>
          </a:p>
          <a:p>
            <a:pPr algn="ctr">
              <a:lnSpc>
                <a:spcPts val="2911"/>
              </a:lnSpc>
              <a:spcBef>
                <a:spcPct val="0"/>
              </a:spcBef>
            </a:pPr>
          </a:p>
          <a:p>
            <a:pPr algn="ctr">
              <a:lnSpc>
                <a:spcPts val="2911"/>
              </a:lnSpc>
              <a:spcBef>
                <a:spcPct val="0"/>
              </a:spcBef>
            </a:pPr>
            <a:r>
              <a:rPr lang="en-US" b="true" sz="207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Lower Churn Risk</a:t>
            </a:r>
          </a:p>
          <a:p>
            <a:pPr algn="ctr">
              <a:lnSpc>
                <a:spcPts val="2911"/>
              </a:lnSpc>
              <a:spcBef>
                <a:spcPct val="0"/>
              </a:spcBef>
            </a:pPr>
          </a:p>
          <a:p>
            <a:pPr algn="ctr">
              <a:lnSpc>
                <a:spcPts val="2771"/>
              </a:lnSpc>
              <a:spcBef>
                <a:spcPct val="0"/>
              </a:spcBef>
            </a:pPr>
            <a:r>
              <a:rPr lang="en-US" sz="19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Voice Mail Plan (-0.10): These customers churn less.</a:t>
            </a:r>
          </a:p>
          <a:p>
            <a:pPr algn="ctr">
              <a:lnSpc>
                <a:spcPts val="2911"/>
              </a:lnSpc>
              <a:spcBef>
                <a:spcPct val="0"/>
              </a:spcBef>
            </a:pPr>
            <a:r>
              <a:rPr lang="en-US" sz="20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Voicemail Messages (-0.09): More messages, lower churn.</a:t>
            </a:r>
          </a:p>
          <a:p>
            <a:pPr algn="ctr">
              <a:lnSpc>
                <a:spcPts val="2911"/>
              </a:lnSpc>
              <a:spcBef>
                <a:spcPct val="0"/>
              </a:spcBef>
            </a:pPr>
            <a:r>
              <a:rPr lang="en-US" sz="20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International Calls (-0.05): More calls, slightly less churn.</a:t>
            </a:r>
          </a:p>
        </p:txBody>
      </p: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-63503" y="-63503"/>
            <a:ext cx="4357106" cy="1984210"/>
            <a:chOff x="0" y="0"/>
            <a:chExt cx="4357103" cy="198421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3189986" y="434848"/>
              <a:ext cx="956310" cy="27940"/>
            </a:xfrm>
            <a:custGeom>
              <a:avLst/>
              <a:gdLst/>
              <a:ahLst/>
              <a:cxnLst/>
              <a:rect r="r" b="b" t="t" l="l"/>
              <a:pathLst>
                <a:path h="27940" w="956310">
                  <a:moveTo>
                    <a:pt x="956310" y="27940"/>
                  </a:moveTo>
                  <a:lnTo>
                    <a:pt x="0" y="27940"/>
                  </a:lnTo>
                  <a:lnTo>
                    <a:pt x="0" y="0"/>
                  </a:lnTo>
                  <a:lnTo>
                    <a:pt x="956310" y="0"/>
                  </a:lnTo>
                  <a:lnTo>
                    <a:pt x="956310" y="27940"/>
                  </a:ln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3321177" y="626999"/>
              <a:ext cx="243840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40">
                  <a:moveTo>
                    <a:pt x="121920" y="198755"/>
                  </a:moveTo>
                  <a:cubicBezTo>
                    <a:pt x="79502" y="198755"/>
                    <a:pt x="45085" y="164338"/>
                    <a:pt x="45085" y="121920"/>
                  </a:cubicBezTo>
                  <a:cubicBezTo>
                    <a:pt x="45085" y="79502"/>
                    <a:pt x="79502" y="45085"/>
                    <a:pt x="121920" y="45085"/>
                  </a:cubicBezTo>
                  <a:cubicBezTo>
                    <a:pt x="164338" y="45085"/>
                    <a:pt x="198755" y="79502"/>
                    <a:pt x="198755" y="121920"/>
                  </a:cubicBezTo>
                  <a:cubicBezTo>
                    <a:pt x="198755" y="164338"/>
                    <a:pt x="164338" y="198755"/>
                    <a:pt x="121920" y="198755"/>
                  </a:cubicBezTo>
                  <a:close/>
                  <a:moveTo>
                    <a:pt x="121920" y="0"/>
                  </a:moveTo>
                  <a:cubicBezTo>
                    <a:pt x="54610" y="0"/>
                    <a:pt x="0" y="54610"/>
                    <a:pt x="0" y="121920"/>
                  </a:cubicBezTo>
                  <a:cubicBezTo>
                    <a:pt x="0" y="189230"/>
                    <a:pt x="54610" y="243840"/>
                    <a:pt x="121920" y="243840"/>
                  </a:cubicBezTo>
                  <a:cubicBezTo>
                    <a:pt x="189230" y="243840"/>
                    <a:pt x="243840" y="189230"/>
                    <a:pt x="243840" y="121920"/>
                  </a:cubicBezTo>
                  <a:cubicBezTo>
                    <a:pt x="243840" y="54610"/>
                    <a:pt x="189230" y="0"/>
                    <a:pt x="121920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836295" y="523621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0"/>
                  </a:moveTo>
                  <a:cubicBezTo>
                    <a:pt x="37719" y="0"/>
                    <a:pt x="0" y="37592"/>
                    <a:pt x="0" y="84074"/>
                  </a:cubicBezTo>
                  <a:cubicBezTo>
                    <a:pt x="0" y="130556"/>
                    <a:pt x="37592" y="168148"/>
                    <a:pt x="84074" y="168148"/>
                  </a:cubicBezTo>
                  <a:cubicBezTo>
                    <a:pt x="130556" y="168148"/>
                    <a:pt x="168148" y="130556"/>
                    <a:pt x="168148" y="84074"/>
                  </a:cubicBezTo>
                  <a:cubicBezTo>
                    <a:pt x="168148" y="37592"/>
                    <a:pt x="130556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4125468" y="364744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0"/>
                  </a:moveTo>
                  <a:cubicBezTo>
                    <a:pt x="37719" y="0"/>
                    <a:pt x="0" y="37592"/>
                    <a:pt x="0" y="84074"/>
                  </a:cubicBezTo>
                  <a:cubicBezTo>
                    <a:pt x="0" y="130556"/>
                    <a:pt x="37592" y="168148"/>
                    <a:pt x="84074" y="168148"/>
                  </a:cubicBezTo>
                  <a:cubicBezTo>
                    <a:pt x="130556" y="168148"/>
                    <a:pt x="168148" y="130556"/>
                    <a:pt x="168148" y="84074"/>
                  </a:cubicBezTo>
                  <a:cubicBezTo>
                    <a:pt x="168148" y="37592"/>
                    <a:pt x="130556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2838196" y="176530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137033"/>
                  </a:moveTo>
                  <a:cubicBezTo>
                    <a:pt x="54737" y="137033"/>
                    <a:pt x="31115" y="113284"/>
                    <a:pt x="31115" y="84074"/>
                  </a:cubicBezTo>
                  <a:cubicBezTo>
                    <a:pt x="31115" y="54864"/>
                    <a:pt x="54864" y="31115"/>
                    <a:pt x="84074" y="31115"/>
                  </a:cubicBezTo>
                  <a:cubicBezTo>
                    <a:pt x="113284" y="31115"/>
                    <a:pt x="137033" y="54864"/>
                    <a:pt x="137033" y="84074"/>
                  </a:cubicBezTo>
                  <a:cubicBezTo>
                    <a:pt x="137033" y="113284"/>
                    <a:pt x="113284" y="137033"/>
                    <a:pt x="84074" y="137033"/>
                  </a:cubicBezTo>
                  <a:close/>
                  <a:moveTo>
                    <a:pt x="84074" y="0"/>
                  </a:moveTo>
                  <a:cubicBezTo>
                    <a:pt x="37592" y="0"/>
                    <a:pt x="0" y="37592"/>
                    <a:pt x="0" y="84074"/>
                  </a:cubicBezTo>
                  <a:cubicBezTo>
                    <a:pt x="0" y="130556"/>
                    <a:pt x="37592" y="168148"/>
                    <a:pt x="84074" y="168148"/>
                  </a:cubicBezTo>
                  <a:cubicBezTo>
                    <a:pt x="130556" y="168148"/>
                    <a:pt x="168148" y="130556"/>
                    <a:pt x="168148" y="84074"/>
                  </a:cubicBezTo>
                  <a:cubicBezTo>
                    <a:pt x="168148" y="37592"/>
                    <a:pt x="130556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63500" y="63500"/>
              <a:ext cx="3282950" cy="1235710"/>
            </a:xfrm>
            <a:custGeom>
              <a:avLst/>
              <a:gdLst/>
              <a:ahLst/>
              <a:cxnLst/>
              <a:rect r="r" b="b" t="t" l="l"/>
              <a:pathLst>
                <a:path h="1235710" w="3282950">
                  <a:moveTo>
                    <a:pt x="1333373" y="0"/>
                  </a:moveTo>
                  <a:lnTo>
                    <a:pt x="1516126" y="182753"/>
                  </a:lnTo>
                  <a:lnTo>
                    <a:pt x="2081784" y="182753"/>
                  </a:lnTo>
                  <a:lnTo>
                    <a:pt x="2264537" y="0"/>
                  </a:lnTo>
                  <a:lnTo>
                    <a:pt x="2205228" y="0"/>
                  </a:lnTo>
                  <a:lnTo>
                    <a:pt x="2064385" y="140716"/>
                  </a:lnTo>
                  <a:lnTo>
                    <a:pt x="1533398" y="140716"/>
                  </a:lnTo>
                  <a:lnTo>
                    <a:pt x="1392682" y="0"/>
                  </a:lnTo>
                  <a:close/>
                  <a:moveTo>
                    <a:pt x="0" y="190373"/>
                  </a:moveTo>
                  <a:lnTo>
                    <a:pt x="0" y="218313"/>
                  </a:lnTo>
                  <a:lnTo>
                    <a:pt x="938149" y="218313"/>
                  </a:lnTo>
                  <a:lnTo>
                    <a:pt x="1251204" y="531368"/>
                  </a:lnTo>
                  <a:lnTo>
                    <a:pt x="1255268" y="535432"/>
                  </a:lnTo>
                  <a:lnTo>
                    <a:pt x="2546731" y="535432"/>
                  </a:lnTo>
                  <a:lnTo>
                    <a:pt x="2815717" y="266446"/>
                  </a:lnTo>
                  <a:lnTo>
                    <a:pt x="2795905" y="246634"/>
                  </a:lnTo>
                  <a:lnTo>
                    <a:pt x="2535047" y="507492"/>
                  </a:lnTo>
                  <a:lnTo>
                    <a:pt x="1266825" y="507492"/>
                  </a:lnTo>
                  <a:lnTo>
                    <a:pt x="953770" y="194437"/>
                  </a:lnTo>
                  <a:lnTo>
                    <a:pt x="949706" y="190373"/>
                  </a:lnTo>
                  <a:close/>
                  <a:moveTo>
                    <a:pt x="0" y="531749"/>
                  </a:moveTo>
                  <a:lnTo>
                    <a:pt x="0" y="559689"/>
                  </a:lnTo>
                  <a:lnTo>
                    <a:pt x="782574" y="559689"/>
                  </a:lnTo>
                  <a:lnTo>
                    <a:pt x="782574" y="531749"/>
                  </a:lnTo>
                  <a:close/>
                  <a:moveTo>
                    <a:pt x="1599819" y="667131"/>
                  </a:moveTo>
                  <a:lnTo>
                    <a:pt x="1193292" y="1073658"/>
                  </a:lnTo>
                  <a:lnTo>
                    <a:pt x="102870" y="1073658"/>
                  </a:lnTo>
                  <a:lnTo>
                    <a:pt x="0" y="1176401"/>
                  </a:lnTo>
                  <a:lnTo>
                    <a:pt x="0" y="1235710"/>
                  </a:lnTo>
                  <a:lnTo>
                    <a:pt x="120269" y="1115568"/>
                  </a:lnTo>
                  <a:lnTo>
                    <a:pt x="1210691" y="1115568"/>
                  </a:lnTo>
                  <a:lnTo>
                    <a:pt x="1617218" y="709041"/>
                  </a:lnTo>
                  <a:lnTo>
                    <a:pt x="3282950" y="709041"/>
                  </a:lnTo>
                  <a:lnTo>
                    <a:pt x="3282950" y="667131"/>
                  </a:lnTo>
                  <a:close/>
                </a:path>
              </a:pathLst>
            </a:custGeom>
            <a:solidFill>
              <a:srgbClr val="C7D7F3"/>
            </a:solidFill>
          </p:spPr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13829128" y="-63503"/>
            <a:ext cx="4522365" cy="2767879"/>
            <a:chOff x="0" y="0"/>
            <a:chExt cx="4522368" cy="276787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349631" y="1218438"/>
              <a:ext cx="956310" cy="27940"/>
            </a:xfrm>
            <a:custGeom>
              <a:avLst/>
              <a:gdLst/>
              <a:ahLst/>
              <a:cxnLst/>
              <a:rect r="r" b="b" t="t" l="l"/>
              <a:pathLst>
                <a:path h="27940" w="956310">
                  <a:moveTo>
                    <a:pt x="0" y="27940"/>
                  </a:moveTo>
                  <a:lnTo>
                    <a:pt x="956310" y="27940"/>
                  </a:lnTo>
                  <a:lnTo>
                    <a:pt x="956310" y="0"/>
                  </a:lnTo>
                  <a:lnTo>
                    <a:pt x="0" y="0"/>
                  </a:lnTo>
                  <a:lnTo>
                    <a:pt x="0" y="27940"/>
                  </a:ln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63500" y="586359"/>
              <a:ext cx="239268" cy="243840"/>
            </a:xfrm>
            <a:custGeom>
              <a:avLst/>
              <a:gdLst/>
              <a:ahLst/>
              <a:cxnLst/>
              <a:rect r="r" b="b" t="t" l="l"/>
              <a:pathLst>
                <a:path h="243840" w="239268">
                  <a:moveTo>
                    <a:pt x="117348" y="45212"/>
                  </a:moveTo>
                  <a:cubicBezTo>
                    <a:pt x="159766" y="45212"/>
                    <a:pt x="194183" y="79629"/>
                    <a:pt x="194183" y="122047"/>
                  </a:cubicBezTo>
                  <a:cubicBezTo>
                    <a:pt x="194183" y="164465"/>
                    <a:pt x="159766" y="198882"/>
                    <a:pt x="117348" y="198882"/>
                  </a:cubicBezTo>
                  <a:cubicBezTo>
                    <a:pt x="74930" y="198882"/>
                    <a:pt x="40513" y="164465"/>
                    <a:pt x="40513" y="122047"/>
                  </a:cubicBezTo>
                  <a:cubicBezTo>
                    <a:pt x="40513" y="79629"/>
                    <a:pt x="74930" y="45212"/>
                    <a:pt x="117348" y="45212"/>
                  </a:cubicBezTo>
                  <a:close/>
                  <a:moveTo>
                    <a:pt x="117348" y="127"/>
                  </a:moveTo>
                  <a:cubicBezTo>
                    <a:pt x="61468" y="127"/>
                    <a:pt x="14478" y="37719"/>
                    <a:pt x="0" y="88900"/>
                  </a:cubicBezTo>
                  <a:lnTo>
                    <a:pt x="0" y="88900"/>
                  </a:lnTo>
                  <a:lnTo>
                    <a:pt x="0" y="155067"/>
                  </a:lnTo>
                  <a:cubicBezTo>
                    <a:pt x="14478" y="206248"/>
                    <a:pt x="61468" y="243840"/>
                    <a:pt x="117348" y="243840"/>
                  </a:cubicBezTo>
                  <a:cubicBezTo>
                    <a:pt x="184658" y="243840"/>
                    <a:pt x="239268" y="189230"/>
                    <a:pt x="239268" y="121920"/>
                  </a:cubicBezTo>
                  <a:cubicBezTo>
                    <a:pt x="239268" y="54610"/>
                    <a:pt x="184658" y="0"/>
                    <a:pt x="117348" y="0"/>
                  </a:cubicBezTo>
                  <a:close/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930783" y="1410716"/>
              <a:ext cx="243840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40">
                  <a:moveTo>
                    <a:pt x="121920" y="198755"/>
                  </a:moveTo>
                  <a:cubicBezTo>
                    <a:pt x="164338" y="198755"/>
                    <a:pt x="198755" y="164338"/>
                    <a:pt x="198755" y="121920"/>
                  </a:cubicBezTo>
                  <a:cubicBezTo>
                    <a:pt x="198755" y="79502"/>
                    <a:pt x="164338" y="45085"/>
                    <a:pt x="121920" y="45085"/>
                  </a:cubicBezTo>
                  <a:cubicBezTo>
                    <a:pt x="79502" y="45085"/>
                    <a:pt x="45085" y="79502"/>
                    <a:pt x="45085" y="121920"/>
                  </a:cubicBezTo>
                  <a:cubicBezTo>
                    <a:pt x="45085" y="164338"/>
                    <a:pt x="79502" y="198755"/>
                    <a:pt x="121920" y="198755"/>
                  </a:cubicBezTo>
                  <a:close/>
                  <a:moveTo>
                    <a:pt x="121920" y="0"/>
                  </a:moveTo>
                  <a:cubicBezTo>
                    <a:pt x="189230" y="0"/>
                    <a:pt x="243840" y="54610"/>
                    <a:pt x="243840" y="121920"/>
                  </a:cubicBezTo>
                  <a:cubicBezTo>
                    <a:pt x="243840" y="189230"/>
                    <a:pt x="189230" y="243840"/>
                    <a:pt x="121920" y="243840"/>
                  </a:cubicBezTo>
                  <a:cubicBezTo>
                    <a:pt x="54610" y="243840"/>
                    <a:pt x="0" y="189230"/>
                    <a:pt x="0" y="121920"/>
                  </a:cubicBezTo>
                  <a:cubicBezTo>
                    <a:pt x="0" y="54610"/>
                    <a:pt x="54610" y="0"/>
                    <a:pt x="121920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3491484" y="1307211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0"/>
                  </a:moveTo>
                  <a:cubicBezTo>
                    <a:pt x="130429" y="0"/>
                    <a:pt x="168148" y="37592"/>
                    <a:pt x="168148" y="84074"/>
                  </a:cubicBezTo>
                  <a:cubicBezTo>
                    <a:pt x="168148" y="130556"/>
                    <a:pt x="130556" y="168148"/>
                    <a:pt x="84074" y="168148"/>
                  </a:cubicBezTo>
                  <a:cubicBezTo>
                    <a:pt x="37592" y="168148"/>
                    <a:pt x="0" y="130556"/>
                    <a:pt x="0" y="84074"/>
                  </a:cubicBezTo>
                  <a:cubicBezTo>
                    <a:pt x="0" y="37592"/>
                    <a:pt x="37592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202311" y="1148461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0"/>
                  </a:moveTo>
                  <a:cubicBezTo>
                    <a:pt x="130429" y="0"/>
                    <a:pt x="168148" y="37592"/>
                    <a:pt x="168148" y="84074"/>
                  </a:cubicBezTo>
                  <a:cubicBezTo>
                    <a:pt x="168148" y="130556"/>
                    <a:pt x="130556" y="168148"/>
                    <a:pt x="84074" y="168148"/>
                  </a:cubicBezTo>
                  <a:cubicBezTo>
                    <a:pt x="37592" y="168148"/>
                    <a:pt x="0" y="130556"/>
                    <a:pt x="0" y="84074"/>
                  </a:cubicBezTo>
                  <a:cubicBezTo>
                    <a:pt x="0" y="37592"/>
                    <a:pt x="37592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1006475" y="342646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0"/>
                  </a:moveTo>
                  <a:cubicBezTo>
                    <a:pt x="130429" y="0"/>
                    <a:pt x="168148" y="37592"/>
                    <a:pt x="168148" y="84074"/>
                  </a:cubicBezTo>
                  <a:cubicBezTo>
                    <a:pt x="168148" y="130556"/>
                    <a:pt x="130556" y="168148"/>
                    <a:pt x="84074" y="168148"/>
                  </a:cubicBezTo>
                  <a:cubicBezTo>
                    <a:pt x="37592" y="168148"/>
                    <a:pt x="0" y="130556"/>
                    <a:pt x="0" y="84074"/>
                  </a:cubicBezTo>
                  <a:cubicBezTo>
                    <a:pt x="0" y="37592"/>
                    <a:pt x="37592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1489583" y="960120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137033"/>
                  </a:moveTo>
                  <a:cubicBezTo>
                    <a:pt x="113411" y="137033"/>
                    <a:pt x="137033" y="113284"/>
                    <a:pt x="137033" y="84074"/>
                  </a:cubicBezTo>
                  <a:cubicBezTo>
                    <a:pt x="137033" y="54864"/>
                    <a:pt x="113284" y="31115"/>
                    <a:pt x="84074" y="31115"/>
                  </a:cubicBezTo>
                  <a:cubicBezTo>
                    <a:pt x="54864" y="31115"/>
                    <a:pt x="31115" y="54864"/>
                    <a:pt x="31115" y="84074"/>
                  </a:cubicBezTo>
                  <a:cubicBezTo>
                    <a:pt x="31115" y="113284"/>
                    <a:pt x="54864" y="137033"/>
                    <a:pt x="84074" y="137033"/>
                  </a:cubicBezTo>
                  <a:close/>
                  <a:moveTo>
                    <a:pt x="84074" y="0"/>
                  </a:moveTo>
                  <a:cubicBezTo>
                    <a:pt x="130556" y="0"/>
                    <a:pt x="168148" y="37592"/>
                    <a:pt x="168148" y="84074"/>
                  </a:cubicBezTo>
                  <a:cubicBezTo>
                    <a:pt x="168148" y="130556"/>
                    <a:pt x="130556" y="168148"/>
                    <a:pt x="84074" y="168148"/>
                  </a:cubicBezTo>
                  <a:cubicBezTo>
                    <a:pt x="37592" y="168148"/>
                    <a:pt x="0" y="130556"/>
                    <a:pt x="0" y="84074"/>
                  </a:cubicBezTo>
                  <a:cubicBezTo>
                    <a:pt x="0" y="37592"/>
                    <a:pt x="37592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3343021" y="395605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137033"/>
                  </a:moveTo>
                  <a:cubicBezTo>
                    <a:pt x="113284" y="137033"/>
                    <a:pt x="137033" y="113284"/>
                    <a:pt x="137033" y="84074"/>
                  </a:cubicBezTo>
                  <a:cubicBezTo>
                    <a:pt x="137033" y="54864"/>
                    <a:pt x="113284" y="31115"/>
                    <a:pt x="84074" y="31115"/>
                  </a:cubicBezTo>
                  <a:cubicBezTo>
                    <a:pt x="54864" y="31115"/>
                    <a:pt x="31115" y="54864"/>
                    <a:pt x="31115" y="84074"/>
                  </a:cubicBezTo>
                  <a:cubicBezTo>
                    <a:pt x="31115" y="113284"/>
                    <a:pt x="54864" y="137033"/>
                    <a:pt x="84074" y="137033"/>
                  </a:cubicBezTo>
                  <a:close/>
                  <a:moveTo>
                    <a:pt x="84074" y="0"/>
                  </a:moveTo>
                  <a:cubicBezTo>
                    <a:pt x="130429" y="0"/>
                    <a:pt x="168148" y="37592"/>
                    <a:pt x="168148" y="84074"/>
                  </a:cubicBezTo>
                  <a:cubicBezTo>
                    <a:pt x="168148" y="130556"/>
                    <a:pt x="130556" y="168148"/>
                    <a:pt x="84074" y="168148"/>
                  </a:cubicBezTo>
                  <a:cubicBezTo>
                    <a:pt x="37592" y="168148"/>
                    <a:pt x="0" y="130556"/>
                    <a:pt x="0" y="84074"/>
                  </a:cubicBezTo>
                  <a:cubicBezTo>
                    <a:pt x="0" y="37592"/>
                    <a:pt x="37592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286385" y="63500"/>
              <a:ext cx="4172458" cy="2045716"/>
            </a:xfrm>
            <a:custGeom>
              <a:avLst/>
              <a:gdLst/>
              <a:ahLst/>
              <a:cxnLst/>
              <a:rect r="r" b="b" t="t" l="l"/>
              <a:pathLst>
                <a:path h="2045716" w="4172458">
                  <a:moveTo>
                    <a:pt x="2886964" y="0"/>
                  </a:moveTo>
                  <a:lnTo>
                    <a:pt x="2531618" y="355346"/>
                  </a:lnTo>
                  <a:lnTo>
                    <a:pt x="862965" y="355346"/>
                  </a:lnTo>
                  <a:lnTo>
                    <a:pt x="862965" y="383286"/>
                  </a:lnTo>
                  <a:lnTo>
                    <a:pt x="2543175" y="383286"/>
                  </a:lnTo>
                  <a:lnTo>
                    <a:pt x="2926588" y="0"/>
                  </a:lnTo>
                  <a:close/>
                  <a:moveTo>
                    <a:pt x="3202051" y="398399"/>
                  </a:moveTo>
                  <a:lnTo>
                    <a:pt x="3202051" y="440309"/>
                  </a:lnTo>
                  <a:lnTo>
                    <a:pt x="4172458" y="440309"/>
                  </a:lnTo>
                  <a:lnTo>
                    <a:pt x="4172458" y="398399"/>
                  </a:lnTo>
                  <a:close/>
                  <a:moveTo>
                    <a:pt x="0" y="625856"/>
                  </a:moveTo>
                  <a:lnTo>
                    <a:pt x="0" y="667766"/>
                  </a:lnTo>
                  <a:lnTo>
                    <a:pt x="1765681" y="667766"/>
                  </a:lnTo>
                  <a:lnTo>
                    <a:pt x="2064258" y="966343"/>
                  </a:lnTo>
                  <a:lnTo>
                    <a:pt x="2629916" y="966343"/>
                  </a:lnTo>
                  <a:lnTo>
                    <a:pt x="2880106" y="716153"/>
                  </a:lnTo>
                  <a:lnTo>
                    <a:pt x="4172458" y="716153"/>
                  </a:lnTo>
                  <a:lnTo>
                    <a:pt x="4172458" y="674243"/>
                  </a:lnTo>
                  <a:lnTo>
                    <a:pt x="2862707" y="674243"/>
                  </a:lnTo>
                  <a:lnTo>
                    <a:pt x="2612517" y="924433"/>
                  </a:lnTo>
                  <a:lnTo>
                    <a:pt x="2081657" y="924433"/>
                  </a:lnTo>
                  <a:lnTo>
                    <a:pt x="1783207" y="625856"/>
                  </a:lnTo>
                  <a:close/>
                  <a:moveTo>
                    <a:pt x="3196336" y="973963"/>
                  </a:moveTo>
                  <a:lnTo>
                    <a:pt x="3192272" y="978027"/>
                  </a:lnTo>
                  <a:lnTo>
                    <a:pt x="2879217" y="1291082"/>
                  </a:lnTo>
                  <a:lnTo>
                    <a:pt x="1610868" y="1291082"/>
                  </a:lnTo>
                  <a:lnTo>
                    <a:pt x="1350010" y="1030351"/>
                  </a:lnTo>
                  <a:lnTo>
                    <a:pt x="1330198" y="1050163"/>
                  </a:lnTo>
                  <a:lnTo>
                    <a:pt x="1599184" y="1319149"/>
                  </a:lnTo>
                  <a:lnTo>
                    <a:pt x="2890774" y="1319149"/>
                  </a:lnTo>
                  <a:lnTo>
                    <a:pt x="2894838" y="1315085"/>
                  </a:lnTo>
                  <a:lnTo>
                    <a:pt x="3207893" y="1002030"/>
                  </a:lnTo>
                  <a:lnTo>
                    <a:pt x="4172458" y="1002030"/>
                  </a:lnTo>
                  <a:lnTo>
                    <a:pt x="4172458" y="974090"/>
                  </a:lnTo>
                  <a:close/>
                  <a:moveTo>
                    <a:pt x="3363468" y="1315339"/>
                  </a:moveTo>
                  <a:lnTo>
                    <a:pt x="3363468" y="1343279"/>
                  </a:lnTo>
                  <a:lnTo>
                    <a:pt x="4172458" y="1343279"/>
                  </a:lnTo>
                  <a:lnTo>
                    <a:pt x="4172458" y="1315339"/>
                  </a:lnTo>
                  <a:close/>
                  <a:moveTo>
                    <a:pt x="862965" y="1450721"/>
                  </a:moveTo>
                  <a:lnTo>
                    <a:pt x="862965" y="1492631"/>
                  </a:lnTo>
                  <a:lnTo>
                    <a:pt x="2528824" y="1492631"/>
                  </a:lnTo>
                  <a:lnTo>
                    <a:pt x="2935351" y="1899158"/>
                  </a:lnTo>
                  <a:lnTo>
                    <a:pt x="4025773" y="1899158"/>
                  </a:lnTo>
                  <a:lnTo>
                    <a:pt x="4172458" y="2045716"/>
                  </a:lnTo>
                  <a:lnTo>
                    <a:pt x="4172458" y="1986407"/>
                  </a:lnTo>
                  <a:lnTo>
                    <a:pt x="4043172" y="1857248"/>
                  </a:lnTo>
                  <a:lnTo>
                    <a:pt x="2952750" y="1857248"/>
                  </a:lnTo>
                  <a:lnTo>
                    <a:pt x="2546223" y="1450721"/>
                  </a:lnTo>
                  <a:close/>
                </a:path>
              </a:pathLst>
            </a:custGeom>
            <a:solidFill>
              <a:srgbClr val="C7D7F3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-652069" y="9620250"/>
            <a:ext cx="19022613" cy="4006046"/>
            <a:chOff x="0" y="0"/>
            <a:chExt cx="5010071" cy="105509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010071" cy="1055090"/>
            </a:xfrm>
            <a:custGeom>
              <a:avLst/>
              <a:gdLst/>
              <a:ahLst/>
              <a:cxnLst/>
              <a:rect r="r" b="b" t="t" l="l"/>
              <a:pathLst>
                <a:path h="1055090" w="5010071">
                  <a:moveTo>
                    <a:pt x="0" y="0"/>
                  </a:moveTo>
                  <a:lnTo>
                    <a:pt x="5010071" y="0"/>
                  </a:lnTo>
                  <a:lnTo>
                    <a:pt x="5010071" y="1055090"/>
                  </a:lnTo>
                  <a:lnTo>
                    <a:pt x="0" y="1055090"/>
                  </a:lnTo>
                  <a:close/>
                </a:path>
              </a:pathLst>
            </a:custGeom>
            <a:gradFill rotWithShape="true">
              <a:gsLst>
                <a:gs pos="0">
                  <a:srgbClr val="114168">
                    <a:alpha val="100000"/>
                  </a:srgbClr>
                </a:gs>
                <a:gs pos="100000">
                  <a:srgbClr val="09023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5010071" cy="10931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12"/>
                </a:lnSpc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-787283" y="-621201"/>
            <a:ext cx="4357106" cy="1984210"/>
            <a:chOff x="0" y="0"/>
            <a:chExt cx="4357103" cy="19842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3189986" y="434848"/>
              <a:ext cx="956310" cy="27940"/>
            </a:xfrm>
            <a:custGeom>
              <a:avLst/>
              <a:gdLst/>
              <a:ahLst/>
              <a:cxnLst/>
              <a:rect r="r" b="b" t="t" l="l"/>
              <a:pathLst>
                <a:path h="27940" w="956310">
                  <a:moveTo>
                    <a:pt x="956310" y="27940"/>
                  </a:moveTo>
                  <a:lnTo>
                    <a:pt x="0" y="27940"/>
                  </a:lnTo>
                  <a:lnTo>
                    <a:pt x="0" y="0"/>
                  </a:lnTo>
                  <a:lnTo>
                    <a:pt x="956310" y="0"/>
                  </a:lnTo>
                  <a:lnTo>
                    <a:pt x="956310" y="27940"/>
                  </a:ln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3321177" y="626999"/>
              <a:ext cx="243840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40">
                  <a:moveTo>
                    <a:pt x="121920" y="198755"/>
                  </a:moveTo>
                  <a:cubicBezTo>
                    <a:pt x="79502" y="198755"/>
                    <a:pt x="45085" y="164338"/>
                    <a:pt x="45085" y="121920"/>
                  </a:cubicBezTo>
                  <a:cubicBezTo>
                    <a:pt x="45085" y="79502"/>
                    <a:pt x="79502" y="45085"/>
                    <a:pt x="121920" y="45085"/>
                  </a:cubicBezTo>
                  <a:cubicBezTo>
                    <a:pt x="164338" y="45085"/>
                    <a:pt x="198755" y="79502"/>
                    <a:pt x="198755" y="121920"/>
                  </a:cubicBezTo>
                  <a:cubicBezTo>
                    <a:pt x="198755" y="164338"/>
                    <a:pt x="164338" y="198755"/>
                    <a:pt x="121920" y="198755"/>
                  </a:cubicBezTo>
                  <a:close/>
                  <a:moveTo>
                    <a:pt x="121920" y="0"/>
                  </a:moveTo>
                  <a:cubicBezTo>
                    <a:pt x="54610" y="0"/>
                    <a:pt x="0" y="54610"/>
                    <a:pt x="0" y="121920"/>
                  </a:cubicBezTo>
                  <a:cubicBezTo>
                    <a:pt x="0" y="189230"/>
                    <a:pt x="54610" y="243840"/>
                    <a:pt x="121920" y="243840"/>
                  </a:cubicBezTo>
                  <a:cubicBezTo>
                    <a:pt x="189230" y="243840"/>
                    <a:pt x="243840" y="189230"/>
                    <a:pt x="243840" y="121920"/>
                  </a:cubicBezTo>
                  <a:cubicBezTo>
                    <a:pt x="243840" y="54610"/>
                    <a:pt x="189230" y="0"/>
                    <a:pt x="121920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836295" y="523621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0"/>
                  </a:moveTo>
                  <a:cubicBezTo>
                    <a:pt x="37719" y="0"/>
                    <a:pt x="0" y="37592"/>
                    <a:pt x="0" y="84074"/>
                  </a:cubicBezTo>
                  <a:cubicBezTo>
                    <a:pt x="0" y="130556"/>
                    <a:pt x="37592" y="168148"/>
                    <a:pt x="84074" y="168148"/>
                  </a:cubicBezTo>
                  <a:cubicBezTo>
                    <a:pt x="130556" y="168148"/>
                    <a:pt x="168148" y="130556"/>
                    <a:pt x="168148" y="84074"/>
                  </a:cubicBezTo>
                  <a:cubicBezTo>
                    <a:pt x="168148" y="37592"/>
                    <a:pt x="130556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4125468" y="364744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0"/>
                  </a:moveTo>
                  <a:cubicBezTo>
                    <a:pt x="37719" y="0"/>
                    <a:pt x="0" y="37592"/>
                    <a:pt x="0" y="84074"/>
                  </a:cubicBezTo>
                  <a:cubicBezTo>
                    <a:pt x="0" y="130556"/>
                    <a:pt x="37592" y="168148"/>
                    <a:pt x="84074" y="168148"/>
                  </a:cubicBezTo>
                  <a:cubicBezTo>
                    <a:pt x="130556" y="168148"/>
                    <a:pt x="168148" y="130556"/>
                    <a:pt x="168148" y="84074"/>
                  </a:cubicBezTo>
                  <a:cubicBezTo>
                    <a:pt x="168148" y="37592"/>
                    <a:pt x="130556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2838196" y="176530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137033"/>
                  </a:moveTo>
                  <a:cubicBezTo>
                    <a:pt x="54737" y="137033"/>
                    <a:pt x="31115" y="113284"/>
                    <a:pt x="31115" y="84074"/>
                  </a:cubicBezTo>
                  <a:cubicBezTo>
                    <a:pt x="31115" y="54864"/>
                    <a:pt x="54864" y="31115"/>
                    <a:pt x="84074" y="31115"/>
                  </a:cubicBezTo>
                  <a:cubicBezTo>
                    <a:pt x="113284" y="31115"/>
                    <a:pt x="137033" y="54864"/>
                    <a:pt x="137033" y="84074"/>
                  </a:cubicBezTo>
                  <a:cubicBezTo>
                    <a:pt x="137033" y="113284"/>
                    <a:pt x="113284" y="137033"/>
                    <a:pt x="84074" y="137033"/>
                  </a:cubicBezTo>
                  <a:close/>
                  <a:moveTo>
                    <a:pt x="84074" y="0"/>
                  </a:moveTo>
                  <a:cubicBezTo>
                    <a:pt x="37592" y="0"/>
                    <a:pt x="0" y="37592"/>
                    <a:pt x="0" y="84074"/>
                  </a:cubicBezTo>
                  <a:cubicBezTo>
                    <a:pt x="0" y="130556"/>
                    <a:pt x="37592" y="168148"/>
                    <a:pt x="84074" y="168148"/>
                  </a:cubicBezTo>
                  <a:cubicBezTo>
                    <a:pt x="130556" y="168148"/>
                    <a:pt x="168148" y="130556"/>
                    <a:pt x="168148" y="84074"/>
                  </a:cubicBezTo>
                  <a:cubicBezTo>
                    <a:pt x="168148" y="37592"/>
                    <a:pt x="130556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3500" y="63500"/>
              <a:ext cx="3282950" cy="1235710"/>
            </a:xfrm>
            <a:custGeom>
              <a:avLst/>
              <a:gdLst/>
              <a:ahLst/>
              <a:cxnLst/>
              <a:rect r="r" b="b" t="t" l="l"/>
              <a:pathLst>
                <a:path h="1235710" w="3282950">
                  <a:moveTo>
                    <a:pt x="1333373" y="0"/>
                  </a:moveTo>
                  <a:lnTo>
                    <a:pt x="1516126" y="182753"/>
                  </a:lnTo>
                  <a:lnTo>
                    <a:pt x="2081784" y="182753"/>
                  </a:lnTo>
                  <a:lnTo>
                    <a:pt x="2264537" y="0"/>
                  </a:lnTo>
                  <a:lnTo>
                    <a:pt x="2205228" y="0"/>
                  </a:lnTo>
                  <a:lnTo>
                    <a:pt x="2064385" y="140716"/>
                  </a:lnTo>
                  <a:lnTo>
                    <a:pt x="1533398" y="140716"/>
                  </a:lnTo>
                  <a:lnTo>
                    <a:pt x="1392682" y="0"/>
                  </a:lnTo>
                  <a:close/>
                  <a:moveTo>
                    <a:pt x="0" y="190373"/>
                  </a:moveTo>
                  <a:lnTo>
                    <a:pt x="0" y="218313"/>
                  </a:lnTo>
                  <a:lnTo>
                    <a:pt x="938149" y="218313"/>
                  </a:lnTo>
                  <a:lnTo>
                    <a:pt x="1251204" y="531368"/>
                  </a:lnTo>
                  <a:lnTo>
                    <a:pt x="1255268" y="535432"/>
                  </a:lnTo>
                  <a:lnTo>
                    <a:pt x="2546731" y="535432"/>
                  </a:lnTo>
                  <a:lnTo>
                    <a:pt x="2815717" y="266446"/>
                  </a:lnTo>
                  <a:lnTo>
                    <a:pt x="2795905" y="246634"/>
                  </a:lnTo>
                  <a:lnTo>
                    <a:pt x="2535047" y="507492"/>
                  </a:lnTo>
                  <a:lnTo>
                    <a:pt x="1266825" y="507492"/>
                  </a:lnTo>
                  <a:lnTo>
                    <a:pt x="953770" y="194437"/>
                  </a:lnTo>
                  <a:lnTo>
                    <a:pt x="949706" y="190373"/>
                  </a:lnTo>
                  <a:close/>
                  <a:moveTo>
                    <a:pt x="0" y="531749"/>
                  </a:moveTo>
                  <a:lnTo>
                    <a:pt x="0" y="559689"/>
                  </a:lnTo>
                  <a:lnTo>
                    <a:pt x="782574" y="559689"/>
                  </a:lnTo>
                  <a:lnTo>
                    <a:pt x="782574" y="531749"/>
                  </a:lnTo>
                  <a:close/>
                  <a:moveTo>
                    <a:pt x="1599819" y="667131"/>
                  </a:moveTo>
                  <a:lnTo>
                    <a:pt x="1193292" y="1073658"/>
                  </a:lnTo>
                  <a:lnTo>
                    <a:pt x="102870" y="1073658"/>
                  </a:lnTo>
                  <a:lnTo>
                    <a:pt x="0" y="1176401"/>
                  </a:lnTo>
                  <a:lnTo>
                    <a:pt x="0" y="1235710"/>
                  </a:lnTo>
                  <a:lnTo>
                    <a:pt x="120269" y="1115568"/>
                  </a:lnTo>
                  <a:lnTo>
                    <a:pt x="1210691" y="1115568"/>
                  </a:lnTo>
                  <a:lnTo>
                    <a:pt x="1617218" y="709041"/>
                  </a:lnTo>
                  <a:lnTo>
                    <a:pt x="3282950" y="709041"/>
                  </a:lnTo>
                  <a:lnTo>
                    <a:pt x="3282950" y="667131"/>
                  </a:lnTo>
                  <a:close/>
                </a:path>
              </a:pathLst>
            </a:custGeom>
            <a:solidFill>
              <a:srgbClr val="C7D7F3"/>
            </a:solidFill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14132941" y="-1164313"/>
            <a:ext cx="4522365" cy="2767879"/>
            <a:chOff x="0" y="0"/>
            <a:chExt cx="4522368" cy="276787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349631" y="1218438"/>
              <a:ext cx="956310" cy="27940"/>
            </a:xfrm>
            <a:custGeom>
              <a:avLst/>
              <a:gdLst/>
              <a:ahLst/>
              <a:cxnLst/>
              <a:rect r="r" b="b" t="t" l="l"/>
              <a:pathLst>
                <a:path h="27940" w="956310">
                  <a:moveTo>
                    <a:pt x="0" y="27940"/>
                  </a:moveTo>
                  <a:lnTo>
                    <a:pt x="956310" y="27940"/>
                  </a:lnTo>
                  <a:lnTo>
                    <a:pt x="956310" y="0"/>
                  </a:lnTo>
                  <a:lnTo>
                    <a:pt x="0" y="0"/>
                  </a:lnTo>
                  <a:lnTo>
                    <a:pt x="0" y="27940"/>
                  </a:ln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63500" y="586359"/>
              <a:ext cx="239268" cy="243840"/>
            </a:xfrm>
            <a:custGeom>
              <a:avLst/>
              <a:gdLst/>
              <a:ahLst/>
              <a:cxnLst/>
              <a:rect r="r" b="b" t="t" l="l"/>
              <a:pathLst>
                <a:path h="243840" w="239268">
                  <a:moveTo>
                    <a:pt x="117348" y="45212"/>
                  </a:moveTo>
                  <a:cubicBezTo>
                    <a:pt x="159766" y="45212"/>
                    <a:pt x="194183" y="79629"/>
                    <a:pt x="194183" y="122047"/>
                  </a:cubicBezTo>
                  <a:cubicBezTo>
                    <a:pt x="194183" y="164465"/>
                    <a:pt x="159766" y="198882"/>
                    <a:pt x="117348" y="198882"/>
                  </a:cubicBezTo>
                  <a:cubicBezTo>
                    <a:pt x="74930" y="198882"/>
                    <a:pt x="40513" y="164465"/>
                    <a:pt x="40513" y="122047"/>
                  </a:cubicBezTo>
                  <a:cubicBezTo>
                    <a:pt x="40513" y="79629"/>
                    <a:pt x="74930" y="45212"/>
                    <a:pt x="117348" y="45212"/>
                  </a:cubicBezTo>
                  <a:close/>
                  <a:moveTo>
                    <a:pt x="117348" y="127"/>
                  </a:moveTo>
                  <a:cubicBezTo>
                    <a:pt x="61468" y="127"/>
                    <a:pt x="14478" y="37719"/>
                    <a:pt x="0" y="88900"/>
                  </a:cubicBezTo>
                  <a:lnTo>
                    <a:pt x="0" y="88900"/>
                  </a:lnTo>
                  <a:lnTo>
                    <a:pt x="0" y="155067"/>
                  </a:lnTo>
                  <a:cubicBezTo>
                    <a:pt x="14478" y="206248"/>
                    <a:pt x="61468" y="243840"/>
                    <a:pt x="117348" y="243840"/>
                  </a:cubicBezTo>
                  <a:cubicBezTo>
                    <a:pt x="184658" y="243840"/>
                    <a:pt x="239268" y="189230"/>
                    <a:pt x="239268" y="121920"/>
                  </a:cubicBezTo>
                  <a:cubicBezTo>
                    <a:pt x="239268" y="54610"/>
                    <a:pt x="184658" y="0"/>
                    <a:pt x="117348" y="0"/>
                  </a:cubicBezTo>
                  <a:close/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930783" y="1410716"/>
              <a:ext cx="243840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40">
                  <a:moveTo>
                    <a:pt x="121920" y="198755"/>
                  </a:moveTo>
                  <a:cubicBezTo>
                    <a:pt x="164338" y="198755"/>
                    <a:pt x="198755" y="164338"/>
                    <a:pt x="198755" y="121920"/>
                  </a:cubicBezTo>
                  <a:cubicBezTo>
                    <a:pt x="198755" y="79502"/>
                    <a:pt x="164338" y="45085"/>
                    <a:pt x="121920" y="45085"/>
                  </a:cubicBezTo>
                  <a:cubicBezTo>
                    <a:pt x="79502" y="45085"/>
                    <a:pt x="45085" y="79502"/>
                    <a:pt x="45085" y="121920"/>
                  </a:cubicBezTo>
                  <a:cubicBezTo>
                    <a:pt x="45085" y="164338"/>
                    <a:pt x="79502" y="198755"/>
                    <a:pt x="121920" y="198755"/>
                  </a:cubicBezTo>
                  <a:close/>
                  <a:moveTo>
                    <a:pt x="121920" y="0"/>
                  </a:moveTo>
                  <a:cubicBezTo>
                    <a:pt x="189230" y="0"/>
                    <a:pt x="243840" y="54610"/>
                    <a:pt x="243840" y="121920"/>
                  </a:cubicBezTo>
                  <a:cubicBezTo>
                    <a:pt x="243840" y="189230"/>
                    <a:pt x="189230" y="243840"/>
                    <a:pt x="121920" y="243840"/>
                  </a:cubicBezTo>
                  <a:cubicBezTo>
                    <a:pt x="54610" y="243840"/>
                    <a:pt x="0" y="189230"/>
                    <a:pt x="0" y="121920"/>
                  </a:cubicBezTo>
                  <a:cubicBezTo>
                    <a:pt x="0" y="54610"/>
                    <a:pt x="54610" y="0"/>
                    <a:pt x="121920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3491484" y="1307211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0"/>
                  </a:moveTo>
                  <a:cubicBezTo>
                    <a:pt x="130429" y="0"/>
                    <a:pt x="168148" y="37592"/>
                    <a:pt x="168148" y="84074"/>
                  </a:cubicBezTo>
                  <a:cubicBezTo>
                    <a:pt x="168148" y="130556"/>
                    <a:pt x="130556" y="168148"/>
                    <a:pt x="84074" y="168148"/>
                  </a:cubicBezTo>
                  <a:cubicBezTo>
                    <a:pt x="37592" y="168148"/>
                    <a:pt x="0" y="130556"/>
                    <a:pt x="0" y="84074"/>
                  </a:cubicBezTo>
                  <a:cubicBezTo>
                    <a:pt x="0" y="37592"/>
                    <a:pt x="37592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202311" y="1148461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0"/>
                  </a:moveTo>
                  <a:cubicBezTo>
                    <a:pt x="130429" y="0"/>
                    <a:pt x="168148" y="37592"/>
                    <a:pt x="168148" y="84074"/>
                  </a:cubicBezTo>
                  <a:cubicBezTo>
                    <a:pt x="168148" y="130556"/>
                    <a:pt x="130556" y="168148"/>
                    <a:pt x="84074" y="168148"/>
                  </a:cubicBezTo>
                  <a:cubicBezTo>
                    <a:pt x="37592" y="168148"/>
                    <a:pt x="0" y="130556"/>
                    <a:pt x="0" y="84074"/>
                  </a:cubicBezTo>
                  <a:cubicBezTo>
                    <a:pt x="0" y="37592"/>
                    <a:pt x="37592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006475" y="342646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0"/>
                  </a:moveTo>
                  <a:cubicBezTo>
                    <a:pt x="130429" y="0"/>
                    <a:pt x="168148" y="37592"/>
                    <a:pt x="168148" y="84074"/>
                  </a:cubicBezTo>
                  <a:cubicBezTo>
                    <a:pt x="168148" y="130556"/>
                    <a:pt x="130556" y="168148"/>
                    <a:pt x="84074" y="168148"/>
                  </a:cubicBezTo>
                  <a:cubicBezTo>
                    <a:pt x="37592" y="168148"/>
                    <a:pt x="0" y="130556"/>
                    <a:pt x="0" y="84074"/>
                  </a:cubicBezTo>
                  <a:cubicBezTo>
                    <a:pt x="0" y="37592"/>
                    <a:pt x="37592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489583" y="960120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137033"/>
                  </a:moveTo>
                  <a:cubicBezTo>
                    <a:pt x="113411" y="137033"/>
                    <a:pt x="137033" y="113284"/>
                    <a:pt x="137033" y="84074"/>
                  </a:cubicBezTo>
                  <a:cubicBezTo>
                    <a:pt x="137033" y="54864"/>
                    <a:pt x="113284" y="31115"/>
                    <a:pt x="84074" y="31115"/>
                  </a:cubicBezTo>
                  <a:cubicBezTo>
                    <a:pt x="54864" y="31115"/>
                    <a:pt x="31115" y="54864"/>
                    <a:pt x="31115" y="84074"/>
                  </a:cubicBezTo>
                  <a:cubicBezTo>
                    <a:pt x="31115" y="113284"/>
                    <a:pt x="54864" y="137033"/>
                    <a:pt x="84074" y="137033"/>
                  </a:cubicBezTo>
                  <a:close/>
                  <a:moveTo>
                    <a:pt x="84074" y="0"/>
                  </a:moveTo>
                  <a:cubicBezTo>
                    <a:pt x="130556" y="0"/>
                    <a:pt x="168148" y="37592"/>
                    <a:pt x="168148" y="84074"/>
                  </a:cubicBezTo>
                  <a:cubicBezTo>
                    <a:pt x="168148" y="130556"/>
                    <a:pt x="130556" y="168148"/>
                    <a:pt x="84074" y="168148"/>
                  </a:cubicBezTo>
                  <a:cubicBezTo>
                    <a:pt x="37592" y="168148"/>
                    <a:pt x="0" y="130556"/>
                    <a:pt x="0" y="84074"/>
                  </a:cubicBezTo>
                  <a:cubicBezTo>
                    <a:pt x="0" y="37592"/>
                    <a:pt x="37592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3343021" y="395605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137033"/>
                  </a:moveTo>
                  <a:cubicBezTo>
                    <a:pt x="113284" y="137033"/>
                    <a:pt x="137033" y="113284"/>
                    <a:pt x="137033" y="84074"/>
                  </a:cubicBezTo>
                  <a:cubicBezTo>
                    <a:pt x="137033" y="54864"/>
                    <a:pt x="113284" y="31115"/>
                    <a:pt x="84074" y="31115"/>
                  </a:cubicBezTo>
                  <a:cubicBezTo>
                    <a:pt x="54864" y="31115"/>
                    <a:pt x="31115" y="54864"/>
                    <a:pt x="31115" y="84074"/>
                  </a:cubicBezTo>
                  <a:cubicBezTo>
                    <a:pt x="31115" y="113284"/>
                    <a:pt x="54864" y="137033"/>
                    <a:pt x="84074" y="137033"/>
                  </a:cubicBezTo>
                  <a:close/>
                  <a:moveTo>
                    <a:pt x="84074" y="0"/>
                  </a:moveTo>
                  <a:cubicBezTo>
                    <a:pt x="130429" y="0"/>
                    <a:pt x="168148" y="37592"/>
                    <a:pt x="168148" y="84074"/>
                  </a:cubicBezTo>
                  <a:cubicBezTo>
                    <a:pt x="168148" y="130556"/>
                    <a:pt x="130556" y="168148"/>
                    <a:pt x="84074" y="168148"/>
                  </a:cubicBezTo>
                  <a:cubicBezTo>
                    <a:pt x="37592" y="168148"/>
                    <a:pt x="0" y="130556"/>
                    <a:pt x="0" y="84074"/>
                  </a:cubicBezTo>
                  <a:cubicBezTo>
                    <a:pt x="0" y="37592"/>
                    <a:pt x="37592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286385" y="63500"/>
              <a:ext cx="4172458" cy="2045716"/>
            </a:xfrm>
            <a:custGeom>
              <a:avLst/>
              <a:gdLst/>
              <a:ahLst/>
              <a:cxnLst/>
              <a:rect r="r" b="b" t="t" l="l"/>
              <a:pathLst>
                <a:path h="2045716" w="4172458">
                  <a:moveTo>
                    <a:pt x="2886964" y="0"/>
                  </a:moveTo>
                  <a:lnTo>
                    <a:pt x="2531618" y="355346"/>
                  </a:lnTo>
                  <a:lnTo>
                    <a:pt x="862965" y="355346"/>
                  </a:lnTo>
                  <a:lnTo>
                    <a:pt x="862965" y="383286"/>
                  </a:lnTo>
                  <a:lnTo>
                    <a:pt x="2543175" y="383286"/>
                  </a:lnTo>
                  <a:lnTo>
                    <a:pt x="2926588" y="0"/>
                  </a:lnTo>
                  <a:close/>
                  <a:moveTo>
                    <a:pt x="3202051" y="398399"/>
                  </a:moveTo>
                  <a:lnTo>
                    <a:pt x="3202051" y="440309"/>
                  </a:lnTo>
                  <a:lnTo>
                    <a:pt x="4172458" y="440309"/>
                  </a:lnTo>
                  <a:lnTo>
                    <a:pt x="4172458" y="398399"/>
                  </a:lnTo>
                  <a:close/>
                  <a:moveTo>
                    <a:pt x="0" y="625856"/>
                  </a:moveTo>
                  <a:lnTo>
                    <a:pt x="0" y="667766"/>
                  </a:lnTo>
                  <a:lnTo>
                    <a:pt x="1765681" y="667766"/>
                  </a:lnTo>
                  <a:lnTo>
                    <a:pt x="2064258" y="966343"/>
                  </a:lnTo>
                  <a:lnTo>
                    <a:pt x="2629916" y="966343"/>
                  </a:lnTo>
                  <a:lnTo>
                    <a:pt x="2880106" y="716153"/>
                  </a:lnTo>
                  <a:lnTo>
                    <a:pt x="4172458" y="716153"/>
                  </a:lnTo>
                  <a:lnTo>
                    <a:pt x="4172458" y="674243"/>
                  </a:lnTo>
                  <a:lnTo>
                    <a:pt x="2862707" y="674243"/>
                  </a:lnTo>
                  <a:lnTo>
                    <a:pt x="2612517" y="924433"/>
                  </a:lnTo>
                  <a:lnTo>
                    <a:pt x="2081657" y="924433"/>
                  </a:lnTo>
                  <a:lnTo>
                    <a:pt x="1783207" y="625856"/>
                  </a:lnTo>
                  <a:close/>
                  <a:moveTo>
                    <a:pt x="3196336" y="973963"/>
                  </a:moveTo>
                  <a:lnTo>
                    <a:pt x="3192272" y="978027"/>
                  </a:lnTo>
                  <a:lnTo>
                    <a:pt x="2879217" y="1291082"/>
                  </a:lnTo>
                  <a:lnTo>
                    <a:pt x="1610868" y="1291082"/>
                  </a:lnTo>
                  <a:lnTo>
                    <a:pt x="1350010" y="1030351"/>
                  </a:lnTo>
                  <a:lnTo>
                    <a:pt x="1330198" y="1050163"/>
                  </a:lnTo>
                  <a:lnTo>
                    <a:pt x="1599184" y="1319149"/>
                  </a:lnTo>
                  <a:lnTo>
                    <a:pt x="2890774" y="1319149"/>
                  </a:lnTo>
                  <a:lnTo>
                    <a:pt x="2894838" y="1315085"/>
                  </a:lnTo>
                  <a:lnTo>
                    <a:pt x="3207893" y="1002030"/>
                  </a:lnTo>
                  <a:lnTo>
                    <a:pt x="4172458" y="1002030"/>
                  </a:lnTo>
                  <a:lnTo>
                    <a:pt x="4172458" y="974090"/>
                  </a:lnTo>
                  <a:close/>
                  <a:moveTo>
                    <a:pt x="3363468" y="1315339"/>
                  </a:moveTo>
                  <a:lnTo>
                    <a:pt x="3363468" y="1343279"/>
                  </a:lnTo>
                  <a:lnTo>
                    <a:pt x="4172458" y="1343279"/>
                  </a:lnTo>
                  <a:lnTo>
                    <a:pt x="4172458" y="1315339"/>
                  </a:lnTo>
                  <a:close/>
                  <a:moveTo>
                    <a:pt x="862965" y="1450721"/>
                  </a:moveTo>
                  <a:lnTo>
                    <a:pt x="862965" y="1492631"/>
                  </a:lnTo>
                  <a:lnTo>
                    <a:pt x="2528824" y="1492631"/>
                  </a:lnTo>
                  <a:lnTo>
                    <a:pt x="2935351" y="1899158"/>
                  </a:lnTo>
                  <a:lnTo>
                    <a:pt x="4025773" y="1899158"/>
                  </a:lnTo>
                  <a:lnTo>
                    <a:pt x="4172458" y="2045716"/>
                  </a:lnTo>
                  <a:lnTo>
                    <a:pt x="4172458" y="1986407"/>
                  </a:lnTo>
                  <a:lnTo>
                    <a:pt x="4043172" y="1857248"/>
                  </a:lnTo>
                  <a:lnTo>
                    <a:pt x="2952750" y="1857248"/>
                  </a:lnTo>
                  <a:lnTo>
                    <a:pt x="2546223" y="1450721"/>
                  </a:lnTo>
                  <a:close/>
                </a:path>
              </a:pathLst>
            </a:custGeom>
            <a:solidFill>
              <a:srgbClr val="C7D7F3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-367306" y="9780865"/>
            <a:ext cx="19022613" cy="4006046"/>
            <a:chOff x="0" y="0"/>
            <a:chExt cx="5010071" cy="105509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010071" cy="1055090"/>
            </a:xfrm>
            <a:custGeom>
              <a:avLst/>
              <a:gdLst/>
              <a:ahLst/>
              <a:cxnLst/>
              <a:rect r="r" b="b" t="t" l="l"/>
              <a:pathLst>
                <a:path h="1055090" w="5010071">
                  <a:moveTo>
                    <a:pt x="0" y="0"/>
                  </a:moveTo>
                  <a:lnTo>
                    <a:pt x="5010071" y="0"/>
                  </a:lnTo>
                  <a:lnTo>
                    <a:pt x="5010071" y="1055090"/>
                  </a:lnTo>
                  <a:lnTo>
                    <a:pt x="0" y="1055090"/>
                  </a:lnTo>
                  <a:close/>
                </a:path>
              </a:pathLst>
            </a:custGeom>
            <a:gradFill rotWithShape="true">
              <a:gsLst>
                <a:gs pos="0">
                  <a:srgbClr val="114168">
                    <a:alpha val="100000"/>
                  </a:srgbClr>
                </a:gs>
                <a:gs pos="100000">
                  <a:srgbClr val="09023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010071" cy="10931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12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360258" y="143427"/>
            <a:ext cx="14442215" cy="9723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8"/>
              </a:lnSpc>
            </a:pPr>
            <a:r>
              <a:rPr lang="en-US" sz="2834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CUSTOMER BEHAVIOR INSIGHTS (UNIVARIATE &amp; BIVARIATE ANALYSIS)</a:t>
            </a:r>
          </a:p>
          <a:p>
            <a:pPr algn="l">
              <a:lnSpc>
                <a:spcPts val="2751"/>
              </a:lnSpc>
            </a:pPr>
          </a:p>
          <a:p>
            <a:pPr algn="l">
              <a:lnSpc>
                <a:spcPts val="2751"/>
              </a:lnSpc>
            </a:pPr>
            <a:r>
              <a:rPr lang="en-US" sz="1965" b="true">
                <a:solidFill>
                  <a:srgbClr val="FF914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Key Usage Patterns (Univariate)</a:t>
            </a:r>
          </a:p>
          <a:p>
            <a:pPr algn="l">
              <a:lnSpc>
                <a:spcPts val="2751"/>
              </a:lnSpc>
            </a:pPr>
          </a:p>
          <a:p>
            <a:pPr algn="l" marL="424308" indent="-212154" lvl="1">
              <a:lnSpc>
                <a:spcPts val="2751"/>
              </a:lnSpc>
              <a:buFont typeface="Arial"/>
              <a:buChar char="•"/>
            </a:pPr>
            <a:r>
              <a:rPr lang="en-US" sz="196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Most features show balanced (normal) distributions.</a:t>
            </a:r>
          </a:p>
          <a:p>
            <a:pPr algn="l" marL="424308" indent="-212154" lvl="1">
              <a:lnSpc>
                <a:spcPts val="2751"/>
              </a:lnSpc>
              <a:buFont typeface="Arial"/>
              <a:buChar char="•"/>
            </a:pPr>
            <a:r>
              <a:rPr lang="en-US" sz="196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Voicemail usage is low many users have zero messages.</a:t>
            </a:r>
          </a:p>
          <a:p>
            <a:pPr algn="l" marL="424308" indent="-212154" lvl="1">
              <a:lnSpc>
                <a:spcPts val="2751"/>
              </a:lnSpc>
              <a:buFont typeface="Arial"/>
              <a:buChar char="•"/>
            </a:pPr>
            <a:r>
              <a:rPr lang="en-US" sz="196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International and customer service calls are right-skewed , most users make few, but some make many.</a:t>
            </a:r>
          </a:p>
          <a:p>
            <a:pPr algn="l" marL="424308" indent="-212154" lvl="1">
              <a:lnSpc>
                <a:spcPts val="2751"/>
              </a:lnSpc>
              <a:buFont typeface="Arial"/>
              <a:buChar char="•"/>
            </a:pPr>
            <a:r>
              <a:rPr lang="en-US" sz="196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Area codes cluster into two main groups.</a:t>
            </a:r>
          </a:p>
          <a:p>
            <a:pPr algn="l">
              <a:lnSpc>
                <a:spcPts val="2751"/>
              </a:lnSpc>
            </a:pPr>
          </a:p>
          <a:p>
            <a:pPr algn="l">
              <a:lnSpc>
                <a:spcPts val="2751"/>
              </a:lnSpc>
            </a:pPr>
            <a:r>
              <a:rPr lang="en-US" sz="1965" b="true">
                <a:solidFill>
                  <a:srgbClr val="FF914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Churn vs. Behavior (Bivariate)</a:t>
            </a:r>
          </a:p>
          <a:p>
            <a:pPr algn="l">
              <a:lnSpc>
                <a:spcPts val="2751"/>
              </a:lnSpc>
            </a:pPr>
          </a:p>
          <a:p>
            <a:pPr algn="l" marL="424308" indent="-212154" lvl="1">
              <a:lnSpc>
                <a:spcPts val="2751"/>
              </a:lnSpc>
              <a:buFont typeface="Arial"/>
              <a:buChar char="•"/>
            </a:pPr>
            <a:r>
              <a:rPr lang="en-US" sz="196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6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International Plan → Higher churn</a:t>
            </a:r>
          </a:p>
          <a:p>
            <a:pPr algn="l" marL="424308" indent="-212154" lvl="1">
              <a:lnSpc>
                <a:spcPts val="2751"/>
              </a:lnSpc>
              <a:buFont typeface="Arial"/>
              <a:buChar char="•"/>
            </a:pPr>
            <a:r>
              <a:rPr lang="en-US" sz="196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6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Voice Mail Plan → Lower churn</a:t>
            </a:r>
          </a:p>
          <a:p>
            <a:pPr algn="l" marL="424308" indent="-212154" lvl="1">
              <a:lnSpc>
                <a:spcPts val="2751"/>
              </a:lnSpc>
              <a:buFont typeface="Arial"/>
              <a:buChar char="•"/>
            </a:pPr>
            <a:r>
              <a:rPr lang="en-US" sz="196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6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More customer service calls → More churn</a:t>
            </a:r>
          </a:p>
          <a:p>
            <a:pPr algn="l" marL="424308" indent="-212154" lvl="1">
              <a:lnSpc>
                <a:spcPts val="2751"/>
              </a:lnSpc>
              <a:buFont typeface="Arial"/>
              <a:buChar char="•"/>
            </a:pPr>
            <a:r>
              <a:rPr lang="en-US" sz="196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6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More voicemail messages → Less churn</a:t>
            </a:r>
          </a:p>
          <a:p>
            <a:pPr algn="l">
              <a:lnSpc>
                <a:spcPts val="2751"/>
              </a:lnSpc>
            </a:pPr>
          </a:p>
          <a:p>
            <a:pPr algn="l">
              <a:lnSpc>
                <a:spcPts val="2751"/>
              </a:lnSpc>
            </a:pPr>
            <a:r>
              <a:rPr lang="en-US" sz="1965" b="true">
                <a:solidFill>
                  <a:srgbClr val="FF914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1965" b="true">
                <a:solidFill>
                  <a:srgbClr val="FF914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Usage &amp; Charges</a:t>
            </a:r>
          </a:p>
          <a:p>
            <a:pPr algn="l">
              <a:lnSpc>
                <a:spcPts val="2751"/>
              </a:lnSpc>
            </a:pPr>
          </a:p>
          <a:p>
            <a:pPr algn="l" marL="424308" indent="-212154" lvl="1">
              <a:lnSpc>
                <a:spcPts val="2751"/>
              </a:lnSpc>
              <a:buFont typeface="Arial"/>
              <a:buChar char="•"/>
            </a:pPr>
            <a:r>
              <a:rPr lang="en-US" sz="196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Churners tend to have higher usage (day, evening, night, international) and higher charges.</a:t>
            </a:r>
          </a:p>
          <a:p>
            <a:pPr algn="l" marL="424308" indent="-212154" lvl="1">
              <a:lnSpc>
                <a:spcPts val="2751"/>
              </a:lnSpc>
              <a:buFont typeface="Arial"/>
              <a:buChar char="•"/>
            </a:pPr>
            <a:r>
              <a:rPr lang="en-US" sz="196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Call counts don’t differ much, but charges do — usage intensity matters.</a:t>
            </a:r>
          </a:p>
          <a:p>
            <a:pPr algn="l" marL="424308" indent="-212154" lvl="1">
              <a:lnSpc>
                <a:spcPts val="2751"/>
              </a:lnSpc>
              <a:buFont typeface="Arial"/>
              <a:buChar char="•"/>
            </a:pPr>
            <a:r>
              <a:rPr lang="en-US" sz="196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Account length is slightly shorter for churners, but not a strong factor.</a:t>
            </a:r>
          </a:p>
          <a:p>
            <a:pPr algn="l">
              <a:lnSpc>
                <a:spcPts val="2751"/>
              </a:lnSpc>
            </a:pPr>
          </a:p>
          <a:p>
            <a:pPr algn="l">
              <a:lnSpc>
                <a:spcPts val="2751"/>
              </a:lnSpc>
            </a:pPr>
            <a:r>
              <a:rPr lang="en-US" sz="1965" b="true">
                <a:solidFill>
                  <a:srgbClr val="FF914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1965" b="true">
                <a:solidFill>
                  <a:srgbClr val="FF914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Regional Insights (State-level)</a:t>
            </a:r>
          </a:p>
          <a:p>
            <a:pPr algn="l">
              <a:lnSpc>
                <a:spcPts val="2751"/>
              </a:lnSpc>
            </a:pPr>
          </a:p>
          <a:p>
            <a:pPr algn="l" marL="424308" indent="-212154" lvl="1">
              <a:lnSpc>
                <a:spcPts val="2751"/>
              </a:lnSpc>
              <a:buFont typeface="Arial"/>
              <a:buChar char="•"/>
            </a:pPr>
            <a:r>
              <a:rPr lang="en-US" sz="196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States like New Jersey, California, and Texas show above-average churn rates.</a:t>
            </a:r>
          </a:p>
          <a:p>
            <a:pPr algn="l" marL="424308" indent="-212154" lvl="1">
              <a:lnSpc>
                <a:spcPts val="2751"/>
              </a:lnSpc>
              <a:buFont typeface="Arial"/>
              <a:buChar char="•"/>
            </a:pPr>
            <a:r>
              <a:rPr lang="en-US" sz="196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Geography may influence churn due to competition, infrastructure, or regional preferences.</a:t>
            </a:r>
          </a:p>
          <a:p>
            <a:pPr algn="l" marL="424308" indent="-212154" lvl="1">
              <a:lnSpc>
                <a:spcPts val="2751"/>
              </a:lnSpc>
              <a:buFont typeface="Arial"/>
              <a:buChar char="•"/>
            </a:pPr>
            <a:r>
              <a:rPr lang="en-US" sz="196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These insights help in targeted business strategy, even if state is dropped in modeling.</a:t>
            </a:r>
          </a:p>
          <a:p>
            <a:pPr algn="ctr">
              <a:lnSpc>
                <a:spcPts val="275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167134" y="1362881"/>
            <a:ext cx="4836966" cy="3859600"/>
          </a:xfrm>
          <a:custGeom>
            <a:avLst/>
            <a:gdLst/>
            <a:ahLst/>
            <a:cxnLst/>
            <a:rect r="r" b="b" t="t" l="l"/>
            <a:pathLst>
              <a:path h="3859600" w="4836966">
                <a:moveTo>
                  <a:pt x="0" y="0"/>
                </a:moveTo>
                <a:lnTo>
                  <a:pt x="4836965" y="0"/>
                </a:lnTo>
                <a:lnTo>
                  <a:pt x="4836965" y="3859599"/>
                </a:lnTo>
                <a:lnTo>
                  <a:pt x="0" y="38595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167134" y="5478394"/>
            <a:ext cx="4836966" cy="3800473"/>
          </a:xfrm>
          <a:custGeom>
            <a:avLst/>
            <a:gdLst/>
            <a:ahLst/>
            <a:cxnLst/>
            <a:rect r="r" b="b" t="t" l="l"/>
            <a:pathLst>
              <a:path h="3800473" w="4836966">
                <a:moveTo>
                  <a:pt x="0" y="0"/>
                </a:moveTo>
                <a:lnTo>
                  <a:pt x="4836965" y="0"/>
                </a:lnTo>
                <a:lnTo>
                  <a:pt x="4836965" y="3800473"/>
                </a:lnTo>
                <a:lnTo>
                  <a:pt x="0" y="38004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00599" y="1566411"/>
            <a:ext cx="10192561" cy="7223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11"/>
              </a:lnSpc>
              <a:spcBef>
                <a:spcPct val="0"/>
              </a:spcBef>
            </a:pPr>
            <a:r>
              <a:rPr lang="en-US" b="true" sz="2079">
                <a:solidFill>
                  <a:srgbClr val="FF914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Total Charges vs. Churn </a:t>
            </a:r>
          </a:p>
          <a:p>
            <a:pPr algn="just">
              <a:lnSpc>
                <a:spcPts val="2911"/>
              </a:lnSpc>
              <a:spcBef>
                <a:spcPct val="0"/>
              </a:spcBef>
            </a:pPr>
          </a:p>
          <a:p>
            <a:pPr algn="just" marL="449071" indent="-224536" lvl="1">
              <a:lnSpc>
                <a:spcPts val="2911"/>
              </a:lnSpc>
              <a:buFont typeface="Arial"/>
              <a:buChar char="•"/>
            </a:pPr>
            <a:r>
              <a:rPr lang="en-US" sz="20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Customers who churned had higher total charges on average.</a:t>
            </a:r>
          </a:p>
          <a:p>
            <a:pPr algn="just" marL="449071" indent="-224536" lvl="1">
              <a:lnSpc>
                <a:spcPts val="2911"/>
              </a:lnSpc>
              <a:buFont typeface="Arial"/>
              <a:buChar char="•"/>
            </a:pPr>
            <a:r>
              <a:rPr lang="en-US" sz="20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Those who stayed tended to spend less overall.</a:t>
            </a:r>
          </a:p>
          <a:p>
            <a:pPr algn="just" marL="449071" indent="-224536" lvl="1">
              <a:lnSpc>
                <a:spcPts val="2911"/>
              </a:lnSpc>
              <a:buFont typeface="Arial"/>
              <a:buChar char="•"/>
            </a:pPr>
            <a:r>
              <a:rPr lang="en-US" sz="20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This suggests high spenders may be less satisfied.</a:t>
            </a:r>
          </a:p>
          <a:p>
            <a:pPr algn="just">
              <a:lnSpc>
                <a:spcPts val="2911"/>
              </a:lnSpc>
              <a:spcBef>
                <a:spcPct val="0"/>
              </a:spcBef>
            </a:pPr>
          </a:p>
          <a:p>
            <a:pPr algn="just">
              <a:lnSpc>
                <a:spcPts val="2911"/>
              </a:lnSpc>
              <a:spcBef>
                <a:spcPct val="0"/>
              </a:spcBef>
            </a:pPr>
            <a:r>
              <a:rPr lang="en-US" b="true" sz="2079">
                <a:solidFill>
                  <a:srgbClr val="FF914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Binned Charges Analysis</a:t>
            </a:r>
          </a:p>
          <a:p>
            <a:pPr algn="just">
              <a:lnSpc>
                <a:spcPts val="2911"/>
              </a:lnSpc>
              <a:spcBef>
                <a:spcPct val="0"/>
              </a:spcBef>
            </a:pPr>
          </a:p>
          <a:p>
            <a:pPr algn="just">
              <a:lnSpc>
                <a:spcPts val="2911"/>
              </a:lnSpc>
              <a:spcBef>
                <a:spcPct val="0"/>
              </a:spcBef>
            </a:pPr>
            <a:r>
              <a:rPr lang="en-US" sz="20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We grouped customers into 5 spending levels based on their total charges:</a:t>
            </a:r>
          </a:p>
          <a:p>
            <a:pPr algn="just" marL="449071" indent="-224536" lvl="1">
              <a:lnSpc>
                <a:spcPts val="2911"/>
              </a:lnSpc>
              <a:buFont typeface="Arial"/>
              <a:buChar char="•"/>
            </a:pPr>
            <a:r>
              <a:rPr lang="en-US" sz="20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Middle spenders (Bin 2) had the lowest churn — they may be more content.</a:t>
            </a:r>
          </a:p>
          <a:p>
            <a:pPr algn="just" marL="449071" indent="-224536" lvl="1">
              <a:lnSpc>
                <a:spcPts val="2911"/>
              </a:lnSpc>
              <a:buFont typeface="Arial"/>
              <a:buChar char="•"/>
            </a:pPr>
            <a:r>
              <a:rPr lang="en-US" sz="20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Highest spenders (Bin 4) had the highest churn rate — possible signs of dissatisfaction.</a:t>
            </a:r>
          </a:p>
          <a:p>
            <a:pPr algn="just" marL="449071" indent="-224536" lvl="1">
              <a:lnSpc>
                <a:spcPts val="2911"/>
              </a:lnSpc>
              <a:buFont typeface="Arial"/>
              <a:buChar char="•"/>
            </a:pPr>
            <a:r>
              <a:rPr lang="en-US" sz="20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Other groups (Bins 0, 1, 3) showed mixed churn patterns.</a:t>
            </a:r>
          </a:p>
          <a:p>
            <a:pPr algn="just">
              <a:lnSpc>
                <a:spcPts val="2911"/>
              </a:lnSpc>
              <a:spcBef>
                <a:spcPct val="0"/>
              </a:spcBef>
            </a:pPr>
          </a:p>
          <a:p>
            <a:pPr algn="just">
              <a:lnSpc>
                <a:spcPts val="2911"/>
              </a:lnSpc>
              <a:spcBef>
                <a:spcPct val="0"/>
              </a:spcBef>
            </a:pPr>
            <a:r>
              <a:rPr lang="en-US" b="true" sz="2079">
                <a:solidFill>
                  <a:srgbClr val="FF914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What This Tells Us:</a:t>
            </a:r>
          </a:p>
          <a:p>
            <a:pPr algn="just">
              <a:lnSpc>
                <a:spcPts val="2911"/>
              </a:lnSpc>
              <a:spcBef>
                <a:spcPct val="0"/>
              </a:spcBef>
            </a:pPr>
          </a:p>
          <a:p>
            <a:pPr algn="just">
              <a:lnSpc>
                <a:spcPts val="2911"/>
              </a:lnSpc>
              <a:spcBef>
                <a:spcPct val="0"/>
              </a:spcBef>
            </a:pPr>
            <a:r>
              <a:rPr lang="en-US" sz="20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The link between spending and churn isn’t simple.</a:t>
            </a:r>
          </a:p>
          <a:p>
            <a:pPr algn="just" marL="449071" indent="-224536" lvl="1">
              <a:lnSpc>
                <a:spcPts val="2911"/>
              </a:lnSpc>
              <a:buFont typeface="Arial"/>
              <a:buChar char="•"/>
            </a:pPr>
            <a:r>
              <a:rPr lang="en-US" sz="20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More spending ≠ more loyalty.</a:t>
            </a:r>
          </a:p>
          <a:p>
            <a:pPr algn="just" marL="449071" indent="-224536" lvl="1">
              <a:lnSpc>
                <a:spcPts val="2911"/>
              </a:lnSpc>
              <a:buFont typeface="Arial"/>
              <a:buChar char="•"/>
            </a:pPr>
            <a:r>
              <a:rPr lang="en-US" sz="20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Mid-level spenders are the most loyal group.</a:t>
            </a:r>
          </a:p>
        </p:txBody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-146047" y="-535604"/>
            <a:ext cx="4357106" cy="1984210"/>
            <a:chOff x="0" y="0"/>
            <a:chExt cx="4357103" cy="198421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3189986" y="434848"/>
              <a:ext cx="956310" cy="27940"/>
            </a:xfrm>
            <a:custGeom>
              <a:avLst/>
              <a:gdLst/>
              <a:ahLst/>
              <a:cxnLst/>
              <a:rect r="r" b="b" t="t" l="l"/>
              <a:pathLst>
                <a:path h="27940" w="956310">
                  <a:moveTo>
                    <a:pt x="956310" y="27940"/>
                  </a:moveTo>
                  <a:lnTo>
                    <a:pt x="0" y="27940"/>
                  </a:lnTo>
                  <a:lnTo>
                    <a:pt x="0" y="0"/>
                  </a:lnTo>
                  <a:lnTo>
                    <a:pt x="956310" y="0"/>
                  </a:lnTo>
                  <a:lnTo>
                    <a:pt x="956310" y="27940"/>
                  </a:ln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321177" y="626999"/>
              <a:ext cx="243840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40">
                  <a:moveTo>
                    <a:pt x="121920" y="198755"/>
                  </a:moveTo>
                  <a:cubicBezTo>
                    <a:pt x="79502" y="198755"/>
                    <a:pt x="45085" y="164338"/>
                    <a:pt x="45085" y="121920"/>
                  </a:cubicBezTo>
                  <a:cubicBezTo>
                    <a:pt x="45085" y="79502"/>
                    <a:pt x="79502" y="45085"/>
                    <a:pt x="121920" y="45085"/>
                  </a:cubicBezTo>
                  <a:cubicBezTo>
                    <a:pt x="164338" y="45085"/>
                    <a:pt x="198755" y="79502"/>
                    <a:pt x="198755" y="121920"/>
                  </a:cubicBezTo>
                  <a:cubicBezTo>
                    <a:pt x="198755" y="164338"/>
                    <a:pt x="164338" y="198755"/>
                    <a:pt x="121920" y="198755"/>
                  </a:cubicBezTo>
                  <a:close/>
                  <a:moveTo>
                    <a:pt x="121920" y="0"/>
                  </a:moveTo>
                  <a:cubicBezTo>
                    <a:pt x="54610" y="0"/>
                    <a:pt x="0" y="54610"/>
                    <a:pt x="0" y="121920"/>
                  </a:cubicBezTo>
                  <a:cubicBezTo>
                    <a:pt x="0" y="189230"/>
                    <a:pt x="54610" y="243840"/>
                    <a:pt x="121920" y="243840"/>
                  </a:cubicBezTo>
                  <a:cubicBezTo>
                    <a:pt x="189230" y="243840"/>
                    <a:pt x="243840" y="189230"/>
                    <a:pt x="243840" y="121920"/>
                  </a:cubicBezTo>
                  <a:cubicBezTo>
                    <a:pt x="243840" y="54610"/>
                    <a:pt x="189230" y="0"/>
                    <a:pt x="121920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836295" y="523621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0"/>
                  </a:moveTo>
                  <a:cubicBezTo>
                    <a:pt x="37719" y="0"/>
                    <a:pt x="0" y="37592"/>
                    <a:pt x="0" y="84074"/>
                  </a:cubicBezTo>
                  <a:cubicBezTo>
                    <a:pt x="0" y="130556"/>
                    <a:pt x="37592" y="168148"/>
                    <a:pt x="84074" y="168148"/>
                  </a:cubicBezTo>
                  <a:cubicBezTo>
                    <a:pt x="130556" y="168148"/>
                    <a:pt x="168148" y="130556"/>
                    <a:pt x="168148" y="84074"/>
                  </a:cubicBezTo>
                  <a:cubicBezTo>
                    <a:pt x="168148" y="37592"/>
                    <a:pt x="130556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4125468" y="364744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0"/>
                  </a:moveTo>
                  <a:cubicBezTo>
                    <a:pt x="37719" y="0"/>
                    <a:pt x="0" y="37592"/>
                    <a:pt x="0" y="84074"/>
                  </a:cubicBezTo>
                  <a:cubicBezTo>
                    <a:pt x="0" y="130556"/>
                    <a:pt x="37592" y="168148"/>
                    <a:pt x="84074" y="168148"/>
                  </a:cubicBezTo>
                  <a:cubicBezTo>
                    <a:pt x="130556" y="168148"/>
                    <a:pt x="168148" y="130556"/>
                    <a:pt x="168148" y="84074"/>
                  </a:cubicBezTo>
                  <a:cubicBezTo>
                    <a:pt x="168148" y="37592"/>
                    <a:pt x="130556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2838196" y="176530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137033"/>
                  </a:moveTo>
                  <a:cubicBezTo>
                    <a:pt x="54737" y="137033"/>
                    <a:pt x="31115" y="113284"/>
                    <a:pt x="31115" y="84074"/>
                  </a:cubicBezTo>
                  <a:cubicBezTo>
                    <a:pt x="31115" y="54864"/>
                    <a:pt x="54864" y="31115"/>
                    <a:pt x="84074" y="31115"/>
                  </a:cubicBezTo>
                  <a:cubicBezTo>
                    <a:pt x="113284" y="31115"/>
                    <a:pt x="137033" y="54864"/>
                    <a:pt x="137033" y="84074"/>
                  </a:cubicBezTo>
                  <a:cubicBezTo>
                    <a:pt x="137033" y="113284"/>
                    <a:pt x="113284" y="137033"/>
                    <a:pt x="84074" y="137033"/>
                  </a:cubicBezTo>
                  <a:close/>
                  <a:moveTo>
                    <a:pt x="84074" y="0"/>
                  </a:moveTo>
                  <a:cubicBezTo>
                    <a:pt x="37592" y="0"/>
                    <a:pt x="0" y="37592"/>
                    <a:pt x="0" y="84074"/>
                  </a:cubicBezTo>
                  <a:cubicBezTo>
                    <a:pt x="0" y="130556"/>
                    <a:pt x="37592" y="168148"/>
                    <a:pt x="84074" y="168148"/>
                  </a:cubicBezTo>
                  <a:cubicBezTo>
                    <a:pt x="130556" y="168148"/>
                    <a:pt x="168148" y="130556"/>
                    <a:pt x="168148" y="84074"/>
                  </a:cubicBezTo>
                  <a:cubicBezTo>
                    <a:pt x="168148" y="37592"/>
                    <a:pt x="130556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63500" y="63500"/>
              <a:ext cx="3282950" cy="1235710"/>
            </a:xfrm>
            <a:custGeom>
              <a:avLst/>
              <a:gdLst/>
              <a:ahLst/>
              <a:cxnLst/>
              <a:rect r="r" b="b" t="t" l="l"/>
              <a:pathLst>
                <a:path h="1235710" w="3282950">
                  <a:moveTo>
                    <a:pt x="1333373" y="0"/>
                  </a:moveTo>
                  <a:lnTo>
                    <a:pt x="1516126" y="182753"/>
                  </a:lnTo>
                  <a:lnTo>
                    <a:pt x="2081784" y="182753"/>
                  </a:lnTo>
                  <a:lnTo>
                    <a:pt x="2264537" y="0"/>
                  </a:lnTo>
                  <a:lnTo>
                    <a:pt x="2205228" y="0"/>
                  </a:lnTo>
                  <a:lnTo>
                    <a:pt x="2064385" y="140716"/>
                  </a:lnTo>
                  <a:lnTo>
                    <a:pt x="1533398" y="140716"/>
                  </a:lnTo>
                  <a:lnTo>
                    <a:pt x="1392682" y="0"/>
                  </a:lnTo>
                  <a:close/>
                  <a:moveTo>
                    <a:pt x="0" y="190373"/>
                  </a:moveTo>
                  <a:lnTo>
                    <a:pt x="0" y="218313"/>
                  </a:lnTo>
                  <a:lnTo>
                    <a:pt x="938149" y="218313"/>
                  </a:lnTo>
                  <a:lnTo>
                    <a:pt x="1251204" y="531368"/>
                  </a:lnTo>
                  <a:lnTo>
                    <a:pt x="1255268" y="535432"/>
                  </a:lnTo>
                  <a:lnTo>
                    <a:pt x="2546731" y="535432"/>
                  </a:lnTo>
                  <a:lnTo>
                    <a:pt x="2815717" y="266446"/>
                  </a:lnTo>
                  <a:lnTo>
                    <a:pt x="2795905" y="246634"/>
                  </a:lnTo>
                  <a:lnTo>
                    <a:pt x="2535047" y="507492"/>
                  </a:lnTo>
                  <a:lnTo>
                    <a:pt x="1266825" y="507492"/>
                  </a:lnTo>
                  <a:lnTo>
                    <a:pt x="953770" y="194437"/>
                  </a:lnTo>
                  <a:lnTo>
                    <a:pt x="949706" y="190373"/>
                  </a:lnTo>
                  <a:close/>
                  <a:moveTo>
                    <a:pt x="0" y="531749"/>
                  </a:moveTo>
                  <a:lnTo>
                    <a:pt x="0" y="559689"/>
                  </a:lnTo>
                  <a:lnTo>
                    <a:pt x="782574" y="559689"/>
                  </a:lnTo>
                  <a:lnTo>
                    <a:pt x="782574" y="531749"/>
                  </a:lnTo>
                  <a:close/>
                  <a:moveTo>
                    <a:pt x="1599819" y="667131"/>
                  </a:moveTo>
                  <a:lnTo>
                    <a:pt x="1193292" y="1073658"/>
                  </a:lnTo>
                  <a:lnTo>
                    <a:pt x="102870" y="1073658"/>
                  </a:lnTo>
                  <a:lnTo>
                    <a:pt x="0" y="1176401"/>
                  </a:lnTo>
                  <a:lnTo>
                    <a:pt x="0" y="1235710"/>
                  </a:lnTo>
                  <a:lnTo>
                    <a:pt x="120269" y="1115568"/>
                  </a:lnTo>
                  <a:lnTo>
                    <a:pt x="1210691" y="1115568"/>
                  </a:lnTo>
                  <a:lnTo>
                    <a:pt x="1617218" y="709041"/>
                  </a:lnTo>
                  <a:lnTo>
                    <a:pt x="3282950" y="709041"/>
                  </a:lnTo>
                  <a:lnTo>
                    <a:pt x="3282950" y="667131"/>
                  </a:lnTo>
                  <a:close/>
                </a:path>
              </a:pathLst>
            </a:custGeom>
            <a:solidFill>
              <a:srgbClr val="C7D7F3"/>
            </a:solidFill>
          </p:spPr>
        </p:sp>
      </p:grp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13746585" y="-535604"/>
            <a:ext cx="4522365" cy="2767879"/>
            <a:chOff x="0" y="0"/>
            <a:chExt cx="4522368" cy="276787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349631" y="1218438"/>
              <a:ext cx="956310" cy="27940"/>
            </a:xfrm>
            <a:custGeom>
              <a:avLst/>
              <a:gdLst/>
              <a:ahLst/>
              <a:cxnLst/>
              <a:rect r="r" b="b" t="t" l="l"/>
              <a:pathLst>
                <a:path h="27940" w="956310">
                  <a:moveTo>
                    <a:pt x="0" y="27940"/>
                  </a:moveTo>
                  <a:lnTo>
                    <a:pt x="956310" y="27940"/>
                  </a:lnTo>
                  <a:lnTo>
                    <a:pt x="956310" y="0"/>
                  </a:lnTo>
                  <a:lnTo>
                    <a:pt x="0" y="0"/>
                  </a:lnTo>
                  <a:lnTo>
                    <a:pt x="0" y="27940"/>
                  </a:ln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63500" y="586359"/>
              <a:ext cx="239268" cy="243840"/>
            </a:xfrm>
            <a:custGeom>
              <a:avLst/>
              <a:gdLst/>
              <a:ahLst/>
              <a:cxnLst/>
              <a:rect r="r" b="b" t="t" l="l"/>
              <a:pathLst>
                <a:path h="243840" w="239268">
                  <a:moveTo>
                    <a:pt x="117348" y="45212"/>
                  </a:moveTo>
                  <a:cubicBezTo>
                    <a:pt x="159766" y="45212"/>
                    <a:pt x="194183" y="79629"/>
                    <a:pt x="194183" y="122047"/>
                  </a:cubicBezTo>
                  <a:cubicBezTo>
                    <a:pt x="194183" y="164465"/>
                    <a:pt x="159766" y="198882"/>
                    <a:pt x="117348" y="198882"/>
                  </a:cubicBezTo>
                  <a:cubicBezTo>
                    <a:pt x="74930" y="198882"/>
                    <a:pt x="40513" y="164465"/>
                    <a:pt x="40513" y="122047"/>
                  </a:cubicBezTo>
                  <a:cubicBezTo>
                    <a:pt x="40513" y="79629"/>
                    <a:pt x="74930" y="45212"/>
                    <a:pt x="117348" y="45212"/>
                  </a:cubicBezTo>
                  <a:close/>
                  <a:moveTo>
                    <a:pt x="117348" y="127"/>
                  </a:moveTo>
                  <a:cubicBezTo>
                    <a:pt x="61468" y="127"/>
                    <a:pt x="14478" y="37719"/>
                    <a:pt x="0" y="88900"/>
                  </a:cubicBezTo>
                  <a:lnTo>
                    <a:pt x="0" y="88900"/>
                  </a:lnTo>
                  <a:lnTo>
                    <a:pt x="0" y="155067"/>
                  </a:lnTo>
                  <a:cubicBezTo>
                    <a:pt x="14478" y="206248"/>
                    <a:pt x="61468" y="243840"/>
                    <a:pt x="117348" y="243840"/>
                  </a:cubicBezTo>
                  <a:cubicBezTo>
                    <a:pt x="184658" y="243840"/>
                    <a:pt x="239268" y="189230"/>
                    <a:pt x="239268" y="121920"/>
                  </a:cubicBezTo>
                  <a:cubicBezTo>
                    <a:pt x="239268" y="54610"/>
                    <a:pt x="184658" y="0"/>
                    <a:pt x="117348" y="0"/>
                  </a:cubicBezTo>
                  <a:close/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930783" y="1410716"/>
              <a:ext cx="243840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40">
                  <a:moveTo>
                    <a:pt x="121920" y="198755"/>
                  </a:moveTo>
                  <a:cubicBezTo>
                    <a:pt x="164338" y="198755"/>
                    <a:pt x="198755" y="164338"/>
                    <a:pt x="198755" y="121920"/>
                  </a:cubicBezTo>
                  <a:cubicBezTo>
                    <a:pt x="198755" y="79502"/>
                    <a:pt x="164338" y="45085"/>
                    <a:pt x="121920" y="45085"/>
                  </a:cubicBezTo>
                  <a:cubicBezTo>
                    <a:pt x="79502" y="45085"/>
                    <a:pt x="45085" y="79502"/>
                    <a:pt x="45085" y="121920"/>
                  </a:cubicBezTo>
                  <a:cubicBezTo>
                    <a:pt x="45085" y="164338"/>
                    <a:pt x="79502" y="198755"/>
                    <a:pt x="121920" y="198755"/>
                  </a:cubicBezTo>
                  <a:close/>
                  <a:moveTo>
                    <a:pt x="121920" y="0"/>
                  </a:moveTo>
                  <a:cubicBezTo>
                    <a:pt x="189230" y="0"/>
                    <a:pt x="243840" y="54610"/>
                    <a:pt x="243840" y="121920"/>
                  </a:cubicBezTo>
                  <a:cubicBezTo>
                    <a:pt x="243840" y="189230"/>
                    <a:pt x="189230" y="243840"/>
                    <a:pt x="121920" y="243840"/>
                  </a:cubicBezTo>
                  <a:cubicBezTo>
                    <a:pt x="54610" y="243840"/>
                    <a:pt x="0" y="189230"/>
                    <a:pt x="0" y="121920"/>
                  </a:cubicBezTo>
                  <a:cubicBezTo>
                    <a:pt x="0" y="54610"/>
                    <a:pt x="54610" y="0"/>
                    <a:pt x="121920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3491484" y="1307211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0"/>
                  </a:moveTo>
                  <a:cubicBezTo>
                    <a:pt x="130429" y="0"/>
                    <a:pt x="168148" y="37592"/>
                    <a:pt x="168148" y="84074"/>
                  </a:cubicBezTo>
                  <a:cubicBezTo>
                    <a:pt x="168148" y="130556"/>
                    <a:pt x="130556" y="168148"/>
                    <a:pt x="84074" y="168148"/>
                  </a:cubicBezTo>
                  <a:cubicBezTo>
                    <a:pt x="37592" y="168148"/>
                    <a:pt x="0" y="130556"/>
                    <a:pt x="0" y="84074"/>
                  </a:cubicBezTo>
                  <a:cubicBezTo>
                    <a:pt x="0" y="37592"/>
                    <a:pt x="37592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202311" y="1148461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0"/>
                  </a:moveTo>
                  <a:cubicBezTo>
                    <a:pt x="130429" y="0"/>
                    <a:pt x="168148" y="37592"/>
                    <a:pt x="168148" y="84074"/>
                  </a:cubicBezTo>
                  <a:cubicBezTo>
                    <a:pt x="168148" y="130556"/>
                    <a:pt x="130556" y="168148"/>
                    <a:pt x="84074" y="168148"/>
                  </a:cubicBezTo>
                  <a:cubicBezTo>
                    <a:pt x="37592" y="168148"/>
                    <a:pt x="0" y="130556"/>
                    <a:pt x="0" y="84074"/>
                  </a:cubicBezTo>
                  <a:cubicBezTo>
                    <a:pt x="0" y="37592"/>
                    <a:pt x="37592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006475" y="342646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0"/>
                  </a:moveTo>
                  <a:cubicBezTo>
                    <a:pt x="130429" y="0"/>
                    <a:pt x="168148" y="37592"/>
                    <a:pt x="168148" y="84074"/>
                  </a:cubicBezTo>
                  <a:cubicBezTo>
                    <a:pt x="168148" y="130556"/>
                    <a:pt x="130556" y="168148"/>
                    <a:pt x="84074" y="168148"/>
                  </a:cubicBezTo>
                  <a:cubicBezTo>
                    <a:pt x="37592" y="168148"/>
                    <a:pt x="0" y="130556"/>
                    <a:pt x="0" y="84074"/>
                  </a:cubicBezTo>
                  <a:cubicBezTo>
                    <a:pt x="0" y="37592"/>
                    <a:pt x="37592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1489583" y="960120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137033"/>
                  </a:moveTo>
                  <a:cubicBezTo>
                    <a:pt x="113411" y="137033"/>
                    <a:pt x="137033" y="113284"/>
                    <a:pt x="137033" y="84074"/>
                  </a:cubicBezTo>
                  <a:cubicBezTo>
                    <a:pt x="137033" y="54864"/>
                    <a:pt x="113284" y="31115"/>
                    <a:pt x="84074" y="31115"/>
                  </a:cubicBezTo>
                  <a:cubicBezTo>
                    <a:pt x="54864" y="31115"/>
                    <a:pt x="31115" y="54864"/>
                    <a:pt x="31115" y="84074"/>
                  </a:cubicBezTo>
                  <a:cubicBezTo>
                    <a:pt x="31115" y="113284"/>
                    <a:pt x="54864" y="137033"/>
                    <a:pt x="84074" y="137033"/>
                  </a:cubicBezTo>
                  <a:close/>
                  <a:moveTo>
                    <a:pt x="84074" y="0"/>
                  </a:moveTo>
                  <a:cubicBezTo>
                    <a:pt x="130556" y="0"/>
                    <a:pt x="168148" y="37592"/>
                    <a:pt x="168148" y="84074"/>
                  </a:cubicBezTo>
                  <a:cubicBezTo>
                    <a:pt x="168148" y="130556"/>
                    <a:pt x="130556" y="168148"/>
                    <a:pt x="84074" y="168148"/>
                  </a:cubicBezTo>
                  <a:cubicBezTo>
                    <a:pt x="37592" y="168148"/>
                    <a:pt x="0" y="130556"/>
                    <a:pt x="0" y="84074"/>
                  </a:cubicBezTo>
                  <a:cubicBezTo>
                    <a:pt x="0" y="37592"/>
                    <a:pt x="37592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3343021" y="395605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137033"/>
                  </a:moveTo>
                  <a:cubicBezTo>
                    <a:pt x="113284" y="137033"/>
                    <a:pt x="137033" y="113284"/>
                    <a:pt x="137033" y="84074"/>
                  </a:cubicBezTo>
                  <a:cubicBezTo>
                    <a:pt x="137033" y="54864"/>
                    <a:pt x="113284" y="31115"/>
                    <a:pt x="84074" y="31115"/>
                  </a:cubicBezTo>
                  <a:cubicBezTo>
                    <a:pt x="54864" y="31115"/>
                    <a:pt x="31115" y="54864"/>
                    <a:pt x="31115" y="84074"/>
                  </a:cubicBezTo>
                  <a:cubicBezTo>
                    <a:pt x="31115" y="113284"/>
                    <a:pt x="54864" y="137033"/>
                    <a:pt x="84074" y="137033"/>
                  </a:cubicBezTo>
                  <a:close/>
                  <a:moveTo>
                    <a:pt x="84074" y="0"/>
                  </a:moveTo>
                  <a:cubicBezTo>
                    <a:pt x="130429" y="0"/>
                    <a:pt x="168148" y="37592"/>
                    <a:pt x="168148" y="84074"/>
                  </a:cubicBezTo>
                  <a:cubicBezTo>
                    <a:pt x="168148" y="130556"/>
                    <a:pt x="130556" y="168148"/>
                    <a:pt x="84074" y="168148"/>
                  </a:cubicBezTo>
                  <a:cubicBezTo>
                    <a:pt x="37592" y="168148"/>
                    <a:pt x="0" y="130556"/>
                    <a:pt x="0" y="84074"/>
                  </a:cubicBezTo>
                  <a:cubicBezTo>
                    <a:pt x="0" y="37592"/>
                    <a:pt x="37592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286385" y="63500"/>
              <a:ext cx="4172458" cy="2045716"/>
            </a:xfrm>
            <a:custGeom>
              <a:avLst/>
              <a:gdLst/>
              <a:ahLst/>
              <a:cxnLst/>
              <a:rect r="r" b="b" t="t" l="l"/>
              <a:pathLst>
                <a:path h="2045716" w="4172458">
                  <a:moveTo>
                    <a:pt x="2886964" y="0"/>
                  </a:moveTo>
                  <a:lnTo>
                    <a:pt x="2531618" y="355346"/>
                  </a:lnTo>
                  <a:lnTo>
                    <a:pt x="862965" y="355346"/>
                  </a:lnTo>
                  <a:lnTo>
                    <a:pt x="862965" y="383286"/>
                  </a:lnTo>
                  <a:lnTo>
                    <a:pt x="2543175" y="383286"/>
                  </a:lnTo>
                  <a:lnTo>
                    <a:pt x="2926588" y="0"/>
                  </a:lnTo>
                  <a:close/>
                  <a:moveTo>
                    <a:pt x="3202051" y="398399"/>
                  </a:moveTo>
                  <a:lnTo>
                    <a:pt x="3202051" y="440309"/>
                  </a:lnTo>
                  <a:lnTo>
                    <a:pt x="4172458" y="440309"/>
                  </a:lnTo>
                  <a:lnTo>
                    <a:pt x="4172458" y="398399"/>
                  </a:lnTo>
                  <a:close/>
                  <a:moveTo>
                    <a:pt x="0" y="625856"/>
                  </a:moveTo>
                  <a:lnTo>
                    <a:pt x="0" y="667766"/>
                  </a:lnTo>
                  <a:lnTo>
                    <a:pt x="1765681" y="667766"/>
                  </a:lnTo>
                  <a:lnTo>
                    <a:pt x="2064258" y="966343"/>
                  </a:lnTo>
                  <a:lnTo>
                    <a:pt x="2629916" y="966343"/>
                  </a:lnTo>
                  <a:lnTo>
                    <a:pt x="2880106" y="716153"/>
                  </a:lnTo>
                  <a:lnTo>
                    <a:pt x="4172458" y="716153"/>
                  </a:lnTo>
                  <a:lnTo>
                    <a:pt x="4172458" y="674243"/>
                  </a:lnTo>
                  <a:lnTo>
                    <a:pt x="2862707" y="674243"/>
                  </a:lnTo>
                  <a:lnTo>
                    <a:pt x="2612517" y="924433"/>
                  </a:lnTo>
                  <a:lnTo>
                    <a:pt x="2081657" y="924433"/>
                  </a:lnTo>
                  <a:lnTo>
                    <a:pt x="1783207" y="625856"/>
                  </a:lnTo>
                  <a:close/>
                  <a:moveTo>
                    <a:pt x="3196336" y="973963"/>
                  </a:moveTo>
                  <a:lnTo>
                    <a:pt x="3192272" y="978027"/>
                  </a:lnTo>
                  <a:lnTo>
                    <a:pt x="2879217" y="1291082"/>
                  </a:lnTo>
                  <a:lnTo>
                    <a:pt x="1610868" y="1291082"/>
                  </a:lnTo>
                  <a:lnTo>
                    <a:pt x="1350010" y="1030351"/>
                  </a:lnTo>
                  <a:lnTo>
                    <a:pt x="1330198" y="1050163"/>
                  </a:lnTo>
                  <a:lnTo>
                    <a:pt x="1599184" y="1319149"/>
                  </a:lnTo>
                  <a:lnTo>
                    <a:pt x="2890774" y="1319149"/>
                  </a:lnTo>
                  <a:lnTo>
                    <a:pt x="2894838" y="1315085"/>
                  </a:lnTo>
                  <a:lnTo>
                    <a:pt x="3207893" y="1002030"/>
                  </a:lnTo>
                  <a:lnTo>
                    <a:pt x="4172458" y="1002030"/>
                  </a:lnTo>
                  <a:lnTo>
                    <a:pt x="4172458" y="974090"/>
                  </a:lnTo>
                  <a:close/>
                  <a:moveTo>
                    <a:pt x="3363468" y="1315339"/>
                  </a:moveTo>
                  <a:lnTo>
                    <a:pt x="3363468" y="1343279"/>
                  </a:lnTo>
                  <a:lnTo>
                    <a:pt x="4172458" y="1343279"/>
                  </a:lnTo>
                  <a:lnTo>
                    <a:pt x="4172458" y="1315339"/>
                  </a:lnTo>
                  <a:close/>
                  <a:moveTo>
                    <a:pt x="862965" y="1450721"/>
                  </a:moveTo>
                  <a:lnTo>
                    <a:pt x="862965" y="1492631"/>
                  </a:lnTo>
                  <a:lnTo>
                    <a:pt x="2528824" y="1492631"/>
                  </a:lnTo>
                  <a:lnTo>
                    <a:pt x="2935351" y="1899158"/>
                  </a:lnTo>
                  <a:lnTo>
                    <a:pt x="4025773" y="1899158"/>
                  </a:lnTo>
                  <a:lnTo>
                    <a:pt x="4172458" y="2045716"/>
                  </a:lnTo>
                  <a:lnTo>
                    <a:pt x="4172458" y="1986407"/>
                  </a:lnTo>
                  <a:lnTo>
                    <a:pt x="4043172" y="1857248"/>
                  </a:lnTo>
                  <a:lnTo>
                    <a:pt x="2952750" y="1857248"/>
                  </a:lnTo>
                  <a:lnTo>
                    <a:pt x="2546223" y="1450721"/>
                  </a:lnTo>
                  <a:close/>
                </a:path>
              </a:pathLst>
            </a:custGeom>
            <a:solidFill>
              <a:srgbClr val="C7D7F3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-734613" y="562573"/>
            <a:ext cx="16481234" cy="5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RELATIONSHIP BETWEEN TOTAL CHARGES AND CUSTOMER CHURN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-734613" y="9523507"/>
            <a:ext cx="19022613" cy="4006046"/>
            <a:chOff x="0" y="0"/>
            <a:chExt cx="5010071" cy="105509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010071" cy="1055090"/>
            </a:xfrm>
            <a:custGeom>
              <a:avLst/>
              <a:gdLst/>
              <a:ahLst/>
              <a:cxnLst/>
              <a:rect r="r" b="b" t="t" l="l"/>
              <a:pathLst>
                <a:path h="1055090" w="5010071">
                  <a:moveTo>
                    <a:pt x="0" y="0"/>
                  </a:moveTo>
                  <a:lnTo>
                    <a:pt x="5010071" y="0"/>
                  </a:lnTo>
                  <a:lnTo>
                    <a:pt x="5010071" y="1055090"/>
                  </a:lnTo>
                  <a:lnTo>
                    <a:pt x="0" y="1055090"/>
                  </a:lnTo>
                  <a:close/>
                </a:path>
              </a:pathLst>
            </a:custGeom>
            <a:gradFill rotWithShape="true">
              <a:gsLst>
                <a:gs pos="0">
                  <a:srgbClr val="114168">
                    <a:alpha val="100000"/>
                  </a:srgbClr>
                </a:gs>
                <a:gs pos="100000">
                  <a:srgbClr val="09023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5010071" cy="10931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12"/>
                </a:lnSpc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14500" y="4644841"/>
            <a:ext cx="6628572" cy="5178984"/>
          </a:xfrm>
          <a:custGeom>
            <a:avLst/>
            <a:gdLst/>
            <a:ahLst/>
            <a:cxnLst/>
            <a:rect r="r" b="b" t="t" l="l"/>
            <a:pathLst>
              <a:path h="5178984" w="6628572">
                <a:moveTo>
                  <a:pt x="0" y="0"/>
                </a:moveTo>
                <a:lnTo>
                  <a:pt x="6628572" y="0"/>
                </a:lnTo>
                <a:lnTo>
                  <a:pt x="6628572" y="5178984"/>
                </a:lnTo>
                <a:lnTo>
                  <a:pt x="0" y="51789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964126" y="4644841"/>
            <a:ext cx="6602794" cy="5176590"/>
          </a:xfrm>
          <a:custGeom>
            <a:avLst/>
            <a:gdLst/>
            <a:ahLst/>
            <a:cxnLst/>
            <a:rect r="r" b="b" t="t" l="l"/>
            <a:pathLst>
              <a:path h="5176590" w="6602794">
                <a:moveTo>
                  <a:pt x="0" y="0"/>
                </a:moveTo>
                <a:lnTo>
                  <a:pt x="6602793" y="0"/>
                </a:lnTo>
                <a:lnTo>
                  <a:pt x="6602793" y="5176590"/>
                </a:lnTo>
                <a:lnTo>
                  <a:pt x="0" y="51765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34468" y="394634"/>
            <a:ext cx="9983391" cy="4183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CHURN BY SUBSCRIPTION PLAN</a:t>
            </a:r>
          </a:p>
          <a:p>
            <a:pPr algn="l">
              <a:lnSpc>
                <a:spcPts val="3220"/>
              </a:lnSpc>
              <a:spcBef>
                <a:spcPct val="0"/>
              </a:spcBef>
            </a:pPr>
          </a:p>
          <a:p>
            <a:pPr algn="l">
              <a:lnSpc>
                <a:spcPts val="2911"/>
              </a:lnSpc>
              <a:spcBef>
                <a:spcPct val="0"/>
              </a:spcBef>
            </a:pPr>
            <a:r>
              <a:rPr lang="en-US" sz="20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We looked at how churn differs for two customer plans:</a:t>
            </a:r>
          </a:p>
          <a:p>
            <a:pPr algn="l">
              <a:lnSpc>
                <a:spcPts val="2911"/>
              </a:lnSpc>
              <a:spcBef>
                <a:spcPct val="0"/>
              </a:spcBef>
            </a:pPr>
          </a:p>
          <a:p>
            <a:pPr algn="l">
              <a:lnSpc>
                <a:spcPts val="2911"/>
              </a:lnSpc>
              <a:spcBef>
                <a:spcPct val="0"/>
              </a:spcBef>
            </a:pPr>
            <a:r>
              <a:rPr lang="en-US" b="true" sz="2079">
                <a:solidFill>
                  <a:srgbClr val="FF914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International Plan</a:t>
            </a:r>
          </a:p>
          <a:p>
            <a:pPr algn="l">
              <a:lnSpc>
                <a:spcPts val="2911"/>
              </a:lnSpc>
              <a:spcBef>
                <a:spcPct val="0"/>
              </a:spcBef>
            </a:pPr>
            <a:r>
              <a:rPr lang="en-US" sz="20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Customers with an international plan churn more often than those without.</a:t>
            </a:r>
          </a:p>
          <a:p>
            <a:pPr algn="l">
              <a:lnSpc>
                <a:spcPts val="2911"/>
              </a:lnSpc>
              <a:spcBef>
                <a:spcPct val="0"/>
              </a:spcBef>
            </a:pPr>
            <a:r>
              <a:rPr lang="en-US" sz="20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This may point to lower satisfaction among international plan users.</a:t>
            </a:r>
          </a:p>
          <a:p>
            <a:pPr algn="l">
              <a:lnSpc>
                <a:spcPts val="2911"/>
              </a:lnSpc>
              <a:spcBef>
                <a:spcPct val="0"/>
              </a:spcBef>
            </a:pPr>
          </a:p>
          <a:p>
            <a:pPr algn="l">
              <a:lnSpc>
                <a:spcPts val="2911"/>
              </a:lnSpc>
              <a:spcBef>
                <a:spcPct val="0"/>
              </a:spcBef>
            </a:pPr>
            <a:r>
              <a:rPr lang="en-US" b="true" sz="2079">
                <a:solidFill>
                  <a:srgbClr val="FF914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Voice Mail Plan</a:t>
            </a:r>
          </a:p>
          <a:p>
            <a:pPr algn="l">
              <a:lnSpc>
                <a:spcPts val="2911"/>
              </a:lnSpc>
              <a:spcBef>
                <a:spcPct val="0"/>
              </a:spcBef>
            </a:pPr>
            <a:r>
              <a:rPr lang="en-US" sz="20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Customers with a voice mail plan churn less than those without.</a:t>
            </a:r>
          </a:p>
          <a:p>
            <a:pPr algn="l">
              <a:lnSpc>
                <a:spcPts val="2911"/>
              </a:lnSpc>
              <a:spcBef>
                <a:spcPct val="0"/>
              </a:spcBef>
            </a:pPr>
            <a:r>
              <a:rPr lang="en-US" sz="20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This could mean that value-added services help improve retention.</a:t>
            </a:r>
          </a:p>
        </p:txBody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-146047" y="-713453"/>
            <a:ext cx="4357106" cy="1984210"/>
            <a:chOff x="0" y="0"/>
            <a:chExt cx="4357103" cy="198421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3189986" y="434848"/>
              <a:ext cx="956310" cy="27940"/>
            </a:xfrm>
            <a:custGeom>
              <a:avLst/>
              <a:gdLst/>
              <a:ahLst/>
              <a:cxnLst/>
              <a:rect r="r" b="b" t="t" l="l"/>
              <a:pathLst>
                <a:path h="27940" w="956310">
                  <a:moveTo>
                    <a:pt x="956310" y="27940"/>
                  </a:moveTo>
                  <a:lnTo>
                    <a:pt x="0" y="27940"/>
                  </a:lnTo>
                  <a:lnTo>
                    <a:pt x="0" y="0"/>
                  </a:lnTo>
                  <a:lnTo>
                    <a:pt x="956310" y="0"/>
                  </a:lnTo>
                  <a:lnTo>
                    <a:pt x="956310" y="27940"/>
                  </a:ln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321177" y="626999"/>
              <a:ext cx="243840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40">
                  <a:moveTo>
                    <a:pt x="121920" y="198755"/>
                  </a:moveTo>
                  <a:cubicBezTo>
                    <a:pt x="79502" y="198755"/>
                    <a:pt x="45085" y="164338"/>
                    <a:pt x="45085" y="121920"/>
                  </a:cubicBezTo>
                  <a:cubicBezTo>
                    <a:pt x="45085" y="79502"/>
                    <a:pt x="79502" y="45085"/>
                    <a:pt x="121920" y="45085"/>
                  </a:cubicBezTo>
                  <a:cubicBezTo>
                    <a:pt x="164338" y="45085"/>
                    <a:pt x="198755" y="79502"/>
                    <a:pt x="198755" y="121920"/>
                  </a:cubicBezTo>
                  <a:cubicBezTo>
                    <a:pt x="198755" y="164338"/>
                    <a:pt x="164338" y="198755"/>
                    <a:pt x="121920" y="198755"/>
                  </a:cubicBezTo>
                  <a:close/>
                  <a:moveTo>
                    <a:pt x="121920" y="0"/>
                  </a:moveTo>
                  <a:cubicBezTo>
                    <a:pt x="54610" y="0"/>
                    <a:pt x="0" y="54610"/>
                    <a:pt x="0" y="121920"/>
                  </a:cubicBezTo>
                  <a:cubicBezTo>
                    <a:pt x="0" y="189230"/>
                    <a:pt x="54610" y="243840"/>
                    <a:pt x="121920" y="243840"/>
                  </a:cubicBezTo>
                  <a:cubicBezTo>
                    <a:pt x="189230" y="243840"/>
                    <a:pt x="243840" y="189230"/>
                    <a:pt x="243840" y="121920"/>
                  </a:cubicBezTo>
                  <a:cubicBezTo>
                    <a:pt x="243840" y="54610"/>
                    <a:pt x="189230" y="0"/>
                    <a:pt x="121920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836295" y="523621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0"/>
                  </a:moveTo>
                  <a:cubicBezTo>
                    <a:pt x="37719" y="0"/>
                    <a:pt x="0" y="37592"/>
                    <a:pt x="0" y="84074"/>
                  </a:cubicBezTo>
                  <a:cubicBezTo>
                    <a:pt x="0" y="130556"/>
                    <a:pt x="37592" y="168148"/>
                    <a:pt x="84074" y="168148"/>
                  </a:cubicBezTo>
                  <a:cubicBezTo>
                    <a:pt x="130556" y="168148"/>
                    <a:pt x="168148" y="130556"/>
                    <a:pt x="168148" y="84074"/>
                  </a:cubicBezTo>
                  <a:cubicBezTo>
                    <a:pt x="168148" y="37592"/>
                    <a:pt x="130556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4125468" y="364744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0"/>
                  </a:moveTo>
                  <a:cubicBezTo>
                    <a:pt x="37719" y="0"/>
                    <a:pt x="0" y="37592"/>
                    <a:pt x="0" y="84074"/>
                  </a:cubicBezTo>
                  <a:cubicBezTo>
                    <a:pt x="0" y="130556"/>
                    <a:pt x="37592" y="168148"/>
                    <a:pt x="84074" y="168148"/>
                  </a:cubicBezTo>
                  <a:cubicBezTo>
                    <a:pt x="130556" y="168148"/>
                    <a:pt x="168148" y="130556"/>
                    <a:pt x="168148" y="84074"/>
                  </a:cubicBezTo>
                  <a:cubicBezTo>
                    <a:pt x="168148" y="37592"/>
                    <a:pt x="130556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2838196" y="176530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137033"/>
                  </a:moveTo>
                  <a:cubicBezTo>
                    <a:pt x="54737" y="137033"/>
                    <a:pt x="31115" y="113284"/>
                    <a:pt x="31115" y="84074"/>
                  </a:cubicBezTo>
                  <a:cubicBezTo>
                    <a:pt x="31115" y="54864"/>
                    <a:pt x="54864" y="31115"/>
                    <a:pt x="84074" y="31115"/>
                  </a:cubicBezTo>
                  <a:cubicBezTo>
                    <a:pt x="113284" y="31115"/>
                    <a:pt x="137033" y="54864"/>
                    <a:pt x="137033" y="84074"/>
                  </a:cubicBezTo>
                  <a:cubicBezTo>
                    <a:pt x="137033" y="113284"/>
                    <a:pt x="113284" y="137033"/>
                    <a:pt x="84074" y="137033"/>
                  </a:cubicBezTo>
                  <a:close/>
                  <a:moveTo>
                    <a:pt x="84074" y="0"/>
                  </a:moveTo>
                  <a:cubicBezTo>
                    <a:pt x="37592" y="0"/>
                    <a:pt x="0" y="37592"/>
                    <a:pt x="0" y="84074"/>
                  </a:cubicBezTo>
                  <a:cubicBezTo>
                    <a:pt x="0" y="130556"/>
                    <a:pt x="37592" y="168148"/>
                    <a:pt x="84074" y="168148"/>
                  </a:cubicBezTo>
                  <a:cubicBezTo>
                    <a:pt x="130556" y="168148"/>
                    <a:pt x="168148" y="130556"/>
                    <a:pt x="168148" y="84074"/>
                  </a:cubicBezTo>
                  <a:cubicBezTo>
                    <a:pt x="168148" y="37592"/>
                    <a:pt x="130556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63500" y="63500"/>
              <a:ext cx="3282950" cy="1235710"/>
            </a:xfrm>
            <a:custGeom>
              <a:avLst/>
              <a:gdLst/>
              <a:ahLst/>
              <a:cxnLst/>
              <a:rect r="r" b="b" t="t" l="l"/>
              <a:pathLst>
                <a:path h="1235710" w="3282950">
                  <a:moveTo>
                    <a:pt x="1333373" y="0"/>
                  </a:moveTo>
                  <a:lnTo>
                    <a:pt x="1516126" y="182753"/>
                  </a:lnTo>
                  <a:lnTo>
                    <a:pt x="2081784" y="182753"/>
                  </a:lnTo>
                  <a:lnTo>
                    <a:pt x="2264537" y="0"/>
                  </a:lnTo>
                  <a:lnTo>
                    <a:pt x="2205228" y="0"/>
                  </a:lnTo>
                  <a:lnTo>
                    <a:pt x="2064385" y="140716"/>
                  </a:lnTo>
                  <a:lnTo>
                    <a:pt x="1533398" y="140716"/>
                  </a:lnTo>
                  <a:lnTo>
                    <a:pt x="1392682" y="0"/>
                  </a:lnTo>
                  <a:close/>
                  <a:moveTo>
                    <a:pt x="0" y="190373"/>
                  </a:moveTo>
                  <a:lnTo>
                    <a:pt x="0" y="218313"/>
                  </a:lnTo>
                  <a:lnTo>
                    <a:pt x="938149" y="218313"/>
                  </a:lnTo>
                  <a:lnTo>
                    <a:pt x="1251204" y="531368"/>
                  </a:lnTo>
                  <a:lnTo>
                    <a:pt x="1255268" y="535432"/>
                  </a:lnTo>
                  <a:lnTo>
                    <a:pt x="2546731" y="535432"/>
                  </a:lnTo>
                  <a:lnTo>
                    <a:pt x="2815717" y="266446"/>
                  </a:lnTo>
                  <a:lnTo>
                    <a:pt x="2795905" y="246634"/>
                  </a:lnTo>
                  <a:lnTo>
                    <a:pt x="2535047" y="507492"/>
                  </a:lnTo>
                  <a:lnTo>
                    <a:pt x="1266825" y="507492"/>
                  </a:lnTo>
                  <a:lnTo>
                    <a:pt x="953770" y="194437"/>
                  </a:lnTo>
                  <a:lnTo>
                    <a:pt x="949706" y="190373"/>
                  </a:lnTo>
                  <a:close/>
                  <a:moveTo>
                    <a:pt x="0" y="531749"/>
                  </a:moveTo>
                  <a:lnTo>
                    <a:pt x="0" y="559689"/>
                  </a:lnTo>
                  <a:lnTo>
                    <a:pt x="782574" y="559689"/>
                  </a:lnTo>
                  <a:lnTo>
                    <a:pt x="782574" y="531749"/>
                  </a:lnTo>
                  <a:close/>
                  <a:moveTo>
                    <a:pt x="1599819" y="667131"/>
                  </a:moveTo>
                  <a:lnTo>
                    <a:pt x="1193292" y="1073658"/>
                  </a:lnTo>
                  <a:lnTo>
                    <a:pt x="102870" y="1073658"/>
                  </a:lnTo>
                  <a:lnTo>
                    <a:pt x="0" y="1176401"/>
                  </a:lnTo>
                  <a:lnTo>
                    <a:pt x="0" y="1235710"/>
                  </a:lnTo>
                  <a:lnTo>
                    <a:pt x="120269" y="1115568"/>
                  </a:lnTo>
                  <a:lnTo>
                    <a:pt x="1210691" y="1115568"/>
                  </a:lnTo>
                  <a:lnTo>
                    <a:pt x="1617218" y="709041"/>
                  </a:lnTo>
                  <a:lnTo>
                    <a:pt x="3282950" y="709041"/>
                  </a:lnTo>
                  <a:lnTo>
                    <a:pt x="3282950" y="667131"/>
                  </a:lnTo>
                  <a:close/>
                </a:path>
              </a:pathLst>
            </a:custGeom>
            <a:solidFill>
              <a:srgbClr val="C7D7F3"/>
            </a:solidFill>
          </p:spPr>
        </p:sp>
      </p:grp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13746585" y="-713453"/>
            <a:ext cx="4522365" cy="2767879"/>
            <a:chOff x="0" y="0"/>
            <a:chExt cx="4522368" cy="276787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349631" y="1218438"/>
              <a:ext cx="956310" cy="27940"/>
            </a:xfrm>
            <a:custGeom>
              <a:avLst/>
              <a:gdLst/>
              <a:ahLst/>
              <a:cxnLst/>
              <a:rect r="r" b="b" t="t" l="l"/>
              <a:pathLst>
                <a:path h="27940" w="956310">
                  <a:moveTo>
                    <a:pt x="0" y="27940"/>
                  </a:moveTo>
                  <a:lnTo>
                    <a:pt x="956310" y="27940"/>
                  </a:lnTo>
                  <a:lnTo>
                    <a:pt x="956310" y="0"/>
                  </a:lnTo>
                  <a:lnTo>
                    <a:pt x="0" y="0"/>
                  </a:lnTo>
                  <a:lnTo>
                    <a:pt x="0" y="27940"/>
                  </a:ln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63500" y="586359"/>
              <a:ext cx="239268" cy="243840"/>
            </a:xfrm>
            <a:custGeom>
              <a:avLst/>
              <a:gdLst/>
              <a:ahLst/>
              <a:cxnLst/>
              <a:rect r="r" b="b" t="t" l="l"/>
              <a:pathLst>
                <a:path h="243840" w="239268">
                  <a:moveTo>
                    <a:pt x="117348" y="45212"/>
                  </a:moveTo>
                  <a:cubicBezTo>
                    <a:pt x="159766" y="45212"/>
                    <a:pt x="194183" y="79629"/>
                    <a:pt x="194183" y="122047"/>
                  </a:cubicBezTo>
                  <a:cubicBezTo>
                    <a:pt x="194183" y="164465"/>
                    <a:pt x="159766" y="198882"/>
                    <a:pt x="117348" y="198882"/>
                  </a:cubicBezTo>
                  <a:cubicBezTo>
                    <a:pt x="74930" y="198882"/>
                    <a:pt x="40513" y="164465"/>
                    <a:pt x="40513" y="122047"/>
                  </a:cubicBezTo>
                  <a:cubicBezTo>
                    <a:pt x="40513" y="79629"/>
                    <a:pt x="74930" y="45212"/>
                    <a:pt x="117348" y="45212"/>
                  </a:cubicBezTo>
                  <a:close/>
                  <a:moveTo>
                    <a:pt x="117348" y="127"/>
                  </a:moveTo>
                  <a:cubicBezTo>
                    <a:pt x="61468" y="127"/>
                    <a:pt x="14478" y="37719"/>
                    <a:pt x="0" y="88900"/>
                  </a:cubicBezTo>
                  <a:lnTo>
                    <a:pt x="0" y="88900"/>
                  </a:lnTo>
                  <a:lnTo>
                    <a:pt x="0" y="155067"/>
                  </a:lnTo>
                  <a:cubicBezTo>
                    <a:pt x="14478" y="206248"/>
                    <a:pt x="61468" y="243840"/>
                    <a:pt x="117348" y="243840"/>
                  </a:cubicBezTo>
                  <a:cubicBezTo>
                    <a:pt x="184658" y="243840"/>
                    <a:pt x="239268" y="189230"/>
                    <a:pt x="239268" y="121920"/>
                  </a:cubicBezTo>
                  <a:cubicBezTo>
                    <a:pt x="239268" y="54610"/>
                    <a:pt x="184658" y="0"/>
                    <a:pt x="117348" y="0"/>
                  </a:cubicBezTo>
                  <a:close/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930783" y="1410716"/>
              <a:ext cx="243840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40">
                  <a:moveTo>
                    <a:pt x="121920" y="198755"/>
                  </a:moveTo>
                  <a:cubicBezTo>
                    <a:pt x="164338" y="198755"/>
                    <a:pt x="198755" y="164338"/>
                    <a:pt x="198755" y="121920"/>
                  </a:cubicBezTo>
                  <a:cubicBezTo>
                    <a:pt x="198755" y="79502"/>
                    <a:pt x="164338" y="45085"/>
                    <a:pt x="121920" y="45085"/>
                  </a:cubicBezTo>
                  <a:cubicBezTo>
                    <a:pt x="79502" y="45085"/>
                    <a:pt x="45085" y="79502"/>
                    <a:pt x="45085" y="121920"/>
                  </a:cubicBezTo>
                  <a:cubicBezTo>
                    <a:pt x="45085" y="164338"/>
                    <a:pt x="79502" y="198755"/>
                    <a:pt x="121920" y="198755"/>
                  </a:cubicBezTo>
                  <a:close/>
                  <a:moveTo>
                    <a:pt x="121920" y="0"/>
                  </a:moveTo>
                  <a:cubicBezTo>
                    <a:pt x="189230" y="0"/>
                    <a:pt x="243840" y="54610"/>
                    <a:pt x="243840" y="121920"/>
                  </a:cubicBezTo>
                  <a:cubicBezTo>
                    <a:pt x="243840" y="189230"/>
                    <a:pt x="189230" y="243840"/>
                    <a:pt x="121920" y="243840"/>
                  </a:cubicBezTo>
                  <a:cubicBezTo>
                    <a:pt x="54610" y="243840"/>
                    <a:pt x="0" y="189230"/>
                    <a:pt x="0" y="121920"/>
                  </a:cubicBezTo>
                  <a:cubicBezTo>
                    <a:pt x="0" y="54610"/>
                    <a:pt x="54610" y="0"/>
                    <a:pt x="121920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3491484" y="1307211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0"/>
                  </a:moveTo>
                  <a:cubicBezTo>
                    <a:pt x="130429" y="0"/>
                    <a:pt x="168148" y="37592"/>
                    <a:pt x="168148" y="84074"/>
                  </a:cubicBezTo>
                  <a:cubicBezTo>
                    <a:pt x="168148" y="130556"/>
                    <a:pt x="130556" y="168148"/>
                    <a:pt x="84074" y="168148"/>
                  </a:cubicBezTo>
                  <a:cubicBezTo>
                    <a:pt x="37592" y="168148"/>
                    <a:pt x="0" y="130556"/>
                    <a:pt x="0" y="84074"/>
                  </a:cubicBezTo>
                  <a:cubicBezTo>
                    <a:pt x="0" y="37592"/>
                    <a:pt x="37592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202311" y="1148461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0"/>
                  </a:moveTo>
                  <a:cubicBezTo>
                    <a:pt x="130429" y="0"/>
                    <a:pt x="168148" y="37592"/>
                    <a:pt x="168148" y="84074"/>
                  </a:cubicBezTo>
                  <a:cubicBezTo>
                    <a:pt x="168148" y="130556"/>
                    <a:pt x="130556" y="168148"/>
                    <a:pt x="84074" y="168148"/>
                  </a:cubicBezTo>
                  <a:cubicBezTo>
                    <a:pt x="37592" y="168148"/>
                    <a:pt x="0" y="130556"/>
                    <a:pt x="0" y="84074"/>
                  </a:cubicBezTo>
                  <a:cubicBezTo>
                    <a:pt x="0" y="37592"/>
                    <a:pt x="37592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006475" y="342646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0"/>
                  </a:moveTo>
                  <a:cubicBezTo>
                    <a:pt x="130429" y="0"/>
                    <a:pt x="168148" y="37592"/>
                    <a:pt x="168148" y="84074"/>
                  </a:cubicBezTo>
                  <a:cubicBezTo>
                    <a:pt x="168148" y="130556"/>
                    <a:pt x="130556" y="168148"/>
                    <a:pt x="84074" y="168148"/>
                  </a:cubicBezTo>
                  <a:cubicBezTo>
                    <a:pt x="37592" y="168148"/>
                    <a:pt x="0" y="130556"/>
                    <a:pt x="0" y="84074"/>
                  </a:cubicBezTo>
                  <a:cubicBezTo>
                    <a:pt x="0" y="37592"/>
                    <a:pt x="37592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1489583" y="960120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137033"/>
                  </a:moveTo>
                  <a:cubicBezTo>
                    <a:pt x="113411" y="137033"/>
                    <a:pt x="137033" y="113284"/>
                    <a:pt x="137033" y="84074"/>
                  </a:cubicBezTo>
                  <a:cubicBezTo>
                    <a:pt x="137033" y="54864"/>
                    <a:pt x="113284" y="31115"/>
                    <a:pt x="84074" y="31115"/>
                  </a:cubicBezTo>
                  <a:cubicBezTo>
                    <a:pt x="54864" y="31115"/>
                    <a:pt x="31115" y="54864"/>
                    <a:pt x="31115" y="84074"/>
                  </a:cubicBezTo>
                  <a:cubicBezTo>
                    <a:pt x="31115" y="113284"/>
                    <a:pt x="54864" y="137033"/>
                    <a:pt x="84074" y="137033"/>
                  </a:cubicBezTo>
                  <a:close/>
                  <a:moveTo>
                    <a:pt x="84074" y="0"/>
                  </a:moveTo>
                  <a:cubicBezTo>
                    <a:pt x="130556" y="0"/>
                    <a:pt x="168148" y="37592"/>
                    <a:pt x="168148" y="84074"/>
                  </a:cubicBezTo>
                  <a:cubicBezTo>
                    <a:pt x="168148" y="130556"/>
                    <a:pt x="130556" y="168148"/>
                    <a:pt x="84074" y="168148"/>
                  </a:cubicBezTo>
                  <a:cubicBezTo>
                    <a:pt x="37592" y="168148"/>
                    <a:pt x="0" y="130556"/>
                    <a:pt x="0" y="84074"/>
                  </a:cubicBezTo>
                  <a:cubicBezTo>
                    <a:pt x="0" y="37592"/>
                    <a:pt x="37592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3343021" y="395605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137033"/>
                  </a:moveTo>
                  <a:cubicBezTo>
                    <a:pt x="113284" y="137033"/>
                    <a:pt x="137033" y="113284"/>
                    <a:pt x="137033" y="84074"/>
                  </a:cubicBezTo>
                  <a:cubicBezTo>
                    <a:pt x="137033" y="54864"/>
                    <a:pt x="113284" y="31115"/>
                    <a:pt x="84074" y="31115"/>
                  </a:cubicBezTo>
                  <a:cubicBezTo>
                    <a:pt x="54864" y="31115"/>
                    <a:pt x="31115" y="54864"/>
                    <a:pt x="31115" y="84074"/>
                  </a:cubicBezTo>
                  <a:cubicBezTo>
                    <a:pt x="31115" y="113284"/>
                    <a:pt x="54864" y="137033"/>
                    <a:pt x="84074" y="137033"/>
                  </a:cubicBezTo>
                  <a:close/>
                  <a:moveTo>
                    <a:pt x="84074" y="0"/>
                  </a:moveTo>
                  <a:cubicBezTo>
                    <a:pt x="130429" y="0"/>
                    <a:pt x="168148" y="37592"/>
                    <a:pt x="168148" y="84074"/>
                  </a:cubicBezTo>
                  <a:cubicBezTo>
                    <a:pt x="168148" y="130556"/>
                    <a:pt x="130556" y="168148"/>
                    <a:pt x="84074" y="168148"/>
                  </a:cubicBezTo>
                  <a:cubicBezTo>
                    <a:pt x="37592" y="168148"/>
                    <a:pt x="0" y="130556"/>
                    <a:pt x="0" y="84074"/>
                  </a:cubicBezTo>
                  <a:cubicBezTo>
                    <a:pt x="0" y="37592"/>
                    <a:pt x="37592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286385" y="63500"/>
              <a:ext cx="4172458" cy="2045716"/>
            </a:xfrm>
            <a:custGeom>
              <a:avLst/>
              <a:gdLst/>
              <a:ahLst/>
              <a:cxnLst/>
              <a:rect r="r" b="b" t="t" l="l"/>
              <a:pathLst>
                <a:path h="2045716" w="4172458">
                  <a:moveTo>
                    <a:pt x="2886964" y="0"/>
                  </a:moveTo>
                  <a:lnTo>
                    <a:pt x="2531618" y="355346"/>
                  </a:lnTo>
                  <a:lnTo>
                    <a:pt x="862965" y="355346"/>
                  </a:lnTo>
                  <a:lnTo>
                    <a:pt x="862965" y="383286"/>
                  </a:lnTo>
                  <a:lnTo>
                    <a:pt x="2543175" y="383286"/>
                  </a:lnTo>
                  <a:lnTo>
                    <a:pt x="2926588" y="0"/>
                  </a:lnTo>
                  <a:close/>
                  <a:moveTo>
                    <a:pt x="3202051" y="398399"/>
                  </a:moveTo>
                  <a:lnTo>
                    <a:pt x="3202051" y="440309"/>
                  </a:lnTo>
                  <a:lnTo>
                    <a:pt x="4172458" y="440309"/>
                  </a:lnTo>
                  <a:lnTo>
                    <a:pt x="4172458" y="398399"/>
                  </a:lnTo>
                  <a:close/>
                  <a:moveTo>
                    <a:pt x="0" y="625856"/>
                  </a:moveTo>
                  <a:lnTo>
                    <a:pt x="0" y="667766"/>
                  </a:lnTo>
                  <a:lnTo>
                    <a:pt x="1765681" y="667766"/>
                  </a:lnTo>
                  <a:lnTo>
                    <a:pt x="2064258" y="966343"/>
                  </a:lnTo>
                  <a:lnTo>
                    <a:pt x="2629916" y="966343"/>
                  </a:lnTo>
                  <a:lnTo>
                    <a:pt x="2880106" y="716153"/>
                  </a:lnTo>
                  <a:lnTo>
                    <a:pt x="4172458" y="716153"/>
                  </a:lnTo>
                  <a:lnTo>
                    <a:pt x="4172458" y="674243"/>
                  </a:lnTo>
                  <a:lnTo>
                    <a:pt x="2862707" y="674243"/>
                  </a:lnTo>
                  <a:lnTo>
                    <a:pt x="2612517" y="924433"/>
                  </a:lnTo>
                  <a:lnTo>
                    <a:pt x="2081657" y="924433"/>
                  </a:lnTo>
                  <a:lnTo>
                    <a:pt x="1783207" y="625856"/>
                  </a:lnTo>
                  <a:close/>
                  <a:moveTo>
                    <a:pt x="3196336" y="973963"/>
                  </a:moveTo>
                  <a:lnTo>
                    <a:pt x="3192272" y="978027"/>
                  </a:lnTo>
                  <a:lnTo>
                    <a:pt x="2879217" y="1291082"/>
                  </a:lnTo>
                  <a:lnTo>
                    <a:pt x="1610868" y="1291082"/>
                  </a:lnTo>
                  <a:lnTo>
                    <a:pt x="1350010" y="1030351"/>
                  </a:lnTo>
                  <a:lnTo>
                    <a:pt x="1330198" y="1050163"/>
                  </a:lnTo>
                  <a:lnTo>
                    <a:pt x="1599184" y="1319149"/>
                  </a:lnTo>
                  <a:lnTo>
                    <a:pt x="2890774" y="1319149"/>
                  </a:lnTo>
                  <a:lnTo>
                    <a:pt x="2894838" y="1315085"/>
                  </a:lnTo>
                  <a:lnTo>
                    <a:pt x="3207893" y="1002030"/>
                  </a:lnTo>
                  <a:lnTo>
                    <a:pt x="4172458" y="1002030"/>
                  </a:lnTo>
                  <a:lnTo>
                    <a:pt x="4172458" y="974090"/>
                  </a:lnTo>
                  <a:close/>
                  <a:moveTo>
                    <a:pt x="3363468" y="1315339"/>
                  </a:moveTo>
                  <a:lnTo>
                    <a:pt x="3363468" y="1343279"/>
                  </a:lnTo>
                  <a:lnTo>
                    <a:pt x="4172458" y="1343279"/>
                  </a:lnTo>
                  <a:lnTo>
                    <a:pt x="4172458" y="1315339"/>
                  </a:lnTo>
                  <a:close/>
                  <a:moveTo>
                    <a:pt x="862965" y="1450721"/>
                  </a:moveTo>
                  <a:lnTo>
                    <a:pt x="862965" y="1492631"/>
                  </a:lnTo>
                  <a:lnTo>
                    <a:pt x="2528824" y="1492631"/>
                  </a:lnTo>
                  <a:lnTo>
                    <a:pt x="2935351" y="1899158"/>
                  </a:lnTo>
                  <a:lnTo>
                    <a:pt x="4025773" y="1899158"/>
                  </a:lnTo>
                  <a:lnTo>
                    <a:pt x="4172458" y="2045716"/>
                  </a:lnTo>
                  <a:lnTo>
                    <a:pt x="4172458" y="1986407"/>
                  </a:lnTo>
                  <a:lnTo>
                    <a:pt x="4043172" y="1857248"/>
                  </a:lnTo>
                  <a:lnTo>
                    <a:pt x="2952750" y="1857248"/>
                  </a:lnTo>
                  <a:lnTo>
                    <a:pt x="2546223" y="1450721"/>
                  </a:lnTo>
                  <a:close/>
                </a:path>
              </a:pathLst>
            </a:custGeom>
            <a:solidFill>
              <a:srgbClr val="C7D7F3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-600141" y="9833350"/>
            <a:ext cx="19022613" cy="4006046"/>
            <a:chOff x="0" y="0"/>
            <a:chExt cx="5010071" cy="105509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010071" cy="1055090"/>
            </a:xfrm>
            <a:custGeom>
              <a:avLst/>
              <a:gdLst/>
              <a:ahLst/>
              <a:cxnLst/>
              <a:rect r="r" b="b" t="t" l="l"/>
              <a:pathLst>
                <a:path h="1055090" w="5010071">
                  <a:moveTo>
                    <a:pt x="0" y="0"/>
                  </a:moveTo>
                  <a:lnTo>
                    <a:pt x="5010071" y="0"/>
                  </a:lnTo>
                  <a:lnTo>
                    <a:pt x="5010071" y="1055090"/>
                  </a:lnTo>
                  <a:lnTo>
                    <a:pt x="0" y="1055090"/>
                  </a:lnTo>
                  <a:close/>
                </a:path>
              </a:pathLst>
            </a:custGeom>
            <a:gradFill rotWithShape="true">
              <a:gsLst>
                <a:gs pos="0">
                  <a:srgbClr val="114168">
                    <a:alpha val="100000"/>
                  </a:srgbClr>
                </a:gs>
                <a:gs pos="100000">
                  <a:srgbClr val="09023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5010071" cy="10931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12"/>
                </a:lnSpc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90204" y="503287"/>
            <a:ext cx="13110021" cy="9917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11"/>
              </a:lnSpc>
              <a:spcBef>
                <a:spcPct val="0"/>
              </a:spcBef>
            </a:pPr>
          </a:p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WHAT SETS CHURNED CUSTOMERS APART?</a:t>
            </a:r>
          </a:p>
          <a:p>
            <a:pPr algn="just">
              <a:lnSpc>
                <a:spcPts val="3220"/>
              </a:lnSpc>
              <a:spcBef>
                <a:spcPct val="0"/>
              </a:spcBef>
            </a:pPr>
          </a:p>
          <a:p>
            <a:pPr algn="just">
              <a:lnSpc>
                <a:spcPts val="3220"/>
              </a:lnSpc>
              <a:spcBef>
                <a:spcPct val="0"/>
              </a:spcBef>
            </a:pPr>
          </a:p>
          <a:p>
            <a:pPr algn="just">
              <a:lnSpc>
                <a:spcPts val="3220"/>
              </a:lnSpc>
              <a:spcBef>
                <a:spcPct val="0"/>
              </a:spcBef>
            </a:pPr>
          </a:p>
          <a:p>
            <a:pPr algn="just">
              <a:lnSpc>
                <a:spcPts val="3220"/>
              </a:lnSpc>
              <a:spcBef>
                <a:spcPct val="0"/>
              </a:spcBef>
            </a:pPr>
          </a:p>
          <a:p>
            <a:pPr algn="just">
              <a:lnSpc>
                <a:spcPts val="3220"/>
              </a:lnSpc>
              <a:spcBef>
                <a:spcPct val="0"/>
              </a:spcBef>
            </a:pPr>
          </a:p>
          <a:p>
            <a:pPr algn="just">
              <a:lnSpc>
                <a:spcPts val="2911"/>
              </a:lnSpc>
              <a:spcBef>
                <a:spcPct val="0"/>
              </a:spcBef>
            </a:pPr>
          </a:p>
          <a:p>
            <a:pPr algn="just">
              <a:lnSpc>
                <a:spcPts val="2911"/>
              </a:lnSpc>
              <a:spcBef>
                <a:spcPct val="0"/>
              </a:spcBef>
            </a:pPr>
          </a:p>
          <a:p>
            <a:pPr algn="just">
              <a:lnSpc>
                <a:spcPts val="2911"/>
              </a:lnSpc>
              <a:spcBef>
                <a:spcPct val="0"/>
              </a:spcBef>
            </a:pPr>
          </a:p>
          <a:p>
            <a:pPr algn="just">
              <a:lnSpc>
                <a:spcPts val="2911"/>
              </a:lnSpc>
              <a:spcBef>
                <a:spcPct val="0"/>
              </a:spcBef>
            </a:pPr>
          </a:p>
          <a:p>
            <a:pPr algn="just">
              <a:lnSpc>
                <a:spcPts val="2911"/>
              </a:lnSpc>
              <a:spcBef>
                <a:spcPct val="0"/>
              </a:spcBef>
            </a:pPr>
          </a:p>
          <a:p>
            <a:pPr algn="just">
              <a:lnSpc>
                <a:spcPts val="2911"/>
              </a:lnSpc>
              <a:spcBef>
                <a:spcPct val="0"/>
              </a:spcBef>
            </a:pPr>
          </a:p>
          <a:p>
            <a:pPr algn="just">
              <a:lnSpc>
                <a:spcPts val="2911"/>
              </a:lnSpc>
              <a:spcBef>
                <a:spcPct val="0"/>
              </a:spcBef>
            </a:pPr>
            <a:r>
              <a:rPr lang="en-US" b="true" sz="2079">
                <a:solidFill>
                  <a:srgbClr val="FF914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Talk Time:</a:t>
            </a:r>
          </a:p>
          <a:p>
            <a:pPr algn="just">
              <a:lnSpc>
                <a:spcPts val="2911"/>
              </a:lnSpc>
              <a:spcBef>
                <a:spcPct val="0"/>
              </a:spcBef>
            </a:pPr>
            <a:r>
              <a:rPr lang="en-US" sz="20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Customers who left used more daytime minutes. This might point to frustration with costs or value.</a:t>
            </a:r>
          </a:p>
          <a:p>
            <a:pPr algn="just">
              <a:lnSpc>
                <a:spcPts val="2911"/>
              </a:lnSpc>
              <a:spcBef>
                <a:spcPct val="0"/>
              </a:spcBef>
            </a:pPr>
          </a:p>
          <a:p>
            <a:pPr algn="just">
              <a:lnSpc>
                <a:spcPts val="2911"/>
              </a:lnSpc>
              <a:spcBef>
                <a:spcPct val="0"/>
              </a:spcBef>
            </a:pPr>
            <a:r>
              <a:rPr lang="en-US" b="true" sz="2079">
                <a:solidFill>
                  <a:srgbClr val="FF914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Higher Charges:</a:t>
            </a:r>
          </a:p>
          <a:p>
            <a:pPr algn="just">
              <a:lnSpc>
                <a:spcPts val="2911"/>
              </a:lnSpc>
              <a:spcBef>
                <a:spcPct val="0"/>
              </a:spcBef>
            </a:pPr>
            <a:r>
              <a:rPr lang="en-US" sz="20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Those who churned had larger phone bills. Spending more might have led to dissatisfaction.</a:t>
            </a:r>
          </a:p>
          <a:p>
            <a:pPr algn="just">
              <a:lnSpc>
                <a:spcPts val="2911"/>
              </a:lnSpc>
              <a:spcBef>
                <a:spcPct val="0"/>
              </a:spcBef>
            </a:pPr>
          </a:p>
          <a:p>
            <a:pPr algn="just">
              <a:lnSpc>
                <a:spcPts val="2911"/>
              </a:lnSpc>
              <a:spcBef>
                <a:spcPct val="0"/>
              </a:spcBef>
            </a:pPr>
            <a:r>
              <a:rPr lang="en-US" b="true" sz="2079">
                <a:solidFill>
                  <a:srgbClr val="FF914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More Customer Service Calls:</a:t>
            </a:r>
          </a:p>
          <a:p>
            <a:pPr algn="just">
              <a:lnSpc>
                <a:spcPts val="2911"/>
              </a:lnSpc>
              <a:spcBef>
                <a:spcPct val="0"/>
              </a:spcBef>
            </a:pPr>
            <a:r>
              <a:rPr lang="en-US" sz="20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They reached out for help more often, which could mean they were facing unresolved issues.</a:t>
            </a:r>
          </a:p>
          <a:p>
            <a:pPr algn="just">
              <a:lnSpc>
                <a:spcPts val="2911"/>
              </a:lnSpc>
              <a:spcBef>
                <a:spcPct val="0"/>
              </a:spcBef>
            </a:pPr>
          </a:p>
          <a:p>
            <a:pPr algn="just">
              <a:lnSpc>
                <a:spcPts val="2911"/>
              </a:lnSpc>
              <a:spcBef>
                <a:spcPct val="0"/>
              </a:spcBef>
            </a:pPr>
            <a:r>
              <a:rPr lang="en-US" b="true" sz="2079">
                <a:solidFill>
                  <a:srgbClr val="FF914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Time with the Company:</a:t>
            </a:r>
          </a:p>
          <a:p>
            <a:pPr algn="just">
              <a:lnSpc>
                <a:spcPts val="2911"/>
              </a:lnSpc>
              <a:spcBef>
                <a:spcPct val="0"/>
              </a:spcBef>
            </a:pPr>
            <a:r>
              <a:rPr lang="en-US" sz="20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People who stayed had slightly longer relationships and made more regular calls.</a:t>
            </a:r>
          </a:p>
          <a:p>
            <a:pPr algn="just">
              <a:lnSpc>
                <a:spcPts val="2911"/>
              </a:lnSpc>
              <a:spcBef>
                <a:spcPct val="0"/>
              </a:spcBef>
            </a:pPr>
          </a:p>
          <a:p>
            <a:pPr algn="just">
              <a:lnSpc>
                <a:spcPts val="4200"/>
              </a:lnSpc>
              <a:spcBef>
                <a:spcPct val="0"/>
              </a:spcBef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90204" y="1511315"/>
            <a:ext cx="10610783" cy="3861687"/>
          </a:xfrm>
          <a:custGeom>
            <a:avLst/>
            <a:gdLst/>
            <a:ahLst/>
            <a:cxnLst/>
            <a:rect r="r" b="b" t="t" l="l"/>
            <a:pathLst>
              <a:path h="3861687" w="10610783">
                <a:moveTo>
                  <a:pt x="0" y="0"/>
                </a:moveTo>
                <a:lnTo>
                  <a:pt x="10610783" y="0"/>
                </a:lnTo>
                <a:lnTo>
                  <a:pt x="10610783" y="3861687"/>
                </a:lnTo>
                <a:lnTo>
                  <a:pt x="0" y="38616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0" y="-472895"/>
            <a:ext cx="4357106" cy="1984210"/>
            <a:chOff x="0" y="0"/>
            <a:chExt cx="4357103" cy="198421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3189986" y="434848"/>
              <a:ext cx="956310" cy="27940"/>
            </a:xfrm>
            <a:custGeom>
              <a:avLst/>
              <a:gdLst/>
              <a:ahLst/>
              <a:cxnLst/>
              <a:rect r="r" b="b" t="t" l="l"/>
              <a:pathLst>
                <a:path h="27940" w="956310">
                  <a:moveTo>
                    <a:pt x="956310" y="27940"/>
                  </a:moveTo>
                  <a:lnTo>
                    <a:pt x="0" y="27940"/>
                  </a:lnTo>
                  <a:lnTo>
                    <a:pt x="0" y="0"/>
                  </a:lnTo>
                  <a:lnTo>
                    <a:pt x="956310" y="0"/>
                  </a:lnTo>
                  <a:lnTo>
                    <a:pt x="956310" y="27940"/>
                  </a:ln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321177" y="626999"/>
              <a:ext cx="243840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40">
                  <a:moveTo>
                    <a:pt x="121920" y="198755"/>
                  </a:moveTo>
                  <a:cubicBezTo>
                    <a:pt x="79502" y="198755"/>
                    <a:pt x="45085" y="164338"/>
                    <a:pt x="45085" y="121920"/>
                  </a:cubicBezTo>
                  <a:cubicBezTo>
                    <a:pt x="45085" y="79502"/>
                    <a:pt x="79502" y="45085"/>
                    <a:pt x="121920" y="45085"/>
                  </a:cubicBezTo>
                  <a:cubicBezTo>
                    <a:pt x="164338" y="45085"/>
                    <a:pt x="198755" y="79502"/>
                    <a:pt x="198755" y="121920"/>
                  </a:cubicBezTo>
                  <a:cubicBezTo>
                    <a:pt x="198755" y="164338"/>
                    <a:pt x="164338" y="198755"/>
                    <a:pt x="121920" y="198755"/>
                  </a:cubicBezTo>
                  <a:close/>
                  <a:moveTo>
                    <a:pt x="121920" y="0"/>
                  </a:moveTo>
                  <a:cubicBezTo>
                    <a:pt x="54610" y="0"/>
                    <a:pt x="0" y="54610"/>
                    <a:pt x="0" y="121920"/>
                  </a:cubicBezTo>
                  <a:cubicBezTo>
                    <a:pt x="0" y="189230"/>
                    <a:pt x="54610" y="243840"/>
                    <a:pt x="121920" y="243840"/>
                  </a:cubicBezTo>
                  <a:cubicBezTo>
                    <a:pt x="189230" y="243840"/>
                    <a:pt x="243840" y="189230"/>
                    <a:pt x="243840" y="121920"/>
                  </a:cubicBezTo>
                  <a:cubicBezTo>
                    <a:pt x="243840" y="54610"/>
                    <a:pt x="189230" y="0"/>
                    <a:pt x="121920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836295" y="523621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0"/>
                  </a:moveTo>
                  <a:cubicBezTo>
                    <a:pt x="37719" y="0"/>
                    <a:pt x="0" y="37592"/>
                    <a:pt x="0" y="84074"/>
                  </a:cubicBezTo>
                  <a:cubicBezTo>
                    <a:pt x="0" y="130556"/>
                    <a:pt x="37592" y="168148"/>
                    <a:pt x="84074" y="168148"/>
                  </a:cubicBezTo>
                  <a:cubicBezTo>
                    <a:pt x="130556" y="168148"/>
                    <a:pt x="168148" y="130556"/>
                    <a:pt x="168148" y="84074"/>
                  </a:cubicBezTo>
                  <a:cubicBezTo>
                    <a:pt x="168148" y="37592"/>
                    <a:pt x="130556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4125468" y="364744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0"/>
                  </a:moveTo>
                  <a:cubicBezTo>
                    <a:pt x="37719" y="0"/>
                    <a:pt x="0" y="37592"/>
                    <a:pt x="0" y="84074"/>
                  </a:cubicBezTo>
                  <a:cubicBezTo>
                    <a:pt x="0" y="130556"/>
                    <a:pt x="37592" y="168148"/>
                    <a:pt x="84074" y="168148"/>
                  </a:cubicBezTo>
                  <a:cubicBezTo>
                    <a:pt x="130556" y="168148"/>
                    <a:pt x="168148" y="130556"/>
                    <a:pt x="168148" y="84074"/>
                  </a:cubicBezTo>
                  <a:cubicBezTo>
                    <a:pt x="168148" y="37592"/>
                    <a:pt x="130556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838196" y="176530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137033"/>
                  </a:moveTo>
                  <a:cubicBezTo>
                    <a:pt x="54737" y="137033"/>
                    <a:pt x="31115" y="113284"/>
                    <a:pt x="31115" y="84074"/>
                  </a:cubicBezTo>
                  <a:cubicBezTo>
                    <a:pt x="31115" y="54864"/>
                    <a:pt x="54864" y="31115"/>
                    <a:pt x="84074" y="31115"/>
                  </a:cubicBezTo>
                  <a:cubicBezTo>
                    <a:pt x="113284" y="31115"/>
                    <a:pt x="137033" y="54864"/>
                    <a:pt x="137033" y="84074"/>
                  </a:cubicBezTo>
                  <a:cubicBezTo>
                    <a:pt x="137033" y="113284"/>
                    <a:pt x="113284" y="137033"/>
                    <a:pt x="84074" y="137033"/>
                  </a:cubicBezTo>
                  <a:close/>
                  <a:moveTo>
                    <a:pt x="84074" y="0"/>
                  </a:moveTo>
                  <a:cubicBezTo>
                    <a:pt x="37592" y="0"/>
                    <a:pt x="0" y="37592"/>
                    <a:pt x="0" y="84074"/>
                  </a:cubicBezTo>
                  <a:cubicBezTo>
                    <a:pt x="0" y="130556"/>
                    <a:pt x="37592" y="168148"/>
                    <a:pt x="84074" y="168148"/>
                  </a:cubicBezTo>
                  <a:cubicBezTo>
                    <a:pt x="130556" y="168148"/>
                    <a:pt x="168148" y="130556"/>
                    <a:pt x="168148" y="84074"/>
                  </a:cubicBezTo>
                  <a:cubicBezTo>
                    <a:pt x="168148" y="37592"/>
                    <a:pt x="130556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63500" y="63500"/>
              <a:ext cx="3282950" cy="1235710"/>
            </a:xfrm>
            <a:custGeom>
              <a:avLst/>
              <a:gdLst/>
              <a:ahLst/>
              <a:cxnLst/>
              <a:rect r="r" b="b" t="t" l="l"/>
              <a:pathLst>
                <a:path h="1235710" w="3282950">
                  <a:moveTo>
                    <a:pt x="1333373" y="0"/>
                  </a:moveTo>
                  <a:lnTo>
                    <a:pt x="1516126" y="182753"/>
                  </a:lnTo>
                  <a:lnTo>
                    <a:pt x="2081784" y="182753"/>
                  </a:lnTo>
                  <a:lnTo>
                    <a:pt x="2264537" y="0"/>
                  </a:lnTo>
                  <a:lnTo>
                    <a:pt x="2205228" y="0"/>
                  </a:lnTo>
                  <a:lnTo>
                    <a:pt x="2064385" y="140716"/>
                  </a:lnTo>
                  <a:lnTo>
                    <a:pt x="1533398" y="140716"/>
                  </a:lnTo>
                  <a:lnTo>
                    <a:pt x="1392682" y="0"/>
                  </a:lnTo>
                  <a:close/>
                  <a:moveTo>
                    <a:pt x="0" y="190373"/>
                  </a:moveTo>
                  <a:lnTo>
                    <a:pt x="0" y="218313"/>
                  </a:lnTo>
                  <a:lnTo>
                    <a:pt x="938149" y="218313"/>
                  </a:lnTo>
                  <a:lnTo>
                    <a:pt x="1251204" y="531368"/>
                  </a:lnTo>
                  <a:lnTo>
                    <a:pt x="1255268" y="535432"/>
                  </a:lnTo>
                  <a:lnTo>
                    <a:pt x="2546731" y="535432"/>
                  </a:lnTo>
                  <a:lnTo>
                    <a:pt x="2815717" y="266446"/>
                  </a:lnTo>
                  <a:lnTo>
                    <a:pt x="2795905" y="246634"/>
                  </a:lnTo>
                  <a:lnTo>
                    <a:pt x="2535047" y="507492"/>
                  </a:lnTo>
                  <a:lnTo>
                    <a:pt x="1266825" y="507492"/>
                  </a:lnTo>
                  <a:lnTo>
                    <a:pt x="953770" y="194437"/>
                  </a:lnTo>
                  <a:lnTo>
                    <a:pt x="949706" y="190373"/>
                  </a:lnTo>
                  <a:close/>
                  <a:moveTo>
                    <a:pt x="0" y="531749"/>
                  </a:moveTo>
                  <a:lnTo>
                    <a:pt x="0" y="559689"/>
                  </a:lnTo>
                  <a:lnTo>
                    <a:pt x="782574" y="559689"/>
                  </a:lnTo>
                  <a:lnTo>
                    <a:pt x="782574" y="531749"/>
                  </a:lnTo>
                  <a:close/>
                  <a:moveTo>
                    <a:pt x="1599819" y="667131"/>
                  </a:moveTo>
                  <a:lnTo>
                    <a:pt x="1193292" y="1073658"/>
                  </a:lnTo>
                  <a:lnTo>
                    <a:pt x="102870" y="1073658"/>
                  </a:lnTo>
                  <a:lnTo>
                    <a:pt x="0" y="1176401"/>
                  </a:lnTo>
                  <a:lnTo>
                    <a:pt x="0" y="1235710"/>
                  </a:lnTo>
                  <a:lnTo>
                    <a:pt x="120269" y="1115568"/>
                  </a:lnTo>
                  <a:lnTo>
                    <a:pt x="1210691" y="1115568"/>
                  </a:lnTo>
                  <a:lnTo>
                    <a:pt x="1617218" y="709041"/>
                  </a:lnTo>
                  <a:lnTo>
                    <a:pt x="3282950" y="709041"/>
                  </a:lnTo>
                  <a:lnTo>
                    <a:pt x="3282950" y="667131"/>
                  </a:lnTo>
                  <a:close/>
                </a:path>
              </a:pathLst>
            </a:custGeom>
            <a:solidFill>
              <a:srgbClr val="C7D7F3"/>
            </a:solidFill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14132941" y="-864729"/>
            <a:ext cx="4522365" cy="2767879"/>
            <a:chOff x="0" y="0"/>
            <a:chExt cx="4522368" cy="276787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349631" y="1218438"/>
              <a:ext cx="956310" cy="27940"/>
            </a:xfrm>
            <a:custGeom>
              <a:avLst/>
              <a:gdLst/>
              <a:ahLst/>
              <a:cxnLst/>
              <a:rect r="r" b="b" t="t" l="l"/>
              <a:pathLst>
                <a:path h="27940" w="956310">
                  <a:moveTo>
                    <a:pt x="0" y="27940"/>
                  </a:moveTo>
                  <a:lnTo>
                    <a:pt x="956310" y="27940"/>
                  </a:lnTo>
                  <a:lnTo>
                    <a:pt x="956310" y="0"/>
                  </a:lnTo>
                  <a:lnTo>
                    <a:pt x="0" y="0"/>
                  </a:lnTo>
                  <a:lnTo>
                    <a:pt x="0" y="27940"/>
                  </a:ln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63500" y="586359"/>
              <a:ext cx="239268" cy="243840"/>
            </a:xfrm>
            <a:custGeom>
              <a:avLst/>
              <a:gdLst/>
              <a:ahLst/>
              <a:cxnLst/>
              <a:rect r="r" b="b" t="t" l="l"/>
              <a:pathLst>
                <a:path h="243840" w="239268">
                  <a:moveTo>
                    <a:pt x="117348" y="45212"/>
                  </a:moveTo>
                  <a:cubicBezTo>
                    <a:pt x="159766" y="45212"/>
                    <a:pt x="194183" y="79629"/>
                    <a:pt x="194183" y="122047"/>
                  </a:cubicBezTo>
                  <a:cubicBezTo>
                    <a:pt x="194183" y="164465"/>
                    <a:pt x="159766" y="198882"/>
                    <a:pt x="117348" y="198882"/>
                  </a:cubicBezTo>
                  <a:cubicBezTo>
                    <a:pt x="74930" y="198882"/>
                    <a:pt x="40513" y="164465"/>
                    <a:pt x="40513" y="122047"/>
                  </a:cubicBezTo>
                  <a:cubicBezTo>
                    <a:pt x="40513" y="79629"/>
                    <a:pt x="74930" y="45212"/>
                    <a:pt x="117348" y="45212"/>
                  </a:cubicBezTo>
                  <a:close/>
                  <a:moveTo>
                    <a:pt x="117348" y="127"/>
                  </a:moveTo>
                  <a:cubicBezTo>
                    <a:pt x="61468" y="127"/>
                    <a:pt x="14478" y="37719"/>
                    <a:pt x="0" y="88900"/>
                  </a:cubicBezTo>
                  <a:lnTo>
                    <a:pt x="0" y="88900"/>
                  </a:lnTo>
                  <a:lnTo>
                    <a:pt x="0" y="155067"/>
                  </a:lnTo>
                  <a:cubicBezTo>
                    <a:pt x="14478" y="206248"/>
                    <a:pt x="61468" y="243840"/>
                    <a:pt x="117348" y="243840"/>
                  </a:cubicBezTo>
                  <a:cubicBezTo>
                    <a:pt x="184658" y="243840"/>
                    <a:pt x="239268" y="189230"/>
                    <a:pt x="239268" y="121920"/>
                  </a:cubicBezTo>
                  <a:cubicBezTo>
                    <a:pt x="239268" y="54610"/>
                    <a:pt x="184658" y="0"/>
                    <a:pt x="117348" y="0"/>
                  </a:cubicBezTo>
                  <a:close/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930783" y="1410716"/>
              <a:ext cx="243840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40">
                  <a:moveTo>
                    <a:pt x="121920" y="198755"/>
                  </a:moveTo>
                  <a:cubicBezTo>
                    <a:pt x="164338" y="198755"/>
                    <a:pt x="198755" y="164338"/>
                    <a:pt x="198755" y="121920"/>
                  </a:cubicBezTo>
                  <a:cubicBezTo>
                    <a:pt x="198755" y="79502"/>
                    <a:pt x="164338" y="45085"/>
                    <a:pt x="121920" y="45085"/>
                  </a:cubicBezTo>
                  <a:cubicBezTo>
                    <a:pt x="79502" y="45085"/>
                    <a:pt x="45085" y="79502"/>
                    <a:pt x="45085" y="121920"/>
                  </a:cubicBezTo>
                  <a:cubicBezTo>
                    <a:pt x="45085" y="164338"/>
                    <a:pt x="79502" y="198755"/>
                    <a:pt x="121920" y="198755"/>
                  </a:cubicBezTo>
                  <a:close/>
                  <a:moveTo>
                    <a:pt x="121920" y="0"/>
                  </a:moveTo>
                  <a:cubicBezTo>
                    <a:pt x="189230" y="0"/>
                    <a:pt x="243840" y="54610"/>
                    <a:pt x="243840" y="121920"/>
                  </a:cubicBezTo>
                  <a:cubicBezTo>
                    <a:pt x="243840" y="189230"/>
                    <a:pt x="189230" y="243840"/>
                    <a:pt x="121920" y="243840"/>
                  </a:cubicBezTo>
                  <a:cubicBezTo>
                    <a:pt x="54610" y="243840"/>
                    <a:pt x="0" y="189230"/>
                    <a:pt x="0" y="121920"/>
                  </a:cubicBezTo>
                  <a:cubicBezTo>
                    <a:pt x="0" y="54610"/>
                    <a:pt x="54610" y="0"/>
                    <a:pt x="121920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3491484" y="1307211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0"/>
                  </a:moveTo>
                  <a:cubicBezTo>
                    <a:pt x="130429" y="0"/>
                    <a:pt x="168148" y="37592"/>
                    <a:pt x="168148" y="84074"/>
                  </a:cubicBezTo>
                  <a:cubicBezTo>
                    <a:pt x="168148" y="130556"/>
                    <a:pt x="130556" y="168148"/>
                    <a:pt x="84074" y="168148"/>
                  </a:cubicBezTo>
                  <a:cubicBezTo>
                    <a:pt x="37592" y="168148"/>
                    <a:pt x="0" y="130556"/>
                    <a:pt x="0" y="84074"/>
                  </a:cubicBezTo>
                  <a:cubicBezTo>
                    <a:pt x="0" y="37592"/>
                    <a:pt x="37592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202311" y="1148461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0"/>
                  </a:moveTo>
                  <a:cubicBezTo>
                    <a:pt x="130429" y="0"/>
                    <a:pt x="168148" y="37592"/>
                    <a:pt x="168148" y="84074"/>
                  </a:cubicBezTo>
                  <a:cubicBezTo>
                    <a:pt x="168148" y="130556"/>
                    <a:pt x="130556" y="168148"/>
                    <a:pt x="84074" y="168148"/>
                  </a:cubicBezTo>
                  <a:cubicBezTo>
                    <a:pt x="37592" y="168148"/>
                    <a:pt x="0" y="130556"/>
                    <a:pt x="0" y="84074"/>
                  </a:cubicBezTo>
                  <a:cubicBezTo>
                    <a:pt x="0" y="37592"/>
                    <a:pt x="37592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006475" y="342646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0"/>
                  </a:moveTo>
                  <a:cubicBezTo>
                    <a:pt x="130429" y="0"/>
                    <a:pt x="168148" y="37592"/>
                    <a:pt x="168148" y="84074"/>
                  </a:cubicBezTo>
                  <a:cubicBezTo>
                    <a:pt x="168148" y="130556"/>
                    <a:pt x="130556" y="168148"/>
                    <a:pt x="84074" y="168148"/>
                  </a:cubicBezTo>
                  <a:cubicBezTo>
                    <a:pt x="37592" y="168148"/>
                    <a:pt x="0" y="130556"/>
                    <a:pt x="0" y="84074"/>
                  </a:cubicBezTo>
                  <a:cubicBezTo>
                    <a:pt x="0" y="37592"/>
                    <a:pt x="37592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489583" y="960120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137033"/>
                  </a:moveTo>
                  <a:cubicBezTo>
                    <a:pt x="113411" y="137033"/>
                    <a:pt x="137033" y="113284"/>
                    <a:pt x="137033" y="84074"/>
                  </a:cubicBezTo>
                  <a:cubicBezTo>
                    <a:pt x="137033" y="54864"/>
                    <a:pt x="113284" y="31115"/>
                    <a:pt x="84074" y="31115"/>
                  </a:cubicBezTo>
                  <a:cubicBezTo>
                    <a:pt x="54864" y="31115"/>
                    <a:pt x="31115" y="54864"/>
                    <a:pt x="31115" y="84074"/>
                  </a:cubicBezTo>
                  <a:cubicBezTo>
                    <a:pt x="31115" y="113284"/>
                    <a:pt x="54864" y="137033"/>
                    <a:pt x="84074" y="137033"/>
                  </a:cubicBezTo>
                  <a:close/>
                  <a:moveTo>
                    <a:pt x="84074" y="0"/>
                  </a:moveTo>
                  <a:cubicBezTo>
                    <a:pt x="130556" y="0"/>
                    <a:pt x="168148" y="37592"/>
                    <a:pt x="168148" y="84074"/>
                  </a:cubicBezTo>
                  <a:cubicBezTo>
                    <a:pt x="168148" y="130556"/>
                    <a:pt x="130556" y="168148"/>
                    <a:pt x="84074" y="168148"/>
                  </a:cubicBezTo>
                  <a:cubicBezTo>
                    <a:pt x="37592" y="168148"/>
                    <a:pt x="0" y="130556"/>
                    <a:pt x="0" y="84074"/>
                  </a:cubicBezTo>
                  <a:cubicBezTo>
                    <a:pt x="0" y="37592"/>
                    <a:pt x="37592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3343021" y="395605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137033"/>
                  </a:moveTo>
                  <a:cubicBezTo>
                    <a:pt x="113284" y="137033"/>
                    <a:pt x="137033" y="113284"/>
                    <a:pt x="137033" y="84074"/>
                  </a:cubicBezTo>
                  <a:cubicBezTo>
                    <a:pt x="137033" y="54864"/>
                    <a:pt x="113284" y="31115"/>
                    <a:pt x="84074" y="31115"/>
                  </a:cubicBezTo>
                  <a:cubicBezTo>
                    <a:pt x="54864" y="31115"/>
                    <a:pt x="31115" y="54864"/>
                    <a:pt x="31115" y="84074"/>
                  </a:cubicBezTo>
                  <a:cubicBezTo>
                    <a:pt x="31115" y="113284"/>
                    <a:pt x="54864" y="137033"/>
                    <a:pt x="84074" y="137033"/>
                  </a:cubicBezTo>
                  <a:close/>
                  <a:moveTo>
                    <a:pt x="84074" y="0"/>
                  </a:moveTo>
                  <a:cubicBezTo>
                    <a:pt x="130429" y="0"/>
                    <a:pt x="168148" y="37592"/>
                    <a:pt x="168148" y="84074"/>
                  </a:cubicBezTo>
                  <a:cubicBezTo>
                    <a:pt x="168148" y="130556"/>
                    <a:pt x="130556" y="168148"/>
                    <a:pt x="84074" y="168148"/>
                  </a:cubicBezTo>
                  <a:cubicBezTo>
                    <a:pt x="37592" y="168148"/>
                    <a:pt x="0" y="130556"/>
                    <a:pt x="0" y="84074"/>
                  </a:cubicBezTo>
                  <a:cubicBezTo>
                    <a:pt x="0" y="37592"/>
                    <a:pt x="37592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286385" y="63500"/>
              <a:ext cx="4172458" cy="2045716"/>
            </a:xfrm>
            <a:custGeom>
              <a:avLst/>
              <a:gdLst/>
              <a:ahLst/>
              <a:cxnLst/>
              <a:rect r="r" b="b" t="t" l="l"/>
              <a:pathLst>
                <a:path h="2045716" w="4172458">
                  <a:moveTo>
                    <a:pt x="2886964" y="0"/>
                  </a:moveTo>
                  <a:lnTo>
                    <a:pt x="2531618" y="355346"/>
                  </a:lnTo>
                  <a:lnTo>
                    <a:pt x="862965" y="355346"/>
                  </a:lnTo>
                  <a:lnTo>
                    <a:pt x="862965" y="383286"/>
                  </a:lnTo>
                  <a:lnTo>
                    <a:pt x="2543175" y="383286"/>
                  </a:lnTo>
                  <a:lnTo>
                    <a:pt x="2926588" y="0"/>
                  </a:lnTo>
                  <a:close/>
                  <a:moveTo>
                    <a:pt x="3202051" y="398399"/>
                  </a:moveTo>
                  <a:lnTo>
                    <a:pt x="3202051" y="440309"/>
                  </a:lnTo>
                  <a:lnTo>
                    <a:pt x="4172458" y="440309"/>
                  </a:lnTo>
                  <a:lnTo>
                    <a:pt x="4172458" y="398399"/>
                  </a:lnTo>
                  <a:close/>
                  <a:moveTo>
                    <a:pt x="0" y="625856"/>
                  </a:moveTo>
                  <a:lnTo>
                    <a:pt x="0" y="667766"/>
                  </a:lnTo>
                  <a:lnTo>
                    <a:pt x="1765681" y="667766"/>
                  </a:lnTo>
                  <a:lnTo>
                    <a:pt x="2064258" y="966343"/>
                  </a:lnTo>
                  <a:lnTo>
                    <a:pt x="2629916" y="966343"/>
                  </a:lnTo>
                  <a:lnTo>
                    <a:pt x="2880106" y="716153"/>
                  </a:lnTo>
                  <a:lnTo>
                    <a:pt x="4172458" y="716153"/>
                  </a:lnTo>
                  <a:lnTo>
                    <a:pt x="4172458" y="674243"/>
                  </a:lnTo>
                  <a:lnTo>
                    <a:pt x="2862707" y="674243"/>
                  </a:lnTo>
                  <a:lnTo>
                    <a:pt x="2612517" y="924433"/>
                  </a:lnTo>
                  <a:lnTo>
                    <a:pt x="2081657" y="924433"/>
                  </a:lnTo>
                  <a:lnTo>
                    <a:pt x="1783207" y="625856"/>
                  </a:lnTo>
                  <a:close/>
                  <a:moveTo>
                    <a:pt x="3196336" y="973963"/>
                  </a:moveTo>
                  <a:lnTo>
                    <a:pt x="3192272" y="978027"/>
                  </a:lnTo>
                  <a:lnTo>
                    <a:pt x="2879217" y="1291082"/>
                  </a:lnTo>
                  <a:lnTo>
                    <a:pt x="1610868" y="1291082"/>
                  </a:lnTo>
                  <a:lnTo>
                    <a:pt x="1350010" y="1030351"/>
                  </a:lnTo>
                  <a:lnTo>
                    <a:pt x="1330198" y="1050163"/>
                  </a:lnTo>
                  <a:lnTo>
                    <a:pt x="1599184" y="1319149"/>
                  </a:lnTo>
                  <a:lnTo>
                    <a:pt x="2890774" y="1319149"/>
                  </a:lnTo>
                  <a:lnTo>
                    <a:pt x="2894838" y="1315085"/>
                  </a:lnTo>
                  <a:lnTo>
                    <a:pt x="3207893" y="1002030"/>
                  </a:lnTo>
                  <a:lnTo>
                    <a:pt x="4172458" y="1002030"/>
                  </a:lnTo>
                  <a:lnTo>
                    <a:pt x="4172458" y="974090"/>
                  </a:lnTo>
                  <a:close/>
                  <a:moveTo>
                    <a:pt x="3363468" y="1315339"/>
                  </a:moveTo>
                  <a:lnTo>
                    <a:pt x="3363468" y="1343279"/>
                  </a:lnTo>
                  <a:lnTo>
                    <a:pt x="4172458" y="1343279"/>
                  </a:lnTo>
                  <a:lnTo>
                    <a:pt x="4172458" y="1315339"/>
                  </a:lnTo>
                  <a:close/>
                  <a:moveTo>
                    <a:pt x="862965" y="1450721"/>
                  </a:moveTo>
                  <a:lnTo>
                    <a:pt x="862965" y="1492631"/>
                  </a:lnTo>
                  <a:lnTo>
                    <a:pt x="2528824" y="1492631"/>
                  </a:lnTo>
                  <a:lnTo>
                    <a:pt x="2935351" y="1899158"/>
                  </a:lnTo>
                  <a:lnTo>
                    <a:pt x="4025773" y="1899158"/>
                  </a:lnTo>
                  <a:lnTo>
                    <a:pt x="4172458" y="2045716"/>
                  </a:lnTo>
                  <a:lnTo>
                    <a:pt x="4172458" y="1986407"/>
                  </a:lnTo>
                  <a:lnTo>
                    <a:pt x="4043172" y="1857248"/>
                  </a:lnTo>
                  <a:lnTo>
                    <a:pt x="2952750" y="1857248"/>
                  </a:lnTo>
                  <a:lnTo>
                    <a:pt x="2546223" y="1450721"/>
                  </a:lnTo>
                  <a:close/>
                </a:path>
              </a:pathLst>
            </a:custGeom>
            <a:solidFill>
              <a:srgbClr val="C7D7F3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-367306" y="9726713"/>
            <a:ext cx="19022613" cy="4006046"/>
            <a:chOff x="0" y="0"/>
            <a:chExt cx="5010071" cy="105509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010071" cy="1055090"/>
            </a:xfrm>
            <a:custGeom>
              <a:avLst/>
              <a:gdLst/>
              <a:ahLst/>
              <a:cxnLst/>
              <a:rect r="r" b="b" t="t" l="l"/>
              <a:pathLst>
                <a:path h="1055090" w="5010071">
                  <a:moveTo>
                    <a:pt x="0" y="0"/>
                  </a:moveTo>
                  <a:lnTo>
                    <a:pt x="5010071" y="0"/>
                  </a:lnTo>
                  <a:lnTo>
                    <a:pt x="5010071" y="1055090"/>
                  </a:lnTo>
                  <a:lnTo>
                    <a:pt x="0" y="1055090"/>
                  </a:lnTo>
                  <a:close/>
                </a:path>
              </a:pathLst>
            </a:custGeom>
            <a:gradFill rotWithShape="true">
              <a:gsLst>
                <a:gs pos="0">
                  <a:srgbClr val="114168">
                    <a:alpha val="100000"/>
                  </a:srgbClr>
                </a:gs>
                <a:gs pos="100000">
                  <a:srgbClr val="09023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5010071" cy="10931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12"/>
                </a:lnSpc>
              </a:pP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3171" y="-57150"/>
            <a:ext cx="16455926" cy="9745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PREPARATION FOR MODELING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  <a:p>
            <a:pPr algn="l">
              <a:lnSpc>
                <a:spcPts val="2911"/>
              </a:lnSpc>
              <a:spcBef>
                <a:spcPct val="0"/>
              </a:spcBef>
            </a:pPr>
            <a:r>
              <a:rPr lang="en-US" sz="20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Before building our churn prediction model, we refined the dataset to improve accuracy and prevent technical issues:</a:t>
            </a:r>
          </a:p>
          <a:p>
            <a:pPr algn="l">
              <a:lnSpc>
                <a:spcPts val="2911"/>
              </a:lnSpc>
              <a:spcBef>
                <a:spcPct val="0"/>
              </a:spcBef>
            </a:pPr>
            <a:r>
              <a:rPr lang="en-US" b="true" sz="2079">
                <a:solidFill>
                  <a:srgbClr val="FF914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Final Data Cleanup</a:t>
            </a:r>
          </a:p>
          <a:p>
            <a:pPr algn="l" marL="449071" indent="-224536" lvl="1">
              <a:lnSpc>
                <a:spcPts val="2911"/>
              </a:lnSpc>
              <a:buFont typeface="Arial"/>
              <a:buChar char="•"/>
            </a:pPr>
            <a:r>
              <a:rPr lang="en-US" sz="20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Dropped non-informative features:</a:t>
            </a:r>
          </a:p>
          <a:p>
            <a:pPr algn="l">
              <a:lnSpc>
                <a:spcPts val="2911"/>
              </a:lnSpc>
              <a:spcBef>
                <a:spcPct val="0"/>
              </a:spcBef>
            </a:pPr>
            <a:r>
              <a:rPr lang="en-US" sz="20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         </a:t>
            </a:r>
            <a:r>
              <a:rPr lang="en-US" sz="20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phone_number (just an ID)</a:t>
            </a:r>
          </a:p>
          <a:p>
            <a:pPr algn="l">
              <a:lnSpc>
                <a:spcPts val="2911"/>
              </a:lnSpc>
              <a:spcBef>
                <a:spcPct val="0"/>
              </a:spcBef>
            </a:pPr>
            <a:r>
              <a:rPr lang="en-US" sz="20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         state, area_code (low or misleading predictive value)</a:t>
            </a:r>
          </a:p>
          <a:p>
            <a:pPr algn="l" marL="449071" indent="-224536" lvl="1">
              <a:lnSpc>
                <a:spcPts val="2911"/>
              </a:lnSpc>
              <a:buFont typeface="Arial"/>
              <a:buChar char="•"/>
            </a:pPr>
            <a:r>
              <a:rPr lang="en-US" sz="20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Standardized data:</a:t>
            </a:r>
          </a:p>
          <a:p>
            <a:pPr algn="l">
              <a:lnSpc>
                <a:spcPts val="2911"/>
              </a:lnSpc>
              <a:spcBef>
                <a:spcPct val="0"/>
              </a:spcBef>
            </a:pPr>
            <a:r>
              <a:rPr lang="en-US" sz="20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         </a:t>
            </a:r>
            <a:r>
              <a:rPr lang="en-US" sz="20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Encoded international_plan and voice_mail_plan as 1/0</a:t>
            </a:r>
          </a:p>
          <a:p>
            <a:pPr algn="l">
              <a:lnSpc>
                <a:spcPts val="2911"/>
              </a:lnSpc>
              <a:spcBef>
                <a:spcPct val="0"/>
              </a:spcBef>
            </a:pPr>
            <a:r>
              <a:rPr lang="en-US" sz="20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         Encoded target churn as 1/0</a:t>
            </a:r>
          </a:p>
          <a:p>
            <a:pPr algn="l">
              <a:lnSpc>
                <a:spcPts val="2911"/>
              </a:lnSpc>
              <a:spcBef>
                <a:spcPct val="0"/>
              </a:spcBef>
            </a:pPr>
            <a:r>
              <a:rPr lang="en-US" sz="20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         Cleaned column names for consistency</a:t>
            </a:r>
          </a:p>
          <a:p>
            <a:pPr algn="l">
              <a:lnSpc>
                <a:spcPts val="2911"/>
              </a:lnSpc>
              <a:spcBef>
                <a:spcPct val="0"/>
              </a:spcBef>
            </a:pPr>
          </a:p>
          <a:p>
            <a:pPr algn="l">
              <a:lnSpc>
                <a:spcPts val="2911"/>
              </a:lnSpc>
              <a:spcBef>
                <a:spcPct val="0"/>
              </a:spcBef>
            </a:pPr>
            <a:r>
              <a:rPr lang="en-US" b="true" sz="2079">
                <a:solidFill>
                  <a:srgbClr val="FF914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Addressing Multicollinearity</a:t>
            </a:r>
          </a:p>
          <a:p>
            <a:pPr algn="l">
              <a:lnSpc>
                <a:spcPts val="2911"/>
              </a:lnSpc>
              <a:spcBef>
                <a:spcPct val="0"/>
              </a:spcBef>
            </a:pPr>
            <a:r>
              <a:rPr lang="en-US" sz="20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To avoid model confusion from overlapping data, we removed highly correlated features using VIF (Variance Inflation Factor):</a:t>
            </a:r>
          </a:p>
          <a:p>
            <a:pPr algn="l" marL="449071" indent="-224536" lvl="1">
              <a:lnSpc>
                <a:spcPts val="2911"/>
              </a:lnSpc>
              <a:buFont typeface="Arial"/>
              <a:buChar char="•"/>
            </a:pPr>
            <a:r>
              <a:rPr lang="en-US" sz="20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Dropped 7 Features:</a:t>
            </a:r>
          </a:p>
          <a:p>
            <a:pPr algn="l">
              <a:lnSpc>
                <a:spcPts val="2911"/>
              </a:lnSpc>
              <a:spcBef>
                <a:spcPct val="0"/>
              </a:spcBef>
            </a:pPr>
            <a:r>
              <a:rPr lang="en-US" sz="20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Charges like total_day_charge, total_charge etc were redundant with minute values hence we dropped them</a:t>
            </a:r>
          </a:p>
          <a:p>
            <a:pPr algn="l">
              <a:lnSpc>
                <a:spcPts val="2911"/>
              </a:lnSpc>
              <a:spcBef>
                <a:spcPct val="0"/>
              </a:spcBef>
            </a:pPr>
            <a:r>
              <a:rPr lang="en-US" sz="20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number_vmail_messages  overlaps heavily with voice_mail_plan hence dropped as well</a:t>
            </a:r>
          </a:p>
          <a:p>
            <a:pPr algn="l">
              <a:lnSpc>
                <a:spcPts val="2911"/>
              </a:lnSpc>
              <a:spcBef>
                <a:spcPct val="0"/>
              </a:spcBef>
            </a:pPr>
            <a:r>
              <a:rPr lang="en-US" sz="20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charge_bin — derived from total_charge, adds no new value hence had to be dropped</a:t>
            </a:r>
          </a:p>
          <a:p>
            <a:pPr algn="l">
              <a:lnSpc>
                <a:spcPts val="2911"/>
              </a:lnSpc>
              <a:spcBef>
                <a:spcPct val="0"/>
              </a:spcBef>
            </a:pPr>
          </a:p>
          <a:p>
            <a:pPr algn="l">
              <a:lnSpc>
                <a:spcPts val="2911"/>
              </a:lnSpc>
              <a:spcBef>
                <a:spcPct val="0"/>
              </a:spcBef>
            </a:pPr>
            <a:r>
              <a:rPr lang="en-US" sz="20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Remaining 13 features are clean, independent, and ready for modeling.</a:t>
            </a:r>
          </a:p>
          <a:p>
            <a:pPr algn="l">
              <a:lnSpc>
                <a:spcPts val="2911"/>
              </a:lnSpc>
              <a:spcBef>
                <a:spcPct val="0"/>
              </a:spcBef>
            </a:pPr>
            <a:r>
              <a:rPr lang="en-US" sz="20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Balanced the Target Variable</a:t>
            </a:r>
          </a:p>
          <a:p>
            <a:pPr algn="l">
              <a:lnSpc>
                <a:spcPts val="2911"/>
              </a:lnSpc>
              <a:spcBef>
                <a:spcPct val="0"/>
              </a:spcBef>
            </a:pPr>
            <a:r>
              <a:rPr lang="en-US" sz="20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Original churn rate: ~14.5%</a:t>
            </a:r>
          </a:p>
          <a:p>
            <a:pPr algn="l">
              <a:lnSpc>
                <a:spcPts val="2911"/>
              </a:lnSpc>
              <a:spcBef>
                <a:spcPct val="0"/>
              </a:spcBef>
            </a:pPr>
          </a:p>
          <a:p>
            <a:pPr algn="l">
              <a:lnSpc>
                <a:spcPts val="2911"/>
              </a:lnSpc>
              <a:spcBef>
                <a:spcPct val="0"/>
              </a:spcBef>
            </a:pPr>
            <a:r>
              <a:rPr lang="en-US" sz="20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After using SMOTE, churn vs. no-churn is now 50/50 in the training set.</a:t>
            </a:r>
          </a:p>
          <a:p>
            <a:pPr algn="l">
              <a:lnSpc>
                <a:spcPts val="2911"/>
              </a:lnSpc>
              <a:spcBef>
                <a:spcPct val="0"/>
              </a:spcBef>
            </a:pPr>
            <a:r>
              <a:rPr lang="en-US" sz="20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This helps the model treat both outcomes fairly during training.</a:t>
            </a:r>
          </a:p>
          <a:p>
            <a:pPr algn="l">
              <a:lnSpc>
                <a:spcPts val="2911"/>
              </a:lnSpc>
              <a:spcBef>
                <a:spcPct val="0"/>
              </a:spcBef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-517597" y="9584956"/>
            <a:ext cx="19022613" cy="4006046"/>
            <a:chOff x="0" y="0"/>
            <a:chExt cx="5010071" cy="10550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010071" cy="1055090"/>
            </a:xfrm>
            <a:custGeom>
              <a:avLst/>
              <a:gdLst/>
              <a:ahLst/>
              <a:cxnLst/>
              <a:rect r="r" b="b" t="t" l="l"/>
              <a:pathLst>
                <a:path h="1055090" w="5010071">
                  <a:moveTo>
                    <a:pt x="0" y="0"/>
                  </a:moveTo>
                  <a:lnTo>
                    <a:pt x="5010071" y="0"/>
                  </a:lnTo>
                  <a:lnTo>
                    <a:pt x="5010071" y="1055090"/>
                  </a:lnTo>
                  <a:lnTo>
                    <a:pt x="0" y="1055090"/>
                  </a:lnTo>
                  <a:close/>
                </a:path>
              </a:pathLst>
            </a:custGeom>
            <a:gradFill rotWithShape="true">
              <a:gsLst>
                <a:gs pos="0">
                  <a:srgbClr val="114168">
                    <a:alpha val="100000"/>
                  </a:srgbClr>
                </a:gs>
                <a:gs pos="100000">
                  <a:srgbClr val="09023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5010071" cy="10931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12"/>
                </a:lnSpc>
              </a:pP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28745" y="4488784"/>
            <a:ext cx="16508621" cy="4807003"/>
          </a:xfrm>
          <a:custGeom>
            <a:avLst/>
            <a:gdLst/>
            <a:ahLst/>
            <a:cxnLst/>
            <a:rect r="r" b="b" t="t" l="l"/>
            <a:pathLst>
              <a:path h="4807003" w="16508621">
                <a:moveTo>
                  <a:pt x="0" y="0"/>
                </a:moveTo>
                <a:lnTo>
                  <a:pt x="16508622" y="0"/>
                </a:lnTo>
                <a:lnTo>
                  <a:pt x="16508622" y="4807002"/>
                </a:lnTo>
                <a:lnTo>
                  <a:pt x="0" y="48070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28745" y="534171"/>
            <a:ext cx="14202544" cy="3783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b="true" sz="30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MODELLING </a:t>
            </a:r>
          </a:p>
          <a:p>
            <a:pPr algn="l">
              <a:lnSpc>
                <a:spcPts val="2911"/>
              </a:lnSpc>
              <a:spcBef>
                <a:spcPct val="0"/>
              </a:spcBef>
            </a:pPr>
          </a:p>
          <a:p>
            <a:pPr algn="l">
              <a:lnSpc>
                <a:spcPts val="2911"/>
              </a:lnSpc>
              <a:spcBef>
                <a:spcPct val="0"/>
              </a:spcBef>
            </a:pPr>
            <a:r>
              <a:rPr lang="en-US" sz="20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We explored different models to predict which customers are likely to churn.</a:t>
            </a:r>
          </a:p>
          <a:p>
            <a:pPr algn="l">
              <a:lnSpc>
                <a:spcPts val="2911"/>
              </a:lnSpc>
              <a:spcBef>
                <a:spcPct val="0"/>
              </a:spcBef>
            </a:pPr>
          </a:p>
          <a:p>
            <a:pPr algn="l">
              <a:lnSpc>
                <a:spcPts val="2911"/>
              </a:lnSpc>
              <a:spcBef>
                <a:spcPct val="0"/>
              </a:spcBef>
            </a:pPr>
            <a:r>
              <a:rPr lang="en-US" sz="20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Three main approaches were tested:</a:t>
            </a:r>
          </a:p>
          <a:p>
            <a:pPr algn="l" marL="449071" indent="-224536" lvl="1">
              <a:lnSpc>
                <a:spcPts val="2911"/>
              </a:lnSpc>
              <a:buFont typeface="Arial"/>
              <a:buChar char="•"/>
            </a:pPr>
            <a:r>
              <a:rPr lang="en-US" sz="20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Logistic Regression – A statistical method for classification.</a:t>
            </a:r>
          </a:p>
          <a:p>
            <a:pPr algn="l" marL="449071" indent="-224536" lvl="1">
              <a:lnSpc>
                <a:spcPts val="2911"/>
              </a:lnSpc>
              <a:buFont typeface="Arial"/>
              <a:buChar char="•"/>
            </a:pPr>
            <a:r>
              <a:rPr lang="en-US" sz="20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Decision Tree Classifier – A model that learns decision paths like a flowchart.</a:t>
            </a:r>
          </a:p>
          <a:p>
            <a:pPr algn="l" marL="449071" indent="-224536" lvl="1">
              <a:lnSpc>
                <a:spcPts val="2911"/>
              </a:lnSpc>
              <a:spcBef>
                <a:spcPct val="0"/>
              </a:spcBef>
              <a:buFont typeface="Arial"/>
              <a:buChar char="•"/>
            </a:pPr>
            <a:r>
              <a:rPr lang="en-US" sz="20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Random Forest Classifier – Ensemble method for improved accuracy and robustness.</a:t>
            </a:r>
          </a:p>
          <a:p>
            <a:pPr algn="l">
              <a:lnSpc>
                <a:spcPts val="2911"/>
              </a:lnSpc>
              <a:spcBef>
                <a:spcPct val="0"/>
              </a:spcBef>
            </a:pPr>
          </a:p>
          <a:p>
            <a:pPr algn="l">
              <a:lnSpc>
                <a:spcPts val="2911"/>
              </a:lnSpc>
              <a:spcBef>
                <a:spcPct val="0"/>
              </a:spcBef>
            </a:pPr>
            <a:r>
              <a:rPr lang="en-US" sz="20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We chose Decision Trees because they gave the best performance while being easy to explain and visualize.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-367306" y="9726713"/>
            <a:ext cx="19022613" cy="4006046"/>
            <a:chOff x="0" y="0"/>
            <a:chExt cx="5010071" cy="105509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10071" cy="1055090"/>
            </a:xfrm>
            <a:custGeom>
              <a:avLst/>
              <a:gdLst/>
              <a:ahLst/>
              <a:cxnLst/>
              <a:rect r="r" b="b" t="t" l="l"/>
              <a:pathLst>
                <a:path h="1055090" w="5010071">
                  <a:moveTo>
                    <a:pt x="0" y="0"/>
                  </a:moveTo>
                  <a:lnTo>
                    <a:pt x="5010071" y="0"/>
                  </a:lnTo>
                  <a:lnTo>
                    <a:pt x="5010071" y="1055090"/>
                  </a:lnTo>
                  <a:lnTo>
                    <a:pt x="0" y="1055090"/>
                  </a:lnTo>
                  <a:close/>
                </a:path>
              </a:pathLst>
            </a:custGeom>
            <a:gradFill rotWithShape="true">
              <a:gsLst>
                <a:gs pos="0">
                  <a:srgbClr val="114168">
                    <a:alpha val="100000"/>
                  </a:srgbClr>
                </a:gs>
                <a:gs pos="100000">
                  <a:srgbClr val="09023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10071" cy="10931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12"/>
                </a:lnSpc>
              </a:pPr>
            </a:p>
          </p:txBody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4132941" y="-864729"/>
            <a:ext cx="4522365" cy="2767879"/>
            <a:chOff x="0" y="0"/>
            <a:chExt cx="4522368" cy="276787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349631" y="1218438"/>
              <a:ext cx="956310" cy="27940"/>
            </a:xfrm>
            <a:custGeom>
              <a:avLst/>
              <a:gdLst/>
              <a:ahLst/>
              <a:cxnLst/>
              <a:rect r="r" b="b" t="t" l="l"/>
              <a:pathLst>
                <a:path h="27940" w="956310">
                  <a:moveTo>
                    <a:pt x="0" y="27940"/>
                  </a:moveTo>
                  <a:lnTo>
                    <a:pt x="956310" y="27940"/>
                  </a:lnTo>
                  <a:lnTo>
                    <a:pt x="956310" y="0"/>
                  </a:lnTo>
                  <a:lnTo>
                    <a:pt x="0" y="0"/>
                  </a:lnTo>
                  <a:lnTo>
                    <a:pt x="0" y="27940"/>
                  </a:ln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63500" y="586359"/>
              <a:ext cx="239268" cy="243840"/>
            </a:xfrm>
            <a:custGeom>
              <a:avLst/>
              <a:gdLst/>
              <a:ahLst/>
              <a:cxnLst/>
              <a:rect r="r" b="b" t="t" l="l"/>
              <a:pathLst>
                <a:path h="243840" w="239268">
                  <a:moveTo>
                    <a:pt x="117348" y="45212"/>
                  </a:moveTo>
                  <a:cubicBezTo>
                    <a:pt x="159766" y="45212"/>
                    <a:pt x="194183" y="79629"/>
                    <a:pt x="194183" y="122047"/>
                  </a:cubicBezTo>
                  <a:cubicBezTo>
                    <a:pt x="194183" y="164465"/>
                    <a:pt x="159766" y="198882"/>
                    <a:pt x="117348" y="198882"/>
                  </a:cubicBezTo>
                  <a:cubicBezTo>
                    <a:pt x="74930" y="198882"/>
                    <a:pt x="40513" y="164465"/>
                    <a:pt x="40513" y="122047"/>
                  </a:cubicBezTo>
                  <a:cubicBezTo>
                    <a:pt x="40513" y="79629"/>
                    <a:pt x="74930" y="45212"/>
                    <a:pt x="117348" y="45212"/>
                  </a:cubicBezTo>
                  <a:close/>
                  <a:moveTo>
                    <a:pt x="117348" y="127"/>
                  </a:moveTo>
                  <a:cubicBezTo>
                    <a:pt x="61468" y="127"/>
                    <a:pt x="14478" y="37719"/>
                    <a:pt x="0" y="88900"/>
                  </a:cubicBezTo>
                  <a:lnTo>
                    <a:pt x="0" y="88900"/>
                  </a:lnTo>
                  <a:lnTo>
                    <a:pt x="0" y="155067"/>
                  </a:lnTo>
                  <a:cubicBezTo>
                    <a:pt x="14478" y="206248"/>
                    <a:pt x="61468" y="243840"/>
                    <a:pt x="117348" y="243840"/>
                  </a:cubicBezTo>
                  <a:cubicBezTo>
                    <a:pt x="184658" y="243840"/>
                    <a:pt x="239268" y="189230"/>
                    <a:pt x="239268" y="121920"/>
                  </a:cubicBezTo>
                  <a:cubicBezTo>
                    <a:pt x="239268" y="54610"/>
                    <a:pt x="184658" y="0"/>
                    <a:pt x="117348" y="0"/>
                  </a:cubicBezTo>
                  <a:close/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930783" y="1410716"/>
              <a:ext cx="243840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40">
                  <a:moveTo>
                    <a:pt x="121920" y="198755"/>
                  </a:moveTo>
                  <a:cubicBezTo>
                    <a:pt x="164338" y="198755"/>
                    <a:pt x="198755" y="164338"/>
                    <a:pt x="198755" y="121920"/>
                  </a:cubicBezTo>
                  <a:cubicBezTo>
                    <a:pt x="198755" y="79502"/>
                    <a:pt x="164338" y="45085"/>
                    <a:pt x="121920" y="45085"/>
                  </a:cubicBezTo>
                  <a:cubicBezTo>
                    <a:pt x="79502" y="45085"/>
                    <a:pt x="45085" y="79502"/>
                    <a:pt x="45085" y="121920"/>
                  </a:cubicBezTo>
                  <a:cubicBezTo>
                    <a:pt x="45085" y="164338"/>
                    <a:pt x="79502" y="198755"/>
                    <a:pt x="121920" y="198755"/>
                  </a:cubicBezTo>
                  <a:close/>
                  <a:moveTo>
                    <a:pt x="121920" y="0"/>
                  </a:moveTo>
                  <a:cubicBezTo>
                    <a:pt x="189230" y="0"/>
                    <a:pt x="243840" y="54610"/>
                    <a:pt x="243840" y="121920"/>
                  </a:cubicBezTo>
                  <a:cubicBezTo>
                    <a:pt x="243840" y="189230"/>
                    <a:pt x="189230" y="243840"/>
                    <a:pt x="121920" y="243840"/>
                  </a:cubicBezTo>
                  <a:cubicBezTo>
                    <a:pt x="54610" y="243840"/>
                    <a:pt x="0" y="189230"/>
                    <a:pt x="0" y="121920"/>
                  </a:cubicBezTo>
                  <a:cubicBezTo>
                    <a:pt x="0" y="54610"/>
                    <a:pt x="54610" y="0"/>
                    <a:pt x="121920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3491484" y="1307211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0"/>
                  </a:moveTo>
                  <a:cubicBezTo>
                    <a:pt x="130429" y="0"/>
                    <a:pt x="168148" y="37592"/>
                    <a:pt x="168148" y="84074"/>
                  </a:cubicBezTo>
                  <a:cubicBezTo>
                    <a:pt x="168148" y="130556"/>
                    <a:pt x="130556" y="168148"/>
                    <a:pt x="84074" y="168148"/>
                  </a:cubicBezTo>
                  <a:cubicBezTo>
                    <a:pt x="37592" y="168148"/>
                    <a:pt x="0" y="130556"/>
                    <a:pt x="0" y="84074"/>
                  </a:cubicBezTo>
                  <a:cubicBezTo>
                    <a:pt x="0" y="37592"/>
                    <a:pt x="37592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202311" y="1148461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0"/>
                  </a:moveTo>
                  <a:cubicBezTo>
                    <a:pt x="130429" y="0"/>
                    <a:pt x="168148" y="37592"/>
                    <a:pt x="168148" y="84074"/>
                  </a:cubicBezTo>
                  <a:cubicBezTo>
                    <a:pt x="168148" y="130556"/>
                    <a:pt x="130556" y="168148"/>
                    <a:pt x="84074" y="168148"/>
                  </a:cubicBezTo>
                  <a:cubicBezTo>
                    <a:pt x="37592" y="168148"/>
                    <a:pt x="0" y="130556"/>
                    <a:pt x="0" y="84074"/>
                  </a:cubicBezTo>
                  <a:cubicBezTo>
                    <a:pt x="0" y="37592"/>
                    <a:pt x="37592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006475" y="342646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0"/>
                  </a:moveTo>
                  <a:cubicBezTo>
                    <a:pt x="130429" y="0"/>
                    <a:pt x="168148" y="37592"/>
                    <a:pt x="168148" y="84074"/>
                  </a:cubicBezTo>
                  <a:cubicBezTo>
                    <a:pt x="168148" y="130556"/>
                    <a:pt x="130556" y="168148"/>
                    <a:pt x="84074" y="168148"/>
                  </a:cubicBezTo>
                  <a:cubicBezTo>
                    <a:pt x="37592" y="168148"/>
                    <a:pt x="0" y="130556"/>
                    <a:pt x="0" y="84074"/>
                  </a:cubicBezTo>
                  <a:cubicBezTo>
                    <a:pt x="0" y="37592"/>
                    <a:pt x="37592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489583" y="960120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137033"/>
                  </a:moveTo>
                  <a:cubicBezTo>
                    <a:pt x="113411" y="137033"/>
                    <a:pt x="137033" y="113284"/>
                    <a:pt x="137033" y="84074"/>
                  </a:cubicBezTo>
                  <a:cubicBezTo>
                    <a:pt x="137033" y="54864"/>
                    <a:pt x="113284" y="31115"/>
                    <a:pt x="84074" y="31115"/>
                  </a:cubicBezTo>
                  <a:cubicBezTo>
                    <a:pt x="54864" y="31115"/>
                    <a:pt x="31115" y="54864"/>
                    <a:pt x="31115" y="84074"/>
                  </a:cubicBezTo>
                  <a:cubicBezTo>
                    <a:pt x="31115" y="113284"/>
                    <a:pt x="54864" y="137033"/>
                    <a:pt x="84074" y="137033"/>
                  </a:cubicBezTo>
                  <a:close/>
                  <a:moveTo>
                    <a:pt x="84074" y="0"/>
                  </a:moveTo>
                  <a:cubicBezTo>
                    <a:pt x="130556" y="0"/>
                    <a:pt x="168148" y="37592"/>
                    <a:pt x="168148" y="84074"/>
                  </a:cubicBezTo>
                  <a:cubicBezTo>
                    <a:pt x="168148" y="130556"/>
                    <a:pt x="130556" y="168148"/>
                    <a:pt x="84074" y="168148"/>
                  </a:cubicBezTo>
                  <a:cubicBezTo>
                    <a:pt x="37592" y="168148"/>
                    <a:pt x="0" y="130556"/>
                    <a:pt x="0" y="84074"/>
                  </a:cubicBezTo>
                  <a:cubicBezTo>
                    <a:pt x="0" y="37592"/>
                    <a:pt x="37592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3343021" y="395605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137033"/>
                  </a:moveTo>
                  <a:cubicBezTo>
                    <a:pt x="113284" y="137033"/>
                    <a:pt x="137033" y="113284"/>
                    <a:pt x="137033" y="84074"/>
                  </a:cubicBezTo>
                  <a:cubicBezTo>
                    <a:pt x="137033" y="54864"/>
                    <a:pt x="113284" y="31115"/>
                    <a:pt x="84074" y="31115"/>
                  </a:cubicBezTo>
                  <a:cubicBezTo>
                    <a:pt x="54864" y="31115"/>
                    <a:pt x="31115" y="54864"/>
                    <a:pt x="31115" y="84074"/>
                  </a:cubicBezTo>
                  <a:cubicBezTo>
                    <a:pt x="31115" y="113284"/>
                    <a:pt x="54864" y="137033"/>
                    <a:pt x="84074" y="137033"/>
                  </a:cubicBezTo>
                  <a:close/>
                  <a:moveTo>
                    <a:pt x="84074" y="0"/>
                  </a:moveTo>
                  <a:cubicBezTo>
                    <a:pt x="130429" y="0"/>
                    <a:pt x="168148" y="37592"/>
                    <a:pt x="168148" y="84074"/>
                  </a:cubicBezTo>
                  <a:cubicBezTo>
                    <a:pt x="168148" y="130556"/>
                    <a:pt x="130556" y="168148"/>
                    <a:pt x="84074" y="168148"/>
                  </a:cubicBezTo>
                  <a:cubicBezTo>
                    <a:pt x="37592" y="168148"/>
                    <a:pt x="0" y="130556"/>
                    <a:pt x="0" y="84074"/>
                  </a:cubicBezTo>
                  <a:cubicBezTo>
                    <a:pt x="0" y="37592"/>
                    <a:pt x="37592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286385" y="63500"/>
              <a:ext cx="4172458" cy="2045716"/>
            </a:xfrm>
            <a:custGeom>
              <a:avLst/>
              <a:gdLst/>
              <a:ahLst/>
              <a:cxnLst/>
              <a:rect r="r" b="b" t="t" l="l"/>
              <a:pathLst>
                <a:path h="2045716" w="4172458">
                  <a:moveTo>
                    <a:pt x="2886964" y="0"/>
                  </a:moveTo>
                  <a:lnTo>
                    <a:pt x="2531618" y="355346"/>
                  </a:lnTo>
                  <a:lnTo>
                    <a:pt x="862965" y="355346"/>
                  </a:lnTo>
                  <a:lnTo>
                    <a:pt x="862965" y="383286"/>
                  </a:lnTo>
                  <a:lnTo>
                    <a:pt x="2543175" y="383286"/>
                  </a:lnTo>
                  <a:lnTo>
                    <a:pt x="2926588" y="0"/>
                  </a:lnTo>
                  <a:close/>
                  <a:moveTo>
                    <a:pt x="3202051" y="398399"/>
                  </a:moveTo>
                  <a:lnTo>
                    <a:pt x="3202051" y="440309"/>
                  </a:lnTo>
                  <a:lnTo>
                    <a:pt x="4172458" y="440309"/>
                  </a:lnTo>
                  <a:lnTo>
                    <a:pt x="4172458" y="398399"/>
                  </a:lnTo>
                  <a:close/>
                  <a:moveTo>
                    <a:pt x="0" y="625856"/>
                  </a:moveTo>
                  <a:lnTo>
                    <a:pt x="0" y="667766"/>
                  </a:lnTo>
                  <a:lnTo>
                    <a:pt x="1765681" y="667766"/>
                  </a:lnTo>
                  <a:lnTo>
                    <a:pt x="2064258" y="966343"/>
                  </a:lnTo>
                  <a:lnTo>
                    <a:pt x="2629916" y="966343"/>
                  </a:lnTo>
                  <a:lnTo>
                    <a:pt x="2880106" y="716153"/>
                  </a:lnTo>
                  <a:lnTo>
                    <a:pt x="4172458" y="716153"/>
                  </a:lnTo>
                  <a:lnTo>
                    <a:pt x="4172458" y="674243"/>
                  </a:lnTo>
                  <a:lnTo>
                    <a:pt x="2862707" y="674243"/>
                  </a:lnTo>
                  <a:lnTo>
                    <a:pt x="2612517" y="924433"/>
                  </a:lnTo>
                  <a:lnTo>
                    <a:pt x="2081657" y="924433"/>
                  </a:lnTo>
                  <a:lnTo>
                    <a:pt x="1783207" y="625856"/>
                  </a:lnTo>
                  <a:close/>
                  <a:moveTo>
                    <a:pt x="3196336" y="973963"/>
                  </a:moveTo>
                  <a:lnTo>
                    <a:pt x="3192272" y="978027"/>
                  </a:lnTo>
                  <a:lnTo>
                    <a:pt x="2879217" y="1291082"/>
                  </a:lnTo>
                  <a:lnTo>
                    <a:pt x="1610868" y="1291082"/>
                  </a:lnTo>
                  <a:lnTo>
                    <a:pt x="1350010" y="1030351"/>
                  </a:lnTo>
                  <a:lnTo>
                    <a:pt x="1330198" y="1050163"/>
                  </a:lnTo>
                  <a:lnTo>
                    <a:pt x="1599184" y="1319149"/>
                  </a:lnTo>
                  <a:lnTo>
                    <a:pt x="2890774" y="1319149"/>
                  </a:lnTo>
                  <a:lnTo>
                    <a:pt x="2894838" y="1315085"/>
                  </a:lnTo>
                  <a:lnTo>
                    <a:pt x="3207893" y="1002030"/>
                  </a:lnTo>
                  <a:lnTo>
                    <a:pt x="4172458" y="1002030"/>
                  </a:lnTo>
                  <a:lnTo>
                    <a:pt x="4172458" y="974090"/>
                  </a:lnTo>
                  <a:close/>
                  <a:moveTo>
                    <a:pt x="3363468" y="1315339"/>
                  </a:moveTo>
                  <a:lnTo>
                    <a:pt x="3363468" y="1343279"/>
                  </a:lnTo>
                  <a:lnTo>
                    <a:pt x="4172458" y="1343279"/>
                  </a:lnTo>
                  <a:lnTo>
                    <a:pt x="4172458" y="1315339"/>
                  </a:lnTo>
                  <a:close/>
                  <a:moveTo>
                    <a:pt x="862965" y="1450721"/>
                  </a:moveTo>
                  <a:lnTo>
                    <a:pt x="862965" y="1492631"/>
                  </a:lnTo>
                  <a:lnTo>
                    <a:pt x="2528824" y="1492631"/>
                  </a:lnTo>
                  <a:lnTo>
                    <a:pt x="2935351" y="1899158"/>
                  </a:lnTo>
                  <a:lnTo>
                    <a:pt x="4025773" y="1899158"/>
                  </a:lnTo>
                  <a:lnTo>
                    <a:pt x="4172458" y="2045716"/>
                  </a:lnTo>
                  <a:lnTo>
                    <a:pt x="4172458" y="1986407"/>
                  </a:lnTo>
                  <a:lnTo>
                    <a:pt x="4043172" y="1857248"/>
                  </a:lnTo>
                  <a:lnTo>
                    <a:pt x="2952750" y="1857248"/>
                  </a:lnTo>
                  <a:lnTo>
                    <a:pt x="2546223" y="1450721"/>
                  </a:lnTo>
                  <a:close/>
                </a:path>
              </a:pathLst>
            </a:custGeom>
            <a:solidFill>
              <a:srgbClr val="C7D7F3"/>
            </a:solidFill>
          </p:spPr>
        </p:sp>
      </p:grpSp>
      <p:grpSp>
        <p:nvGrpSpPr>
          <p:cNvPr name="Group 18" id="18"/>
          <p:cNvGrpSpPr>
            <a:grpSpLocks noChangeAspect="true"/>
          </p:cNvGrpSpPr>
          <p:nvPr/>
        </p:nvGrpSpPr>
        <p:grpSpPr>
          <a:xfrm rot="0">
            <a:off x="0" y="-472895"/>
            <a:ext cx="4357106" cy="1984210"/>
            <a:chOff x="0" y="0"/>
            <a:chExt cx="4357103" cy="198421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3189986" y="434848"/>
              <a:ext cx="956310" cy="27940"/>
            </a:xfrm>
            <a:custGeom>
              <a:avLst/>
              <a:gdLst/>
              <a:ahLst/>
              <a:cxnLst/>
              <a:rect r="r" b="b" t="t" l="l"/>
              <a:pathLst>
                <a:path h="27940" w="956310">
                  <a:moveTo>
                    <a:pt x="956310" y="27940"/>
                  </a:moveTo>
                  <a:lnTo>
                    <a:pt x="0" y="27940"/>
                  </a:lnTo>
                  <a:lnTo>
                    <a:pt x="0" y="0"/>
                  </a:lnTo>
                  <a:lnTo>
                    <a:pt x="956310" y="0"/>
                  </a:lnTo>
                  <a:lnTo>
                    <a:pt x="956310" y="27940"/>
                  </a:ln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3321177" y="626999"/>
              <a:ext cx="243840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40">
                  <a:moveTo>
                    <a:pt x="121920" y="198755"/>
                  </a:moveTo>
                  <a:cubicBezTo>
                    <a:pt x="79502" y="198755"/>
                    <a:pt x="45085" y="164338"/>
                    <a:pt x="45085" y="121920"/>
                  </a:cubicBezTo>
                  <a:cubicBezTo>
                    <a:pt x="45085" y="79502"/>
                    <a:pt x="79502" y="45085"/>
                    <a:pt x="121920" y="45085"/>
                  </a:cubicBezTo>
                  <a:cubicBezTo>
                    <a:pt x="164338" y="45085"/>
                    <a:pt x="198755" y="79502"/>
                    <a:pt x="198755" y="121920"/>
                  </a:cubicBezTo>
                  <a:cubicBezTo>
                    <a:pt x="198755" y="164338"/>
                    <a:pt x="164338" y="198755"/>
                    <a:pt x="121920" y="198755"/>
                  </a:cubicBezTo>
                  <a:close/>
                  <a:moveTo>
                    <a:pt x="121920" y="0"/>
                  </a:moveTo>
                  <a:cubicBezTo>
                    <a:pt x="54610" y="0"/>
                    <a:pt x="0" y="54610"/>
                    <a:pt x="0" y="121920"/>
                  </a:cubicBezTo>
                  <a:cubicBezTo>
                    <a:pt x="0" y="189230"/>
                    <a:pt x="54610" y="243840"/>
                    <a:pt x="121920" y="243840"/>
                  </a:cubicBezTo>
                  <a:cubicBezTo>
                    <a:pt x="189230" y="243840"/>
                    <a:pt x="243840" y="189230"/>
                    <a:pt x="243840" y="121920"/>
                  </a:cubicBezTo>
                  <a:cubicBezTo>
                    <a:pt x="243840" y="54610"/>
                    <a:pt x="189230" y="0"/>
                    <a:pt x="121920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836295" y="523621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0"/>
                  </a:moveTo>
                  <a:cubicBezTo>
                    <a:pt x="37719" y="0"/>
                    <a:pt x="0" y="37592"/>
                    <a:pt x="0" y="84074"/>
                  </a:cubicBezTo>
                  <a:cubicBezTo>
                    <a:pt x="0" y="130556"/>
                    <a:pt x="37592" y="168148"/>
                    <a:pt x="84074" y="168148"/>
                  </a:cubicBezTo>
                  <a:cubicBezTo>
                    <a:pt x="130556" y="168148"/>
                    <a:pt x="168148" y="130556"/>
                    <a:pt x="168148" y="84074"/>
                  </a:cubicBezTo>
                  <a:cubicBezTo>
                    <a:pt x="168148" y="37592"/>
                    <a:pt x="130556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4125468" y="364744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0"/>
                  </a:moveTo>
                  <a:cubicBezTo>
                    <a:pt x="37719" y="0"/>
                    <a:pt x="0" y="37592"/>
                    <a:pt x="0" y="84074"/>
                  </a:cubicBezTo>
                  <a:cubicBezTo>
                    <a:pt x="0" y="130556"/>
                    <a:pt x="37592" y="168148"/>
                    <a:pt x="84074" y="168148"/>
                  </a:cubicBezTo>
                  <a:cubicBezTo>
                    <a:pt x="130556" y="168148"/>
                    <a:pt x="168148" y="130556"/>
                    <a:pt x="168148" y="84074"/>
                  </a:cubicBezTo>
                  <a:cubicBezTo>
                    <a:pt x="168148" y="37592"/>
                    <a:pt x="130556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2838196" y="176530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137033"/>
                  </a:moveTo>
                  <a:cubicBezTo>
                    <a:pt x="54737" y="137033"/>
                    <a:pt x="31115" y="113284"/>
                    <a:pt x="31115" y="84074"/>
                  </a:cubicBezTo>
                  <a:cubicBezTo>
                    <a:pt x="31115" y="54864"/>
                    <a:pt x="54864" y="31115"/>
                    <a:pt x="84074" y="31115"/>
                  </a:cubicBezTo>
                  <a:cubicBezTo>
                    <a:pt x="113284" y="31115"/>
                    <a:pt x="137033" y="54864"/>
                    <a:pt x="137033" y="84074"/>
                  </a:cubicBezTo>
                  <a:cubicBezTo>
                    <a:pt x="137033" y="113284"/>
                    <a:pt x="113284" y="137033"/>
                    <a:pt x="84074" y="137033"/>
                  </a:cubicBezTo>
                  <a:close/>
                  <a:moveTo>
                    <a:pt x="84074" y="0"/>
                  </a:moveTo>
                  <a:cubicBezTo>
                    <a:pt x="37592" y="0"/>
                    <a:pt x="0" y="37592"/>
                    <a:pt x="0" y="84074"/>
                  </a:cubicBezTo>
                  <a:cubicBezTo>
                    <a:pt x="0" y="130556"/>
                    <a:pt x="37592" y="168148"/>
                    <a:pt x="84074" y="168148"/>
                  </a:cubicBezTo>
                  <a:cubicBezTo>
                    <a:pt x="130556" y="168148"/>
                    <a:pt x="168148" y="130556"/>
                    <a:pt x="168148" y="84074"/>
                  </a:cubicBezTo>
                  <a:cubicBezTo>
                    <a:pt x="168148" y="37592"/>
                    <a:pt x="130556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63500" y="63500"/>
              <a:ext cx="3282950" cy="1235710"/>
            </a:xfrm>
            <a:custGeom>
              <a:avLst/>
              <a:gdLst/>
              <a:ahLst/>
              <a:cxnLst/>
              <a:rect r="r" b="b" t="t" l="l"/>
              <a:pathLst>
                <a:path h="1235710" w="3282950">
                  <a:moveTo>
                    <a:pt x="1333373" y="0"/>
                  </a:moveTo>
                  <a:lnTo>
                    <a:pt x="1516126" y="182753"/>
                  </a:lnTo>
                  <a:lnTo>
                    <a:pt x="2081784" y="182753"/>
                  </a:lnTo>
                  <a:lnTo>
                    <a:pt x="2264537" y="0"/>
                  </a:lnTo>
                  <a:lnTo>
                    <a:pt x="2205228" y="0"/>
                  </a:lnTo>
                  <a:lnTo>
                    <a:pt x="2064385" y="140716"/>
                  </a:lnTo>
                  <a:lnTo>
                    <a:pt x="1533398" y="140716"/>
                  </a:lnTo>
                  <a:lnTo>
                    <a:pt x="1392682" y="0"/>
                  </a:lnTo>
                  <a:close/>
                  <a:moveTo>
                    <a:pt x="0" y="190373"/>
                  </a:moveTo>
                  <a:lnTo>
                    <a:pt x="0" y="218313"/>
                  </a:lnTo>
                  <a:lnTo>
                    <a:pt x="938149" y="218313"/>
                  </a:lnTo>
                  <a:lnTo>
                    <a:pt x="1251204" y="531368"/>
                  </a:lnTo>
                  <a:lnTo>
                    <a:pt x="1255268" y="535432"/>
                  </a:lnTo>
                  <a:lnTo>
                    <a:pt x="2546731" y="535432"/>
                  </a:lnTo>
                  <a:lnTo>
                    <a:pt x="2815717" y="266446"/>
                  </a:lnTo>
                  <a:lnTo>
                    <a:pt x="2795905" y="246634"/>
                  </a:lnTo>
                  <a:lnTo>
                    <a:pt x="2535047" y="507492"/>
                  </a:lnTo>
                  <a:lnTo>
                    <a:pt x="1266825" y="507492"/>
                  </a:lnTo>
                  <a:lnTo>
                    <a:pt x="953770" y="194437"/>
                  </a:lnTo>
                  <a:lnTo>
                    <a:pt x="949706" y="190373"/>
                  </a:lnTo>
                  <a:close/>
                  <a:moveTo>
                    <a:pt x="0" y="531749"/>
                  </a:moveTo>
                  <a:lnTo>
                    <a:pt x="0" y="559689"/>
                  </a:lnTo>
                  <a:lnTo>
                    <a:pt x="782574" y="559689"/>
                  </a:lnTo>
                  <a:lnTo>
                    <a:pt x="782574" y="531749"/>
                  </a:lnTo>
                  <a:close/>
                  <a:moveTo>
                    <a:pt x="1599819" y="667131"/>
                  </a:moveTo>
                  <a:lnTo>
                    <a:pt x="1193292" y="1073658"/>
                  </a:lnTo>
                  <a:lnTo>
                    <a:pt x="102870" y="1073658"/>
                  </a:lnTo>
                  <a:lnTo>
                    <a:pt x="0" y="1176401"/>
                  </a:lnTo>
                  <a:lnTo>
                    <a:pt x="0" y="1235710"/>
                  </a:lnTo>
                  <a:lnTo>
                    <a:pt x="120269" y="1115568"/>
                  </a:lnTo>
                  <a:lnTo>
                    <a:pt x="1210691" y="1115568"/>
                  </a:lnTo>
                  <a:lnTo>
                    <a:pt x="1617218" y="709041"/>
                  </a:lnTo>
                  <a:lnTo>
                    <a:pt x="3282950" y="709041"/>
                  </a:lnTo>
                  <a:lnTo>
                    <a:pt x="3282950" y="667131"/>
                  </a:lnTo>
                  <a:close/>
                </a:path>
              </a:pathLst>
            </a:custGeom>
            <a:solidFill>
              <a:srgbClr val="C7D7F3"/>
            </a:solid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1028700" y="1898261"/>
          <a:ext cx="13769871" cy="4114800"/>
        </p:xfrm>
        <a:graphic>
          <a:graphicData uri="http://schemas.openxmlformats.org/drawingml/2006/table">
            <a:tbl>
              <a:tblPr/>
              <a:tblGrid>
                <a:gridCol w="2432430"/>
                <a:gridCol w="2432430"/>
                <a:gridCol w="8905010"/>
              </a:tblGrid>
              <a:tr h="1028700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911"/>
                        </a:lnSpc>
                        <a:defRPr/>
                      </a:pPr>
                      <a:r>
                        <a:rPr lang="en-US" sz="207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Metric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911"/>
                        </a:lnSpc>
                        <a:defRPr/>
                      </a:pPr>
                      <a:r>
                        <a:rPr lang="en-US" sz="207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Score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911"/>
                        </a:lnSpc>
                        <a:defRPr/>
                      </a:pPr>
                      <a:r>
                        <a:rPr lang="en-US" sz="207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Intepretation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8700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911"/>
                        </a:lnSpc>
                        <a:defRPr/>
                      </a:pPr>
                      <a:r>
                        <a:rPr lang="en-US" sz="2079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Recall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911"/>
                        </a:lnSpc>
                        <a:defRPr/>
                      </a:pPr>
                      <a:r>
                        <a:rPr lang="en-US" sz="2079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73.2%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911"/>
                        </a:lnSpc>
                        <a:defRPr/>
                      </a:pPr>
                      <a:r>
                        <a:rPr lang="en-US" sz="2079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Catches about 7 out of 10 churners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8700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911"/>
                        </a:lnSpc>
                        <a:defRPr/>
                      </a:pPr>
                      <a:r>
                        <a:rPr lang="en-US" sz="2079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Precision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911"/>
                        </a:lnSpc>
                        <a:defRPr/>
                      </a:pPr>
                      <a:r>
                        <a:rPr lang="en-US" sz="2079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57.3%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911"/>
                        </a:lnSpc>
                        <a:defRPr/>
                      </a:pPr>
                      <a:r>
                        <a:rPr lang="en-US" sz="2079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Around 4 in 10 alerts are false alarms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8700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911"/>
                        </a:lnSpc>
                        <a:defRPr/>
                      </a:pPr>
                      <a:r>
                        <a:rPr lang="en-US" sz="2079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ROC-AUC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911"/>
                        </a:lnSpc>
                        <a:defRPr/>
                      </a:pPr>
                      <a:r>
                        <a:rPr lang="en-US" sz="2079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83.7%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911"/>
                        </a:lnSpc>
                        <a:defRPr/>
                      </a:pPr>
                      <a:r>
                        <a:rPr lang="en-US" sz="2079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Strong separation between churners and loyal customers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672821" y="971550"/>
            <a:ext cx="14481629" cy="8164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OUR FINAL MODEL: DECISION TREE</a:t>
            </a:r>
          </a:p>
          <a:p>
            <a:pPr algn="just">
              <a:lnSpc>
                <a:spcPts val="2911"/>
              </a:lnSpc>
              <a:spcBef>
                <a:spcPct val="0"/>
              </a:spcBef>
            </a:pPr>
          </a:p>
          <a:p>
            <a:pPr algn="just">
              <a:lnSpc>
                <a:spcPts val="2911"/>
              </a:lnSpc>
              <a:spcBef>
                <a:spcPct val="0"/>
              </a:spcBef>
            </a:pPr>
          </a:p>
          <a:p>
            <a:pPr algn="just">
              <a:lnSpc>
                <a:spcPts val="2911"/>
              </a:lnSpc>
              <a:spcBef>
                <a:spcPct val="0"/>
              </a:spcBef>
            </a:pPr>
          </a:p>
          <a:p>
            <a:pPr algn="just">
              <a:lnSpc>
                <a:spcPts val="2911"/>
              </a:lnSpc>
              <a:spcBef>
                <a:spcPct val="0"/>
              </a:spcBef>
            </a:pPr>
          </a:p>
          <a:p>
            <a:pPr algn="just">
              <a:lnSpc>
                <a:spcPts val="2911"/>
              </a:lnSpc>
              <a:spcBef>
                <a:spcPct val="0"/>
              </a:spcBef>
            </a:pPr>
          </a:p>
          <a:p>
            <a:pPr algn="just">
              <a:lnSpc>
                <a:spcPts val="2911"/>
              </a:lnSpc>
              <a:spcBef>
                <a:spcPct val="0"/>
              </a:spcBef>
            </a:pPr>
          </a:p>
          <a:p>
            <a:pPr algn="just">
              <a:lnSpc>
                <a:spcPts val="2911"/>
              </a:lnSpc>
              <a:spcBef>
                <a:spcPct val="0"/>
              </a:spcBef>
            </a:pPr>
          </a:p>
          <a:p>
            <a:pPr algn="just">
              <a:lnSpc>
                <a:spcPts val="2911"/>
              </a:lnSpc>
              <a:spcBef>
                <a:spcPct val="0"/>
              </a:spcBef>
            </a:pPr>
          </a:p>
          <a:p>
            <a:pPr algn="just">
              <a:lnSpc>
                <a:spcPts val="2911"/>
              </a:lnSpc>
              <a:spcBef>
                <a:spcPct val="0"/>
              </a:spcBef>
            </a:pPr>
          </a:p>
          <a:p>
            <a:pPr algn="just">
              <a:lnSpc>
                <a:spcPts val="2911"/>
              </a:lnSpc>
              <a:spcBef>
                <a:spcPct val="0"/>
              </a:spcBef>
            </a:pPr>
          </a:p>
          <a:p>
            <a:pPr algn="just">
              <a:lnSpc>
                <a:spcPts val="2911"/>
              </a:lnSpc>
              <a:spcBef>
                <a:spcPct val="0"/>
              </a:spcBef>
            </a:pPr>
          </a:p>
          <a:p>
            <a:pPr algn="just">
              <a:lnSpc>
                <a:spcPts val="2911"/>
              </a:lnSpc>
              <a:spcBef>
                <a:spcPct val="0"/>
              </a:spcBef>
            </a:pPr>
          </a:p>
          <a:p>
            <a:pPr algn="just">
              <a:lnSpc>
                <a:spcPts val="2911"/>
              </a:lnSpc>
              <a:spcBef>
                <a:spcPct val="0"/>
              </a:spcBef>
            </a:pPr>
          </a:p>
          <a:p>
            <a:pPr algn="just">
              <a:lnSpc>
                <a:spcPts val="2911"/>
              </a:lnSpc>
              <a:spcBef>
                <a:spcPct val="0"/>
              </a:spcBef>
            </a:pPr>
          </a:p>
          <a:p>
            <a:pPr algn="just">
              <a:lnSpc>
                <a:spcPts val="2911"/>
              </a:lnSpc>
              <a:spcBef>
                <a:spcPct val="0"/>
              </a:spcBef>
            </a:pPr>
          </a:p>
          <a:p>
            <a:pPr algn="just">
              <a:lnSpc>
                <a:spcPts val="2911"/>
              </a:lnSpc>
              <a:spcBef>
                <a:spcPct val="0"/>
              </a:spcBef>
            </a:pPr>
          </a:p>
          <a:p>
            <a:pPr algn="just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FF914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Threshold Tuning Insight</a:t>
            </a:r>
          </a:p>
          <a:p>
            <a:pPr algn="just">
              <a:lnSpc>
                <a:spcPts val="2911"/>
              </a:lnSpc>
              <a:spcBef>
                <a:spcPct val="0"/>
              </a:spcBef>
            </a:pPr>
          </a:p>
          <a:p>
            <a:pPr algn="just">
              <a:lnSpc>
                <a:spcPts val="2911"/>
              </a:lnSpc>
              <a:spcBef>
                <a:spcPct val="0"/>
              </a:spcBef>
            </a:pPr>
            <a:r>
              <a:rPr lang="en-US" sz="20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By adjusting our prediction threshold to 42.1%, we identified  3% more churners while only slightly increasing false alerts.</a:t>
            </a:r>
          </a:p>
          <a:p>
            <a:pPr algn="just">
              <a:lnSpc>
                <a:spcPts val="2911"/>
              </a:lnSpc>
              <a:spcBef>
                <a:spcPct val="0"/>
              </a:spcBef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-367306" y="9726713"/>
            <a:ext cx="19022613" cy="4006046"/>
            <a:chOff x="0" y="0"/>
            <a:chExt cx="5010071" cy="105509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10071" cy="1055090"/>
            </a:xfrm>
            <a:custGeom>
              <a:avLst/>
              <a:gdLst/>
              <a:ahLst/>
              <a:cxnLst/>
              <a:rect r="r" b="b" t="t" l="l"/>
              <a:pathLst>
                <a:path h="1055090" w="5010071">
                  <a:moveTo>
                    <a:pt x="0" y="0"/>
                  </a:moveTo>
                  <a:lnTo>
                    <a:pt x="5010071" y="0"/>
                  </a:lnTo>
                  <a:lnTo>
                    <a:pt x="5010071" y="1055090"/>
                  </a:lnTo>
                  <a:lnTo>
                    <a:pt x="0" y="1055090"/>
                  </a:lnTo>
                  <a:close/>
                </a:path>
              </a:pathLst>
            </a:custGeom>
            <a:gradFill rotWithShape="true">
              <a:gsLst>
                <a:gs pos="0">
                  <a:srgbClr val="114168">
                    <a:alpha val="100000"/>
                  </a:srgbClr>
                </a:gs>
                <a:gs pos="100000">
                  <a:srgbClr val="09023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10071" cy="10931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12"/>
                </a:lnSpc>
              </a:pPr>
            </a:p>
          </p:txBody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4132941" y="-864729"/>
            <a:ext cx="4522365" cy="2767879"/>
            <a:chOff x="0" y="0"/>
            <a:chExt cx="4522368" cy="276787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349631" y="1218438"/>
              <a:ext cx="956310" cy="27940"/>
            </a:xfrm>
            <a:custGeom>
              <a:avLst/>
              <a:gdLst/>
              <a:ahLst/>
              <a:cxnLst/>
              <a:rect r="r" b="b" t="t" l="l"/>
              <a:pathLst>
                <a:path h="27940" w="956310">
                  <a:moveTo>
                    <a:pt x="0" y="27940"/>
                  </a:moveTo>
                  <a:lnTo>
                    <a:pt x="956310" y="27940"/>
                  </a:lnTo>
                  <a:lnTo>
                    <a:pt x="956310" y="0"/>
                  </a:lnTo>
                  <a:lnTo>
                    <a:pt x="0" y="0"/>
                  </a:lnTo>
                  <a:lnTo>
                    <a:pt x="0" y="27940"/>
                  </a:ln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63500" y="586359"/>
              <a:ext cx="239268" cy="243840"/>
            </a:xfrm>
            <a:custGeom>
              <a:avLst/>
              <a:gdLst/>
              <a:ahLst/>
              <a:cxnLst/>
              <a:rect r="r" b="b" t="t" l="l"/>
              <a:pathLst>
                <a:path h="243840" w="239268">
                  <a:moveTo>
                    <a:pt x="117348" y="45212"/>
                  </a:moveTo>
                  <a:cubicBezTo>
                    <a:pt x="159766" y="45212"/>
                    <a:pt x="194183" y="79629"/>
                    <a:pt x="194183" y="122047"/>
                  </a:cubicBezTo>
                  <a:cubicBezTo>
                    <a:pt x="194183" y="164465"/>
                    <a:pt x="159766" y="198882"/>
                    <a:pt x="117348" y="198882"/>
                  </a:cubicBezTo>
                  <a:cubicBezTo>
                    <a:pt x="74930" y="198882"/>
                    <a:pt x="40513" y="164465"/>
                    <a:pt x="40513" y="122047"/>
                  </a:cubicBezTo>
                  <a:cubicBezTo>
                    <a:pt x="40513" y="79629"/>
                    <a:pt x="74930" y="45212"/>
                    <a:pt x="117348" y="45212"/>
                  </a:cubicBezTo>
                  <a:close/>
                  <a:moveTo>
                    <a:pt x="117348" y="127"/>
                  </a:moveTo>
                  <a:cubicBezTo>
                    <a:pt x="61468" y="127"/>
                    <a:pt x="14478" y="37719"/>
                    <a:pt x="0" y="88900"/>
                  </a:cubicBezTo>
                  <a:lnTo>
                    <a:pt x="0" y="88900"/>
                  </a:lnTo>
                  <a:lnTo>
                    <a:pt x="0" y="155067"/>
                  </a:lnTo>
                  <a:cubicBezTo>
                    <a:pt x="14478" y="206248"/>
                    <a:pt x="61468" y="243840"/>
                    <a:pt x="117348" y="243840"/>
                  </a:cubicBezTo>
                  <a:cubicBezTo>
                    <a:pt x="184658" y="243840"/>
                    <a:pt x="239268" y="189230"/>
                    <a:pt x="239268" y="121920"/>
                  </a:cubicBezTo>
                  <a:cubicBezTo>
                    <a:pt x="239268" y="54610"/>
                    <a:pt x="184658" y="0"/>
                    <a:pt x="117348" y="0"/>
                  </a:cubicBezTo>
                  <a:close/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930783" y="1410716"/>
              <a:ext cx="243840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40">
                  <a:moveTo>
                    <a:pt x="121920" y="198755"/>
                  </a:moveTo>
                  <a:cubicBezTo>
                    <a:pt x="164338" y="198755"/>
                    <a:pt x="198755" y="164338"/>
                    <a:pt x="198755" y="121920"/>
                  </a:cubicBezTo>
                  <a:cubicBezTo>
                    <a:pt x="198755" y="79502"/>
                    <a:pt x="164338" y="45085"/>
                    <a:pt x="121920" y="45085"/>
                  </a:cubicBezTo>
                  <a:cubicBezTo>
                    <a:pt x="79502" y="45085"/>
                    <a:pt x="45085" y="79502"/>
                    <a:pt x="45085" y="121920"/>
                  </a:cubicBezTo>
                  <a:cubicBezTo>
                    <a:pt x="45085" y="164338"/>
                    <a:pt x="79502" y="198755"/>
                    <a:pt x="121920" y="198755"/>
                  </a:cubicBezTo>
                  <a:close/>
                  <a:moveTo>
                    <a:pt x="121920" y="0"/>
                  </a:moveTo>
                  <a:cubicBezTo>
                    <a:pt x="189230" y="0"/>
                    <a:pt x="243840" y="54610"/>
                    <a:pt x="243840" y="121920"/>
                  </a:cubicBezTo>
                  <a:cubicBezTo>
                    <a:pt x="243840" y="189230"/>
                    <a:pt x="189230" y="243840"/>
                    <a:pt x="121920" y="243840"/>
                  </a:cubicBezTo>
                  <a:cubicBezTo>
                    <a:pt x="54610" y="243840"/>
                    <a:pt x="0" y="189230"/>
                    <a:pt x="0" y="121920"/>
                  </a:cubicBezTo>
                  <a:cubicBezTo>
                    <a:pt x="0" y="54610"/>
                    <a:pt x="54610" y="0"/>
                    <a:pt x="121920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3491484" y="1307211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0"/>
                  </a:moveTo>
                  <a:cubicBezTo>
                    <a:pt x="130429" y="0"/>
                    <a:pt x="168148" y="37592"/>
                    <a:pt x="168148" y="84074"/>
                  </a:cubicBezTo>
                  <a:cubicBezTo>
                    <a:pt x="168148" y="130556"/>
                    <a:pt x="130556" y="168148"/>
                    <a:pt x="84074" y="168148"/>
                  </a:cubicBezTo>
                  <a:cubicBezTo>
                    <a:pt x="37592" y="168148"/>
                    <a:pt x="0" y="130556"/>
                    <a:pt x="0" y="84074"/>
                  </a:cubicBezTo>
                  <a:cubicBezTo>
                    <a:pt x="0" y="37592"/>
                    <a:pt x="37592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202311" y="1148461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0"/>
                  </a:moveTo>
                  <a:cubicBezTo>
                    <a:pt x="130429" y="0"/>
                    <a:pt x="168148" y="37592"/>
                    <a:pt x="168148" y="84074"/>
                  </a:cubicBezTo>
                  <a:cubicBezTo>
                    <a:pt x="168148" y="130556"/>
                    <a:pt x="130556" y="168148"/>
                    <a:pt x="84074" y="168148"/>
                  </a:cubicBezTo>
                  <a:cubicBezTo>
                    <a:pt x="37592" y="168148"/>
                    <a:pt x="0" y="130556"/>
                    <a:pt x="0" y="84074"/>
                  </a:cubicBezTo>
                  <a:cubicBezTo>
                    <a:pt x="0" y="37592"/>
                    <a:pt x="37592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006475" y="342646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0"/>
                  </a:moveTo>
                  <a:cubicBezTo>
                    <a:pt x="130429" y="0"/>
                    <a:pt x="168148" y="37592"/>
                    <a:pt x="168148" y="84074"/>
                  </a:cubicBezTo>
                  <a:cubicBezTo>
                    <a:pt x="168148" y="130556"/>
                    <a:pt x="130556" y="168148"/>
                    <a:pt x="84074" y="168148"/>
                  </a:cubicBezTo>
                  <a:cubicBezTo>
                    <a:pt x="37592" y="168148"/>
                    <a:pt x="0" y="130556"/>
                    <a:pt x="0" y="84074"/>
                  </a:cubicBezTo>
                  <a:cubicBezTo>
                    <a:pt x="0" y="37592"/>
                    <a:pt x="37592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489583" y="960120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137033"/>
                  </a:moveTo>
                  <a:cubicBezTo>
                    <a:pt x="113411" y="137033"/>
                    <a:pt x="137033" y="113284"/>
                    <a:pt x="137033" y="84074"/>
                  </a:cubicBezTo>
                  <a:cubicBezTo>
                    <a:pt x="137033" y="54864"/>
                    <a:pt x="113284" y="31115"/>
                    <a:pt x="84074" y="31115"/>
                  </a:cubicBezTo>
                  <a:cubicBezTo>
                    <a:pt x="54864" y="31115"/>
                    <a:pt x="31115" y="54864"/>
                    <a:pt x="31115" y="84074"/>
                  </a:cubicBezTo>
                  <a:cubicBezTo>
                    <a:pt x="31115" y="113284"/>
                    <a:pt x="54864" y="137033"/>
                    <a:pt x="84074" y="137033"/>
                  </a:cubicBezTo>
                  <a:close/>
                  <a:moveTo>
                    <a:pt x="84074" y="0"/>
                  </a:moveTo>
                  <a:cubicBezTo>
                    <a:pt x="130556" y="0"/>
                    <a:pt x="168148" y="37592"/>
                    <a:pt x="168148" y="84074"/>
                  </a:cubicBezTo>
                  <a:cubicBezTo>
                    <a:pt x="168148" y="130556"/>
                    <a:pt x="130556" y="168148"/>
                    <a:pt x="84074" y="168148"/>
                  </a:cubicBezTo>
                  <a:cubicBezTo>
                    <a:pt x="37592" y="168148"/>
                    <a:pt x="0" y="130556"/>
                    <a:pt x="0" y="84074"/>
                  </a:cubicBezTo>
                  <a:cubicBezTo>
                    <a:pt x="0" y="37592"/>
                    <a:pt x="37592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3343021" y="395605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137033"/>
                  </a:moveTo>
                  <a:cubicBezTo>
                    <a:pt x="113284" y="137033"/>
                    <a:pt x="137033" y="113284"/>
                    <a:pt x="137033" y="84074"/>
                  </a:cubicBezTo>
                  <a:cubicBezTo>
                    <a:pt x="137033" y="54864"/>
                    <a:pt x="113284" y="31115"/>
                    <a:pt x="84074" y="31115"/>
                  </a:cubicBezTo>
                  <a:cubicBezTo>
                    <a:pt x="54864" y="31115"/>
                    <a:pt x="31115" y="54864"/>
                    <a:pt x="31115" y="84074"/>
                  </a:cubicBezTo>
                  <a:cubicBezTo>
                    <a:pt x="31115" y="113284"/>
                    <a:pt x="54864" y="137033"/>
                    <a:pt x="84074" y="137033"/>
                  </a:cubicBezTo>
                  <a:close/>
                  <a:moveTo>
                    <a:pt x="84074" y="0"/>
                  </a:moveTo>
                  <a:cubicBezTo>
                    <a:pt x="130429" y="0"/>
                    <a:pt x="168148" y="37592"/>
                    <a:pt x="168148" y="84074"/>
                  </a:cubicBezTo>
                  <a:cubicBezTo>
                    <a:pt x="168148" y="130556"/>
                    <a:pt x="130556" y="168148"/>
                    <a:pt x="84074" y="168148"/>
                  </a:cubicBezTo>
                  <a:cubicBezTo>
                    <a:pt x="37592" y="168148"/>
                    <a:pt x="0" y="130556"/>
                    <a:pt x="0" y="84074"/>
                  </a:cubicBezTo>
                  <a:cubicBezTo>
                    <a:pt x="0" y="37592"/>
                    <a:pt x="37592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286385" y="63500"/>
              <a:ext cx="4172458" cy="2045716"/>
            </a:xfrm>
            <a:custGeom>
              <a:avLst/>
              <a:gdLst/>
              <a:ahLst/>
              <a:cxnLst/>
              <a:rect r="r" b="b" t="t" l="l"/>
              <a:pathLst>
                <a:path h="2045716" w="4172458">
                  <a:moveTo>
                    <a:pt x="2886964" y="0"/>
                  </a:moveTo>
                  <a:lnTo>
                    <a:pt x="2531618" y="355346"/>
                  </a:lnTo>
                  <a:lnTo>
                    <a:pt x="862965" y="355346"/>
                  </a:lnTo>
                  <a:lnTo>
                    <a:pt x="862965" y="383286"/>
                  </a:lnTo>
                  <a:lnTo>
                    <a:pt x="2543175" y="383286"/>
                  </a:lnTo>
                  <a:lnTo>
                    <a:pt x="2926588" y="0"/>
                  </a:lnTo>
                  <a:close/>
                  <a:moveTo>
                    <a:pt x="3202051" y="398399"/>
                  </a:moveTo>
                  <a:lnTo>
                    <a:pt x="3202051" y="440309"/>
                  </a:lnTo>
                  <a:lnTo>
                    <a:pt x="4172458" y="440309"/>
                  </a:lnTo>
                  <a:lnTo>
                    <a:pt x="4172458" y="398399"/>
                  </a:lnTo>
                  <a:close/>
                  <a:moveTo>
                    <a:pt x="0" y="625856"/>
                  </a:moveTo>
                  <a:lnTo>
                    <a:pt x="0" y="667766"/>
                  </a:lnTo>
                  <a:lnTo>
                    <a:pt x="1765681" y="667766"/>
                  </a:lnTo>
                  <a:lnTo>
                    <a:pt x="2064258" y="966343"/>
                  </a:lnTo>
                  <a:lnTo>
                    <a:pt x="2629916" y="966343"/>
                  </a:lnTo>
                  <a:lnTo>
                    <a:pt x="2880106" y="716153"/>
                  </a:lnTo>
                  <a:lnTo>
                    <a:pt x="4172458" y="716153"/>
                  </a:lnTo>
                  <a:lnTo>
                    <a:pt x="4172458" y="674243"/>
                  </a:lnTo>
                  <a:lnTo>
                    <a:pt x="2862707" y="674243"/>
                  </a:lnTo>
                  <a:lnTo>
                    <a:pt x="2612517" y="924433"/>
                  </a:lnTo>
                  <a:lnTo>
                    <a:pt x="2081657" y="924433"/>
                  </a:lnTo>
                  <a:lnTo>
                    <a:pt x="1783207" y="625856"/>
                  </a:lnTo>
                  <a:close/>
                  <a:moveTo>
                    <a:pt x="3196336" y="973963"/>
                  </a:moveTo>
                  <a:lnTo>
                    <a:pt x="3192272" y="978027"/>
                  </a:lnTo>
                  <a:lnTo>
                    <a:pt x="2879217" y="1291082"/>
                  </a:lnTo>
                  <a:lnTo>
                    <a:pt x="1610868" y="1291082"/>
                  </a:lnTo>
                  <a:lnTo>
                    <a:pt x="1350010" y="1030351"/>
                  </a:lnTo>
                  <a:lnTo>
                    <a:pt x="1330198" y="1050163"/>
                  </a:lnTo>
                  <a:lnTo>
                    <a:pt x="1599184" y="1319149"/>
                  </a:lnTo>
                  <a:lnTo>
                    <a:pt x="2890774" y="1319149"/>
                  </a:lnTo>
                  <a:lnTo>
                    <a:pt x="2894838" y="1315085"/>
                  </a:lnTo>
                  <a:lnTo>
                    <a:pt x="3207893" y="1002030"/>
                  </a:lnTo>
                  <a:lnTo>
                    <a:pt x="4172458" y="1002030"/>
                  </a:lnTo>
                  <a:lnTo>
                    <a:pt x="4172458" y="974090"/>
                  </a:lnTo>
                  <a:close/>
                  <a:moveTo>
                    <a:pt x="3363468" y="1315339"/>
                  </a:moveTo>
                  <a:lnTo>
                    <a:pt x="3363468" y="1343279"/>
                  </a:lnTo>
                  <a:lnTo>
                    <a:pt x="4172458" y="1343279"/>
                  </a:lnTo>
                  <a:lnTo>
                    <a:pt x="4172458" y="1315339"/>
                  </a:lnTo>
                  <a:close/>
                  <a:moveTo>
                    <a:pt x="862965" y="1450721"/>
                  </a:moveTo>
                  <a:lnTo>
                    <a:pt x="862965" y="1492631"/>
                  </a:lnTo>
                  <a:lnTo>
                    <a:pt x="2528824" y="1492631"/>
                  </a:lnTo>
                  <a:lnTo>
                    <a:pt x="2935351" y="1899158"/>
                  </a:lnTo>
                  <a:lnTo>
                    <a:pt x="4025773" y="1899158"/>
                  </a:lnTo>
                  <a:lnTo>
                    <a:pt x="4172458" y="2045716"/>
                  </a:lnTo>
                  <a:lnTo>
                    <a:pt x="4172458" y="1986407"/>
                  </a:lnTo>
                  <a:lnTo>
                    <a:pt x="4043172" y="1857248"/>
                  </a:lnTo>
                  <a:lnTo>
                    <a:pt x="2952750" y="1857248"/>
                  </a:lnTo>
                  <a:lnTo>
                    <a:pt x="2546223" y="1450721"/>
                  </a:lnTo>
                  <a:close/>
                </a:path>
              </a:pathLst>
            </a:custGeom>
            <a:solidFill>
              <a:srgbClr val="C7D7F3"/>
            </a:solidFill>
          </p:spPr>
        </p:sp>
      </p:grpSp>
      <p:grpSp>
        <p:nvGrpSpPr>
          <p:cNvPr name="Group 18" id="18"/>
          <p:cNvGrpSpPr>
            <a:grpSpLocks noChangeAspect="true"/>
          </p:cNvGrpSpPr>
          <p:nvPr/>
        </p:nvGrpSpPr>
        <p:grpSpPr>
          <a:xfrm rot="0">
            <a:off x="0" y="-472895"/>
            <a:ext cx="4357106" cy="1984210"/>
            <a:chOff x="0" y="0"/>
            <a:chExt cx="4357103" cy="198421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3189986" y="434848"/>
              <a:ext cx="956310" cy="27940"/>
            </a:xfrm>
            <a:custGeom>
              <a:avLst/>
              <a:gdLst/>
              <a:ahLst/>
              <a:cxnLst/>
              <a:rect r="r" b="b" t="t" l="l"/>
              <a:pathLst>
                <a:path h="27940" w="956310">
                  <a:moveTo>
                    <a:pt x="956310" y="27940"/>
                  </a:moveTo>
                  <a:lnTo>
                    <a:pt x="0" y="27940"/>
                  </a:lnTo>
                  <a:lnTo>
                    <a:pt x="0" y="0"/>
                  </a:lnTo>
                  <a:lnTo>
                    <a:pt x="956310" y="0"/>
                  </a:lnTo>
                  <a:lnTo>
                    <a:pt x="956310" y="27940"/>
                  </a:ln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3321177" y="626999"/>
              <a:ext cx="243840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40">
                  <a:moveTo>
                    <a:pt x="121920" y="198755"/>
                  </a:moveTo>
                  <a:cubicBezTo>
                    <a:pt x="79502" y="198755"/>
                    <a:pt x="45085" y="164338"/>
                    <a:pt x="45085" y="121920"/>
                  </a:cubicBezTo>
                  <a:cubicBezTo>
                    <a:pt x="45085" y="79502"/>
                    <a:pt x="79502" y="45085"/>
                    <a:pt x="121920" y="45085"/>
                  </a:cubicBezTo>
                  <a:cubicBezTo>
                    <a:pt x="164338" y="45085"/>
                    <a:pt x="198755" y="79502"/>
                    <a:pt x="198755" y="121920"/>
                  </a:cubicBezTo>
                  <a:cubicBezTo>
                    <a:pt x="198755" y="164338"/>
                    <a:pt x="164338" y="198755"/>
                    <a:pt x="121920" y="198755"/>
                  </a:cubicBezTo>
                  <a:close/>
                  <a:moveTo>
                    <a:pt x="121920" y="0"/>
                  </a:moveTo>
                  <a:cubicBezTo>
                    <a:pt x="54610" y="0"/>
                    <a:pt x="0" y="54610"/>
                    <a:pt x="0" y="121920"/>
                  </a:cubicBezTo>
                  <a:cubicBezTo>
                    <a:pt x="0" y="189230"/>
                    <a:pt x="54610" y="243840"/>
                    <a:pt x="121920" y="243840"/>
                  </a:cubicBezTo>
                  <a:cubicBezTo>
                    <a:pt x="189230" y="243840"/>
                    <a:pt x="243840" y="189230"/>
                    <a:pt x="243840" y="121920"/>
                  </a:cubicBezTo>
                  <a:cubicBezTo>
                    <a:pt x="243840" y="54610"/>
                    <a:pt x="189230" y="0"/>
                    <a:pt x="121920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836295" y="523621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0"/>
                  </a:moveTo>
                  <a:cubicBezTo>
                    <a:pt x="37719" y="0"/>
                    <a:pt x="0" y="37592"/>
                    <a:pt x="0" y="84074"/>
                  </a:cubicBezTo>
                  <a:cubicBezTo>
                    <a:pt x="0" y="130556"/>
                    <a:pt x="37592" y="168148"/>
                    <a:pt x="84074" y="168148"/>
                  </a:cubicBezTo>
                  <a:cubicBezTo>
                    <a:pt x="130556" y="168148"/>
                    <a:pt x="168148" y="130556"/>
                    <a:pt x="168148" y="84074"/>
                  </a:cubicBezTo>
                  <a:cubicBezTo>
                    <a:pt x="168148" y="37592"/>
                    <a:pt x="130556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4125468" y="364744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0"/>
                  </a:moveTo>
                  <a:cubicBezTo>
                    <a:pt x="37719" y="0"/>
                    <a:pt x="0" y="37592"/>
                    <a:pt x="0" y="84074"/>
                  </a:cubicBezTo>
                  <a:cubicBezTo>
                    <a:pt x="0" y="130556"/>
                    <a:pt x="37592" y="168148"/>
                    <a:pt x="84074" y="168148"/>
                  </a:cubicBezTo>
                  <a:cubicBezTo>
                    <a:pt x="130556" y="168148"/>
                    <a:pt x="168148" y="130556"/>
                    <a:pt x="168148" y="84074"/>
                  </a:cubicBezTo>
                  <a:cubicBezTo>
                    <a:pt x="168148" y="37592"/>
                    <a:pt x="130556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2838196" y="176530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137033"/>
                  </a:moveTo>
                  <a:cubicBezTo>
                    <a:pt x="54737" y="137033"/>
                    <a:pt x="31115" y="113284"/>
                    <a:pt x="31115" y="84074"/>
                  </a:cubicBezTo>
                  <a:cubicBezTo>
                    <a:pt x="31115" y="54864"/>
                    <a:pt x="54864" y="31115"/>
                    <a:pt x="84074" y="31115"/>
                  </a:cubicBezTo>
                  <a:cubicBezTo>
                    <a:pt x="113284" y="31115"/>
                    <a:pt x="137033" y="54864"/>
                    <a:pt x="137033" y="84074"/>
                  </a:cubicBezTo>
                  <a:cubicBezTo>
                    <a:pt x="137033" y="113284"/>
                    <a:pt x="113284" y="137033"/>
                    <a:pt x="84074" y="137033"/>
                  </a:cubicBezTo>
                  <a:close/>
                  <a:moveTo>
                    <a:pt x="84074" y="0"/>
                  </a:moveTo>
                  <a:cubicBezTo>
                    <a:pt x="37592" y="0"/>
                    <a:pt x="0" y="37592"/>
                    <a:pt x="0" y="84074"/>
                  </a:cubicBezTo>
                  <a:cubicBezTo>
                    <a:pt x="0" y="130556"/>
                    <a:pt x="37592" y="168148"/>
                    <a:pt x="84074" y="168148"/>
                  </a:cubicBezTo>
                  <a:cubicBezTo>
                    <a:pt x="130556" y="168148"/>
                    <a:pt x="168148" y="130556"/>
                    <a:pt x="168148" y="84074"/>
                  </a:cubicBezTo>
                  <a:cubicBezTo>
                    <a:pt x="168148" y="37592"/>
                    <a:pt x="130556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63500" y="63500"/>
              <a:ext cx="3282950" cy="1235710"/>
            </a:xfrm>
            <a:custGeom>
              <a:avLst/>
              <a:gdLst/>
              <a:ahLst/>
              <a:cxnLst/>
              <a:rect r="r" b="b" t="t" l="l"/>
              <a:pathLst>
                <a:path h="1235710" w="3282950">
                  <a:moveTo>
                    <a:pt x="1333373" y="0"/>
                  </a:moveTo>
                  <a:lnTo>
                    <a:pt x="1516126" y="182753"/>
                  </a:lnTo>
                  <a:lnTo>
                    <a:pt x="2081784" y="182753"/>
                  </a:lnTo>
                  <a:lnTo>
                    <a:pt x="2264537" y="0"/>
                  </a:lnTo>
                  <a:lnTo>
                    <a:pt x="2205228" y="0"/>
                  </a:lnTo>
                  <a:lnTo>
                    <a:pt x="2064385" y="140716"/>
                  </a:lnTo>
                  <a:lnTo>
                    <a:pt x="1533398" y="140716"/>
                  </a:lnTo>
                  <a:lnTo>
                    <a:pt x="1392682" y="0"/>
                  </a:lnTo>
                  <a:close/>
                  <a:moveTo>
                    <a:pt x="0" y="190373"/>
                  </a:moveTo>
                  <a:lnTo>
                    <a:pt x="0" y="218313"/>
                  </a:lnTo>
                  <a:lnTo>
                    <a:pt x="938149" y="218313"/>
                  </a:lnTo>
                  <a:lnTo>
                    <a:pt x="1251204" y="531368"/>
                  </a:lnTo>
                  <a:lnTo>
                    <a:pt x="1255268" y="535432"/>
                  </a:lnTo>
                  <a:lnTo>
                    <a:pt x="2546731" y="535432"/>
                  </a:lnTo>
                  <a:lnTo>
                    <a:pt x="2815717" y="266446"/>
                  </a:lnTo>
                  <a:lnTo>
                    <a:pt x="2795905" y="246634"/>
                  </a:lnTo>
                  <a:lnTo>
                    <a:pt x="2535047" y="507492"/>
                  </a:lnTo>
                  <a:lnTo>
                    <a:pt x="1266825" y="507492"/>
                  </a:lnTo>
                  <a:lnTo>
                    <a:pt x="953770" y="194437"/>
                  </a:lnTo>
                  <a:lnTo>
                    <a:pt x="949706" y="190373"/>
                  </a:lnTo>
                  <a:close/>
                  <a:moveTo>
                    <a:pt x="0" y="531749"/>
                  </a:moveTo>
                  <a:lnTo>
                    <a:pt x="0" y="559689"/>
                  </a:lnTo>
                  <a:lnTo>
                    <a:pt x="782574" y="559689"/>
                  </a:lnTo>
                  <a:lnTo>
                    <a:pt x="782574" y="531749"/>
                  </a:lnTo>
                  <a:close/>
                  <a:moveTo>
                    <a:pt x="1599819" y="667131"/>
                  </a:moveTo>
                  <a:lnTo>
                    <a:pt x="1193292" y="1073658"/>
                  </a:lnTo>
                  <a:lnTo>
                    <a:pt x="102870" y="1073658"/>
                  </a:lnTo>
                  <a:lnTo>
                    <a:pt x="0" y="1176401"/>
                  </a:lnTo>
                  <a:lnTo>
                    <a:pt x="0" y="1235710"/>
                  </a:lnTo>
                  <a:lnTo>
                    <a:pt x="120269" y="1115568"/>
                  </a:lnTo>
                  <a:lnTo>
                    <a:pt x="1210691" y="1115568"/>
                  </a:lnTo>
                  <a:lnTo>
                    <a:pt x="1617218" y="709041"/>
                  </a:lnTo>
                  <a:lnTo>
                    <a:pt x="3282950" y="709041"/>
                  </a:lnTo>
                  <a:lnTo>
                    <a:pt x="3282950" y="667131"/>
                  </a:lnTo>
                  <a:close/>
                </a:path>
              </a:pathLst>
            </a:custGeom>
            <a:solidFill>
              <a:srgbClr val="C7D7F3"/>
            </a:solid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248166" y="4286739"/>
            <a:ext cx="9121788" cy="5393257"/>
          </a:xfrm>
          <a:custGeom>
            <a:avLst/>
            <a:gdLst/>
            <a:ahLst/>
            <a:cxnLst/>
            <a:rect r="r" b="b" t="t" l="l"/>
            <a:pathLst>
              <a:path h="5393257" w="9121788">
                <a:moveTo>
                  <a:pt x="0" y="0"/>
                </a:moveTo>
                <a:lnTo>
                  <a:pt x="9121788" y="0"/>
                </a:lnTo>
                <a:lnTo>
                  <a:pt x="9121788" y="5393257"/>
                </a:lnTo>
                <a:lnTo>
                  <a:pt x="0" y="53932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69173" y="9815805"/>
            <a:ext cx="19022613" cy="4006046"/>
            <a:chOff x="0" y="0"/>
            <a:chExt cx="5010071" cy="10550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010071" cy="1055090"/>
            </a:xfrm>
            <a:custGeom>
              <a:avLst/>
              <a:gdLst/>
              <a:ahLst/>
              <a:cxnLst/>
              <a:rect r="r" b="b" t="t" l="l"/>
              <a:pathLst>
                <a:path h="1055090" w="5010071">
                  <a:moveTo>
                    <a:pt x="0" y="0"/>
                  </a:moveTo>
                  <a:lnTo>
                    <a:pt x="5010071" y="0"/>
                  </a:lnTo>
                  <a:lnTo>
                    <a:pt x="5010071" y="1055090"/>
                  </a:lnTo>
                  <a:lnTo>
                    <a:pt x="0" y="1055090"/>
                  </a:lnTo>
                  <a:close/>
                </a:path>
              </a:pathLst>
            </a:custGeom>
            <a:gradFill rotWithShape="true">
              <a:gsLst>
                <a:gs pos="0">
                  <a:srgbClr val="114168">
                    <a:alpha val="100000"/>
                  </a:srgbClr>
                </a:gs>
                <a:gs pos="100000">
                  <a:srgbClr val="09023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5010071" cy="10931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12"/>
                </a:lnSpc>
              </a:pPr>
            </a:p>
          </p:txBody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14669421" y="-461313"/>
            <a:ext cx="4522365" cy="2767879"/>
            <a:chOff x="0" y="0"/>
            <a:chExt cx="4522368" cy="276787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349631" y="1218438"/>
              <a:ext cx="956310" cy="27940"/>
            </a:xfrm>
            <a:custGeom>
              <a:avLst/>
              <a:gdLst/>
              <a:ahLst/>
              <a:cxnLst/>
              <a:rect r="r" b="b" t="t" l="l"/>
              <a:pathLst>
                <a:path h="27940" w="956310">
                  <a:moveTo>
                    <a:pt x="0" y="27940"/>
                  </a:moveTo>
                  <a:lnTo>
                    <a:pt x="956310" y="27940"/>
                  </a:lnTo>
                  <a:lnTo>
                    <a:pt x="956310" y="0"/>
                  </a:lnTo>
                  <a:lnTo>
                    <a:pt x="0" y="0"/>
                  </a:lnTo>
                  <a:lnTo>
                    <a:pt x="0" y="27940"/>
                  </a:ln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3500" y="586359"/>
              <a:ext cx="239268" cy="243840"/>
            </a:xfrm>
            <a:custGeom>
              <a:avLst/>
              <a:gdLst/>
              <a:ahLst/>
              <a:cxnLst/>
              <a:rect r="r" b="b" t="t" l="l"/>
              <a:pathLst>
                <a:path h="243840" w="239268">
                  <a:moveTo>
                    <a:pt x="117348" y="45212"/>
                  </a:moveTo>
                  <a:cubicBezTo>
                    <a:pt x="159766" y="45212"/>
                    <a:pt x="194183" y="79629"/>
                    <a:pt x="194183" y="122047"/>
                  </a:cubicBezTo>
                  <a:cubicBezTo>
                    <a:pt x="194183" y="164465"/>
                    <a:pt x="159766" y="198882"/>
                    <a:pt x="117348" y="198882"/>
                  </a:cubicBezTo>
                  <a:cubicBezTo>
                    <a:pt x="74930" y="198882"/>
                    <a:pt x="40513" y="164465"/>
                    <a:pt x="40513" y="122047"/>
                  </a:cubicBezTo>
                  <a:cubicBezTo>
                    <a:pt x="40513" y="79629"/>
                    <a:pt x="74930" y="45212"/>
                    <a:pt x="117348" y="45212"/>
                  </a:cubicBezTo>
                  <a:close/>
                  <a:moveTo>
                    <a:pt x="117348" y="127"/>
                  </a:moveTo>
                  <a:cubicBezTo>
                    <a:pt x="61468" y="127"/>
                    <a:pt x="14478" y="37719"/>
                    <a:pt x="0" y="88900"/>
                  </a:cubicBezTo>
                  <a:lnTo>
                    <a:pt x="0" y="88900"/>
                  </a:lnTo>
                  <a:lnTo>
                    <a:pt x="0" y="155067"/>
                  </a:lnTo>
                  <a:cubicBezTo>
                    <a:pt x="14478" y="206248"/>
                    <a:pt x="61468" y="243840"/>
                    <a:pt x="117348" y="243840"/>
                  </a:cubicBezTo>
                  <a:cubicBezTo>
                    <a:pt x="184658" y="243840"/>
                    <a:pt x="239268" y="189230"/>
                    <a:pt x="239268" y="121920"/>
                  </a:cubicBezTo>
                  <a:cubicBezTo>
                    <a:pt x="239268" y="54610"/>
                    <a:pt x="184658" y="0"/>
                    <a:pt x="117348" y="0"/>
                  </a:cubicBezTo>
                  <a:close/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930783" y="1410716"/>
              <a:ext cx="243840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40">
                  <a:moveTo>
                    <a:pt x="121920" y="198755"/>
                  </a:moveTo>
                  <a:cubicBezTo>
                    <a:pt x="164338" y="198755"/>
                    <a:pt x="198755" y="164338"/>
                    <a:pt x="198755" y="121920"/>
                  </a:cubicBezTo>
                  <a:cubicBezTo>
                    <a:pt x="198755" y="79502"/>
                    <a:pt x="164338" y="45085"/>
                    <a:pt x="121920" y="45085"/>
                  </a:cubicBezTo>
                  <a:cubicBezTo>
                    <a:pt x="79502" y="45085"/>
                    <a:pt x="45085" y="79502"/>
                    <a:pt x="45085" y="121920"/>
                  </a:cubicBezTo>
                  <a:cubicBezTo>
                    <a:pt x="45085" y="164338"/>
                    <a:pt x="79502" y="198755"/>
                    <a:pt x="121920" y="198755"/>
                  </a:cubicBezTo>
                  <a:close/>
                  <a:moveTo>
                    <a:pt x="121920" y="0"/>
                  </a:moveTo>
                  <a:cubicBezTo>
                    <a:pt x="189230" y="0"/>
                    <a:pt x="243840" y="54610"/>
                    <a:pt x="243840" y="121920"/>
                  </a:cubicBezTo>
                  <a:cubicBezTo>
                    <a:pt x="243840" y="189230"/>
                    <a:pt x="189230" y="243840"/>
                    <a:pt x="121920" y="243840"/>
                  </a:cubicBezTo>
                  <a:cubicBezTo>
                    <a:pt x="54610" y="243840"/>
                    <a:pt x="0" y="189230"/>
                    <a:pt x="0" y="121920"/>
                  </a:cubicBezTo>
                  <a:cubicBezTo>
                    <a:pt x="0" y="54610"/>
                    <a:pt x="54610" y="0"/>
                    <a:pt x="121920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3491484" y="1307211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0"/>
                  </a:moveTo>
                  <a:cubicBezTo>
                    <a:pt x="130429" y="0"/>
                    <a:pt x="168148" y="37592"/>
                    <a:pt x="168148" y="84074"/>
                  </a:cubicBezTo>
                  <a:cubicBezTo>
                    <a:pt x="168148" y="130556"/>
                    <a:pt x="130556" y="168148"/>
                    <a:pt x="84074" y="168148"/>
                  </a:cubicBezTo>
                  <a:cubicBezTo>
                    <a:pt x="37592" y="168148"/>
                    <a:pt x="0" y="130556"/>
                    <a:pt x="0" y="84074"/>
                  </a:cubicBezTo>
                  <a:cubicBezTo>
                    <a:pt x="0" y="37592"/>
                    <a:pt x="37592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202311" y="1148461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0"/>
                  </a:moveTo>
                  <a:cubicBezTo>
                    <a:pt x="130429" y="0"/>
                    <a:pt x="168148" y="37592"/>
                    <a:pt x="168148" y="84074"/>
                  </a:cubicBezTo>
                  <a:cubicBezTo>
                    <a:pt x="168148" y="130556"/>
                    <a:pt x="130556" y="168148"/>
                    <a:pt x="84074" y="168148"/>
                  </a:cubicBezTo>
                  <a:cubicBezTo>
                    <a:pt x="37592" y="168148"/>
                    <a:pt x="0" y="130556"/>
                    <a:pt x="0" y="84074"/>
                  </a:cubicBezTo>
                  <a:cubicBezTo>
                    <a:pt x="0" y="37592"/>
                    <a:pt x="37592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006475" y="342646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0"/>
                  </a:moveTo>
                  <a:cubicBezTo>
                    <a:pt x="130429" y="0"/>
                    <a:pt x="168148" y="37592"/>
                    <a:pt x="168148" y="84074"/>
                  </a:cubicBezTo>
                  <a:cubicBezTo>
                    <a:pt x="168148" y="130556"/>
                    <a:pt x="130556" y="168148"/>
                    <a:pt x="84074" y="168148"/>
                  </a:cubicBezTo>
                  <a:cubicBezTo>
                    <a:pt x="37592" y="168148"/>
                    <a:pt x="0" y="130556"/>
                    <a:pt x="0" y="84074"/>
                  </a:cubicBezTo>
                  <a:cubicBezTo>
                    <a:pt x="0" y="37592"/>
                    <a:pt x="37592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489583" y="960120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137033"/>
                  </a:moveTo>
                  <a:cubicBezTo>
                    <a:pt x="113411" y="137033"/>
                    <a:pt x="137033" y="113284"/>
                    <a:pt x="137033" y="84074"/>
                  </a:cubicBezTo>
                  <a:cubicBezTo>
                    <a:pt x="137033" y="54864"/>
                    <a:pt x="113284" y="31115"/>
                    <a:pt x="84074" y="31115"/>
                  </a:cubicBezTo>
                  <a:cubicBezTo>
                    <a:pt x="54864" y="31115"/>
                    <a:pt x="31115" y="54864"/>
                    <a:pt x="31115" y="84074"/>
                  </a:cubicBezTo>
                  <a:cubicBezTo>
                    <a:pt x="31115" y="113284"/>
                    <a:pt x="54864" y="137033"/>
                    <a:pt x="84074" y="137033"/>
                  </a:cubicBezTo>
                  <a:close/>
                  <a:moveTo>
                    <a:pt x="84074" y="0"/>
                  </a:moveTo>
                  <a:cubicBezTo>
                    <a:pt x="130556" y="0"/>
                    <a:pt x="168148" y="37592"/>
                    <a:pt x="168148" y="84074"/>
                  </a:cubicBezTo>
                  <a:cubicBezTo>
                    <a:pt x="168148" y="130556"/>
                    <a:pt x="130556" y="168148"/>
                    <a:pt x="84074" y="168148"/>
                  </a:cubicBezTo>
                  <a:cubicBezTo>
                    <a:pt x="37592" y="168148"/>
                    <a:pt x="0" y="130556"/>
                    <a:pt x="0" y="84074"/>
                  </a:cubicBezTo>
                  <a:cubicBezTo>
                    <a:pt x="0" y="37592"/>
                    <a:pt x="37592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3343021" y="395605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137033"/>
                  </a:moveTo>
                  <a:cubicBezTo>
                    <a:pt x="113284" y="137033"/>
                    <a:pt x="137033" y="113284"/>
                    <a:pt x="137033" y="84074"/>
                  </a:cubicBezTo>
                  <a:cubicBezTo>
                    <a:pt x="137033" y="54864"/>
                    <a:pt x="113284" y="31115"/>
                    <a:pt x="84074" y="31115"/>
                  </a:cubicBezTo>
                  <a:cubicBezTo>
                    <a:pt x="54864" y="31115"/>
                    <a:pt x="31115" y="54864"/>
                    <a:pt x="31115" y="84074"/>
                  </a:cubicBezTo>
                  <a:cubicBezTo>
                    <a:pt x="31115" y="113284"/>
                    <a:pt x="54864" y="137033"/>
                    <a:pt x="84074" y="137033"/>
                  </a:cubicBezTo>
                  <a:close/>
                  <a:moveTo>
                    <a:pt x="84074" y="0"/>
                  </a:moveTo>
                  <a:cubicBezTo>
                    <a:pt x="130429" y="0"/>
                    <a:pt x="168148" y="37592"/>
                    <a:pt x="168148" y="84074"/>
                  </a:cubicBezTo>
                  <a:cubicBezTo>
                    <a:pt x="168148" y="130556"/>
                    <a:pt x="130556" y="168148"/>
                    <a:pt x="84074" y="168148"/>
                  </a:cubicBezTo>
                  <a:cubicBezTo>
                    <a:pt x="37592" y="168148"/>
                    <a:pt x="0" y="130556"/>
                    <a:pt x="0" y="84074"/>
                  </a:cubicBezTo>
                  <a:cubicBezTo>
                    <a:pt x="0" y="37592"/>
                    <a:pt x="37592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86385" y="63500"/>
              <a:ext cx="4172458" cy="2045716"/>
            </a:xfrm>
            <a:custGeom>
              <a:avLst/>
              <a:gdLst/>
              <a:ahLst/>
              <a:cxnLst/>
              <a:rect r="r" b="b" t="t" l="l"/>
              <a:pathLst>
                <a:path h="2045716" w="4172458">
                  <a:moveTo>
                    <a:pt x="2886964" y="0"/>
                  </a:moveTo>
                  <a:lnTo>
                    <a:pt x="2531618" y="355346"/>
                  </a:lnTo>
                  <a:lnTo>
                    <a:pt x="862965" y="355346"/>
                  </a:lnTo>
                  <a:lnTo>
                    <a:pt x="862965" y="383286"/>
                  </a:lnTo>
                  <a:lnTo>
                    <a:pt x="2543175" y="383286"/>
                  </a:lnTo>
                  <a:lnTo>
                    <a:pt x="2926588" y="0"/>
                  </a:lnTo>
                  <a:close/>
                  <a:moveTo>
                    <a:pt x="3202051" y="398399"/>
                  </a:moveTo>
                  <a:lnTo>
                    <a:pt x="3202051" y="440309"/>
                  </a:lnTo>
                  <a:lnTo>
                    <a:pt x="4172458" y="440309"/>
                  </a:lnTo>
                  <a:lnTo>
                    <a:pt x="4172458" y="398399"/>
                  </a:lnTo>
                  <a:close/>
                  <a:moveTo>
                    <a:pt x="0" y="625856"/>
                  </a:moveTo>
                  <a:lnTo>
                    <a:pt x="0" y="667766"/>
                  </a:lnTo>
                  <a:lnTo>
                    <a:pt x="1765681" y="667766"/>
                  </a:lnTo>
                  <a:lnTo>
                    <a:pt x="2064258" y="966343"/>
                  </a:lnTo>
                  <a:lnTo>
                    <a:pt x="2629916" y="966343"/>
                  </a:lnTo>
                  <a:lnTo>
                    <a:pt x="2880106" y="716153"/>
                  </a:lnTo>
                  <a:lnTo>
                    <a:pt x="4172458" y="716153"/>
                  </a:lnTo>
                  <a:lnTo>
                    <a:pt x="4172458" y="674243"/>
                  </a:lnTo>
                  <a:lnTo>
                    <a:pt x="2862707" y="674243"/>
                  </a:lnTo>
                  <a:lnTo>
                    <a:pt x="2612517" y="924433"/>
                  </a:lnTo>
                  <a:lnTo>
                    <a:pt x="2081657" y="924433"/>
                  </a:lnTo>
                  <a:lnTo>
                    <a:pt x="1783207" y="625856"/>
                  </a:lnTo>
                  <a:close/>
                  <a:moveTo>
                    <a:pt x="3196336" y="973963"/>
                  </a:moveTo>
                  <a:lnTo>
                    <a:pt x="3192272" y="978027"/>
                  </a:lnTo>
                  <a:lnTo>
                    <a:pt x="2879217" y="1291082"/>
                  </a:lnTo>
                  <a:lnTo>
                    <a:pt x="1610868" y="1291082"/>
                  </a:lnTo>
                  <a:lnTo>
                    <a:pt x="1350010" y="1030351"/>
                  </a:lnTo>
                  <a:lnTo>
                    <a:pt x="1330198" y="1050163"/>
                  </a:lnTo>
                  <a:lnTo>
                    <a:pt x="1599184" y="1319149"/>
                  </a:lnTo>
                  <a:lnTo>
                    <a:pt x="2890774" y="1319149"/>
                  </a:lnTo>
                  <a:lnTo>
                    <a:pt x="2894838" y="1315085"/>
                  </a:lnTo>
                  <a:lnTo>
                    <a:pt x="3207893" y="1002030"/>
                  </a:lnTo>
                  <a:lnTo>
                    <a:pt x="4172458" y="1002030"/>
                  </a:lnTo>
                  <a:lnTo>
                    <a:pt x="4172458" y="974090"/>
                  </a:lnTo>
                  <a:close/>
                  <a:moveTo>
                    <a:pt x="3363468" y="1315339"/>
                  </a:moveTo>
                  <a:lnTo>
                    <a:pt x="3363468" y="1343279"/>
                  </a:lnTo>
                  <a:lnTo>
                    <a:pt x="4172458" y="1343279"/>
                  </a:lnTo>
                  <a:lnTo>
                    <a:pt x="4172458" y="1315339"/>
                  </a:lnTo>
                  <a:close/>
                  <a:moveTo>
                    <a:pt x="862965" y="1450721"/>
                  </a:moveTo>
                  <a:lnTo>
                    <a:pt x="862965" y="1492631"/>
                  </a:lnTo>
                  <a:lnTo>
                    <a:pt x="2528824" y="1492631"/>
                  </a:lnTo>
                  <a:lnTo>
                    <a:pt x="2935351" y="1899158"/>
                  </a:lnTo>
                  <a:lnTo>
                    <a:pt x="4025773" y="1899158"/>
                  </a:lnTo>
                  <a:lnTo>
                    <a:pt x="4172458" y="2045716"/>
                  </a:lnTo>
                  <a:lnTo>
                    <a:pt x="4172458" y="1986407"/>
                  </a:lnTo>
                  <a:lnTo>
                    <a:pt x="4043172" y="1857248"/>
                  </a:lnTo>
                  <a:lnTo>
                    <a:pt x="2952750" y="1857248"/>
                  </a:lnTo>
                  <a:lnTo>
                    <a:pt x="2546223" y="1450721"/>
                  </a:lnTo>
                  <a:close/>
                </a:path>
              </a:pathLst>
            </a:custGeom>
            <a:solidFill>
              <a:srgbClr val="C7D7F3"/>
            </a:solidFill>
          </p:spPr>
        </p:sp>
      </p:grpSp>
      <p:grpSp>
        <p:nvGrpSpPr>
          <p:cNvPr name="Group 17" id="17"/>
          <p:cNvGrpSpPr>
            <a:grpSpLocks noChangeAspect="true"/>
          </p:cNvGrpSpPr>
          <p:nvPr/>
        </p:nvGrpSpPr>
        <p:grpSpPr>
          <a:xfrm rot="0">
            <a:off x="-108940" y="-461313"/>
            <a:ext cx="4357106" cy="1984210"/>
            <a:chOff x="0" y="0"/>
            <a:chExt cx="4357103" cy="198421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3189986" y="434848"/>
              <a:ext cx="956310" cy="27940"/>
            </a:xfrm>
            <a:custGeom>
              <a:avLst/>
              <a:gdLst/>
              <a:ahLst/>
              <a:cxnLst/>
              <a:rect r="r" b="b" t="t" l="l"/>
              <a:pathLst>
                <a:path h="27940" w="956310">
                  <a:moveTo>
                    <a:pt x="956310" y="27940"/>
                  </a:moveTo>
                  <a:lnTo>
                    <a:pt x="0" y="27940"/>
                  </a:lnTo>
                  <a:lnTo>
                    <a:pt x="0" y="0"/>
                  </a:lnTo>
                  <a:lnTo>
                    <a:pt x="956310" y="0"/>
                  </a:lnTo>
                  <a:lnTo>
                    <a:pt x="956310" y="27940"/>
                  </a:ln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3321177" y="626999"/>
              <a:ext cx="243840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40">
                  <a:moveTo>
                    <a:pt x="121920" y="198755"/>
                  </a:moveTo>
                  <a:cubicBezTo>
                    <a:pt x="79502" y="198755"/>
                    <a:pt x="45085" y="164338"/>
                    <a:pt x="45085" y="121920"/>
                  </a:cubicBezTo>
                  <a:cubicBezTo>
                    <a:pt x="45085" y="79502"/>
                    <a:pt x="79502" y="45085"/>
                    <a:pt x="121920" y="45085"/>
                  </a:cubicBezTo>
                  <a:cubicBezTo>
                    <a:pt x="164338" y="45085"/>
                    <a:pt x="198755" y="79502"/>
                    <a:pt x="198755" y="121920"/>
                  </a:cubicBezTo>
                  <a:cubicBezTo>
                    <a:pt x="198755" y="164338"/>
                    <a:pt x="164338" y="198755"/>
                    <a:pt x="121920" y="198755"/>
                  </a:cubicBezTo>
                  <a:close/>
                  <a:moveTo>
                    <a:pt x="121920" y="0"/>
                  </a:moveTo>
                  <a:cubicBezTo>
                    <a:pt x="54610" y="0"/>
                    <a:pt x="0" y="54610"/>
                    <a:pt x="0" y="121920"/>
                  </a:cubicBezTo>
                  <a:cubicBezTo>
                    <a:pt x="0" y="189230"/>
                    <a:pt x="54610" y="243840"/>
                    <a:pt x="121920" y="243840"/>
                  </a:cubicBezTo>
                  <a:cubicBezTo>
                    <a:pt x="189230" y="243840"/>
                    <a:pt x="243840" y="189230"/>
                    <a:pt x="243840" y="121920"/>
                  </a:cubicBezTo>
                  <a:cubicBezTo>
                    <a:pt x="243840" y="54610"/>
                    <a:pt x="189230" y="0"/>
                    <a:pt x="121920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836295" y="523621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0"/>
                  </a:moveTo>
                  <a:cubicBezTo>
                    <a:pt x="37719" y="0"/>
                    <a:pt x="0" y="37592"/>
                    <a:pt x="0" y="84074"/>
                  </a:cubicBezTo>
                  <a:cubicBezTo>
                    <a:pt x="0" y="130556"/>
                    <a:pt x="37592" y="168148"/>
                    <a:pt x="84074" y="168148"/>
                  </a:cubicBezTo>
                  <a:cubicBezTo>
                    <a:pt x="130556" y="168148"/>
                    <a:pt x="168148" y="130556"/>
                    <a:pt x="168148" y="84074"/>
                  </a:cubicBezTo>
                  <a:cubicBezTo>
                    <a:pt x="168148" y="37592"/>
                    <a:pt x="130556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4125468" y="364744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0"/>
                  </a:moveTo>
                  <a:cubicBezTo>
                    <a:pt x="37719" y="0"/>
                    <a:pt x="0" y="37592"/>
                    <a:pt x="0" y="84074"/>
                  </a:cubicBezTo>
                  <a:cubicBezTo>
                    <a:pt x="0" y="130556"/>
                    <a:pt x="37592" y="168148"/>
                    <a:pt x="84074" y="168148"/>
                  </a:cubicBezTo>
                  <a:cubicBezTo>
                    <a:pt x="130556" y="168148"/>
                    <a:pt x="168148" y="130556"/>
                    <a:pt x="168148" y="84074"/>
                  </a:cubicBezTo>
                  <a:cubicBezTo>
                    <a:pt x="168148" y="37592"/>
                    <a:pt x="130556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2838196" y="176530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137033"/>
                  </a:moveTo>
                  <a:cubicBezTo>
                    <a:pt x="54737" y="137033"/>
                    <a:pt x="31115" y="113284"/>
                    <a:pt x="31115" y="84074"/>
                  </a:cubicBezTo>
                  <a:cubicBezTo>
                    <a:pt x="31115" y="54864"/>
                    <a:pt x="54864" y="31115"/>
                    <a:pt x="84074" y="31115"/>
                  </a:cubicBezTo>
                  <a:cubicBezTo>
                    <a:pt x="113284" y="31115"/>
                    <a:pt x="137033" y="54864"/>
                    <a:pt x="137033" y="84074"/>
                  </a:cubicBezTo>
                  <a:cubicBezTo>
                    <a:pt x="137033" y="113284"/>
                    <a:pt x="113284" y="137033"/>
                    <a:pt x="84074" y="137033"/>
                  </a:cubicBezTo>
                  <a:close/>
                  <a:moveTo>
                    <a:pt x="84074" y="0"/>
                  </a:moveTo>
                  <a:cubicBezTo>
                    <a:pt x="37592" y="0"/>
                    <a:pt x="0" y="37592"/>
                    <a:pt x="0" y="84074"/>
                  </a:cubicBezTo>
                  <a:cubicBezTo>
                    <a:pt x="0" y="130556"/>
                    <a:pt x="37592" y="168148"/>
                    <a:pt x="84074" y="168148"/>
                  </a:cubicBezTo>
                  <a:cubicBezTo>
                    <a:pt x="130556" y="168148"/>
                    <a:pt x="168148" y="130556"/>
                    <a:pt x="168148" y="84074"/>
                  </a:cubicBezTo>
                  <a:cubicBezTo>
                    <a:pt x="168148" y="37592"/>
                    <a:pt x="130556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63500" y="63500"/>
              <a:ext cx="3282950" cy="1235710"/>
            </a:xfrm>
            <a:custGeom>
              <a:avLst/>
              <a:gdLst/>
              <a:ahLst/>
              <a:cxnLst/>
              <a:rect r="r" b="b" t="t" l="l"/>
              <a:pathLst>
                <a:path h="1235710" w="3282950">
                  <a:moveTo>
                    <a:pt x="1333373" y="0"/>
                  </a:moveTo>
                  <a:lnTo>
                    <a:pt x="1516126" y="182753"/>
                  </a:lnTo>
                  <a:lnTo>
                    <a:pt x="2081784" y="182753"/>
                  </a:lnTo>
                  <a:lnTo>
                    <a:pt x="2264537" y="0"/>
                  </a:lnTo>
                  <a:lnTo>
                    <a:pt x="2205228" y="0"/>
                  </a:lnTo>
                  <a:lnTo>
                    <a:pt x="2064385" y="140716"/>
                  </a:lnTo>
                  <a:lnTo>
                    <a:pt x="1533398" y="140716"/>
                  </a:lnTo>
                  <a:lnTo>
                    <a:pt x="1392682" y="0"/>
                  </a:lnTo>
                  <a:close/>
                  <a:moveTo>
                    <a:pt x="0" y="190373"/>
                  </a:moveTo>
                  <a:lnTo>
                    <a:pt x="0" y="218313"/>
                  </a:lnTo>
                  <a:lnTo>
                    <a:pt x="938149" y="218313"/>
                  </a:lnTo>
                  <a:lnTo>
                    <a:pt x="1251204" y="531368"/>
                  </a:lnTo>
                  <a:lnTo>
                    <a:pt x="1255268" y="535432"/>
                  </a:lnTo>
                  <a:lnTo>
                    <a:pt x="2546731" y="535432"/>
                  </a:lnTo>
                  <a:lnTo>
                    <a:pt x="2815717" y="266446"/>
                  </a:lnTo>
                  <a:lnTo>
                    <a:pt x="2795905" y="246634"/>
                  </a:lnTo>
                  <a:lnTo>
                    <a:pt x="2535047" y="507492"/>
                  </a:lnTo>
                  <a:lnTo>
                    <a:pt x="1266825" y="507492"/>
                  </a:lnTo>
                  <a:lnTo>
                    <a:pt x="953770" y="194437"/>
                  </a:lnTo>
                  <a:lnTo>
                    <a:pt x="949706" y="190373"/>
                  </a:lnTo>
                  <a:close/>
                  <a:moveTo>
                    <a:pt x="0" y="531749"/>
                  </a:moveTo>
                  <a:lnTo>
                    <a:pt x="0" y="559689"/>
                  </a:lnTo>
                  <a:lnTo>
                    <a:pt x="782574" y="559689"/>
                  </a:lnTo>
                  <a:lnTo>
                    <a:pt x="782574" y="531749"/>
                  </a:lnTo>
                  <a:close/>
                  <a:moveTo>
                    <a:pt x="1599819" y="667131"/>
                  </a:moveTo>
                  <a:lnTo>
                    <a:pt x="1193292" y="1073658"/>
                  </a:lnTo>
                  <a:lnTo>
                    <a:pt x="102870" y="1073658"/>
                  </a:lnTo>
                  <a:lnTo>
                    <a:pt x="0" y="1176401"/>
                  </a:lnTo>
                  <a:lnTo>
                    <a:pt x="0" y="1235710"/>
                  </a:lnTo>
                  <a:lnTo>
                    <a:pt x="120269" y="1115568"/>
                  </a:lnTo>
                  <a:lnTo>
                    <a:pt x="1210691" y="1115568"/>
                  </a:lnTo>
                  <a:lnTo>
                    <a:pt x="1617218" y="709041"/>
                  </a:lnTo>
                  <a:lnTo>
                    <a:pt x="3282950" y="709041"/>
                  </a:lnTo>
                  <a:lnTo>
                    <a:pt x="3282950" y="667131"/>
                  </a:lnTo>
                  <a:close/>
                </a:path>
              </a:pathLst>
            </a:custGeom>
            <a:solidFill>
              <a:srgbClr val="C7D7F3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97748" y="865477"/>
            <a:ext cx="11028908" cy="3421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FEATURE IMPORTANCE</a:t>
            </a:r>
          </a:p>
          <a:p>
            <a:pPr algn="l">
              <a:lnSpc>
                <a:spcPts val="2911"/>
              </a:lnSpc>
              <a:spcBef>
                <a:spcPct val="0"/>
              </a:spcBef>
            </a:pPr>
            <a:r>
              <a:rPr lang="en-US" b="true" sz="2079">
                <a:solidFill>
                  <a:srgbClr val="FF914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What Actually Predicts Churn?</a:t>
            </a:r>
          </a:p>
          <a:p>
            <a:pPr algn="l">
              <a:lnSpc>
                <a:spcPts val="2911"/>
              </a:lnSpc>
              <a:spcBef>
                <a:spcPct val="0"/>
              </a:spcBef>
            </a:pPr>
          </a:p>
          <a:p>
            <a:pPr algn="l">
              <a:lnSpc>
                <a:spcPts val="2911"/>
              </a:lnSpc>
              <a:spcBef>
                <a:spcPct val="0"/>
              </a:spcBef>
            </a:pPr>
            <a:r>
              <a:rPr lang="en-US" sz="20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Our Decision Tree model ranked features by importance. Top contributors included:</a:t>
            </a:r>
          </a:p>
          <a:p>
            <a:pPr algn="l" marL="449071" indent="-224536" lvl="1">
              <a:lnSpc>
                <a:spcPts val="2911"/>
              </a:lnSpc>
              <a:buFont typeface="Arial"/>
              <a:buChar char="•"/>
            </a:pPr>
            <a:r>
              <a:rPr lang="en-US" sz="20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Total day minutes (36.2%)</a:t>
            </a:r>
          </a:p>
          <a:p>
            <a:pPr algn="l" marL="449071" indent="-224536" lvl="1">
              <a:lnSpc>
                <a:spcPts val="2911"/>
              </a:lnSpc>
              <a:buFont typeface="Arial"/>
              <a:buChar char="•"/>
            </a:pPr>
            <a:r>
              <a:rPr lang="en-US" sz="20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Customer service calls (22.8%)</a:t>
            </a:r>
          </a:p>
          <a:p>
            <a:pPr algn="l" marL="449071" indent="-224536" lvl="1">
              <a:lnSpc>
                <a:spcPts val="2911"/>
              </a:lnSpc>
              <a:buFont typeface="Arial"/>
              <a:buChar char="•"/>
            </a:pPr>
            <a:r>
              <a:rPr lang="en-US" sz="20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Voicemail plan (14.0%)</a:t>
            </a:r>
          </a:p>
          <a:p>
            <a:pPr algn="l" marL="449071" indent="-224536" lvl="1">
              <a:lnSpc>
                <a:spcPts val="2911"/>
              </a:lnSpc>
              <a:buFont typeface="Arial"/>
              <a:buChar char="•"/>
            </a:pPr>
            <a:r>
              <a:rPr lang="en-US" sz="20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Evening minutes (10.1%)</a:t>
            </a:r>
          </a:p>
          <a:p>
            <a:pPr algn="l" marL="449071" indent="-224536" lvl="1">
              <a:lnSpc>
                <a:spcPts val="2911"/>
              </a:lnSpc>
              <a:spcBef>
                <a:spcPct val="0"/>
              </a:spcBef>
              <a:buFont typeface="Arial"/>
              <a:buChar char="•"/>
            </a:pPr>
            <a:r>
              <a:rPr lang="en-US" sz="20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International plan (5.8%)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423575" y="1928821"/>
          <a:ext cx="16835725" cy="5543273"/>
        </p:xfrm>
        <a:graphic>
          <a:graphicData uri="http://schemas.openxmlformats.org/drawingml/2006/table">
            <a:tbl>
              <a:tblPr/>
              <a:tblGrid>
                <a:gridCol w="2480160"/>
                <a:gridCol w="2480160"/>
                <a:gridCol w="11875405"/>
              </a:tblGrid>
              <a:tr h="120296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11"/>
                        </a:lnSpc>
                        <a:defRPr/>
                      </a:pPr>
                      <a:r>
                        <a:rPr lang="en-US" sz="207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Metric</a:t>
                      </a:r>
                      <a:endParaRPr lang="en-US" sz="1100"/>
                    </a:p>
                    <a:p>
                      <a:pPr algn="ctr">
                        <a:lnSpc>
                          <a:spcPts val="2911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11"/>
                        </a:lnSpc>
                        <a:defRPr/>
                      </a:pPr>
                      <a:r>
                        <a:rPr lang="en-US" sz="207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Value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11"/>
                        </a:lnSpc>
                        <a:defRPr/>
                      </a:pPr>
                      <a:r>
                        <a:rPr lang="en-US" sz="207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Intepretation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3437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11"/>
                        </a:lnSpc>
                        <a:defRPr/>
                      </a:pPr>
                      <a:r>
                        <a:rPr lang="en-US" sz="2079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Annual Revenue at Risk</a:t>
                      </a:r>
                      <a:endParaRPr lang="en-US" sz="1100"/>
                    </a:p>
                    <a:p>
                      <a:pPr algn="ctr">
                        <a:lnSpc>
                          <a:spcPts val="2911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11"/>
                        </a:lnSpc>
                        <a:defRPr/>
                      </a:pPr>
                      <a:r>
                        <a:rPr lang="en-US" sz="2079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$59,243.04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11"/>
                        </a:lnSpc>
                        <a:defRPr/>
                      </a:pPr>
                      <a:r>
                        <a:rPr lang="en-US" sz="2079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Money at stake if actual churners are identified—this is the "win zone".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0296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11"/>
                        </a:lnSpc>
                        <a:defRPr/>
                      </a:pPr>
                      <a:r>
                        <a:rPr lang="en-US" sz="2079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False Positive Costs	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11"/>
                        </a:lnSpc>
                        <a:defRPr/>
                      </a:pPr>
                      <a:r>
                        <a:rPr lang="en-US" sz="2079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$2,650.00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11"/>
                        </a:lnSpc>
                        <a:defRPr/>
                      </a:pPr>
                      <a:r>
                        <a:rPr lang="en-US" sz="2079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Wasted cost on customers wrongly flagged as churners—"false alarm zone".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0296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11"/>
                        </a:lnSpc>
                        <a:defRPr/>
                      </a:pPr>
                      <a:r>
                        <a:rPr lang="en-US" sz="2079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Missed Churn Revenue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11"/>
                        </a:lnSpc>
                        <a:defRPr/>
                      </a:pPr>
                      <a:r>
                        <a:rPr lang="en-US" sz="2079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$19,056.84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11"/>
                        </a:lnSpc>
                        <a:defRPr/>
                      </a:pPr>
                      <a:r>
                        <a:rPr lang="en-US" sz="2079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Revenue lost from churners we didn’t catch—"missed opportunity zone".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423575" y="733159"/>
            <a:ext cx="10120932" cy="8754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Business Impact of Our Churn Model</a:t>
            </a:r>
          </a:p>
          <a:p>
            <a:pPr algn="l">
              <a:lnSpc>
                <a:spcPts val="3220"/>
              </a:lnSpc>
              <a:spcBef>
                <a:spcPct val="0"/>
              </a:spcBef>
            </a:pPr>
          </a:p>
          <a:p>
            <a:pPr algn="l">
              <a:lnSpc>
                <a:spcPts val="2911"/>
              </a:lnSpc>
              <a:spcBef>
                <a:spcPct val="0"/>
              </a:spcBef>
            </a:pPr>
            <a:r>
              <a:rPr lang="en-US" sz="20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Understanding how churn predictions affect revenue</a:t>
            </a:r>
          </a:p>
          <a:p>
            <a:pPr algn="l">
              <a:lnSpc>
                <a:spcPts val="2911"/>
              </a:lnSpc>
              <a:spcBef>
                <a:spcPct val="0"/>
              </a:spcBef>
            </a:pPr>
          </a:p>
          <a:p>
            <a:pPr algn="l">
              <a:lnSpc>
                <a:spcPts val="2911"/>
              </a:lnSpc>
              <a:spcBef>
                <a:spcPct val="0"/>
              </a:spcBef>
            </a:pPr>
          </a:p>
          <a:p>
            <a:pPr algn="l">
              <a:lnSpc>
                <a:spcPts val="2911"/>
              </a:lnSpc>
              <a:spcBef>
                <a:spcPct val="0"/>
              </a:spcBef>
            </a:pPr>
          </a:p>
          <a:p>
            <a:pPr algn="l">
              <a:lnSpc>
                <a:spcPts val="2911"/>
              </a:lnSpc>
              <a:spcBef>
                <a:spcPct val="0"/>
              </a:spcBef>
            </a:pPr>
          </a:p>
          <a:p>
            <a:pPr algn="l">
              <a:lnSpc>
                <a:spcPts val="2911"/>
              </a:lnSpc>
              <a:spcBef>
                <a:spcPct val="0"/>
              </a:spcBef>
            </a:pPr>
          </a:p>
          <a:p>
            <a:pPr algn="l">
              <a:lnSpc>
                <a:spcPts val="2911"/>
              </a:lnSpc>
              <a:spcBef>
                <a:spcPct val="0"/>
              </a:spcBef>
            </a:pPr>
          </a:p>
          <a:p>
            <a:pPr algn="l">
              <a:lnSpc>
                <a:spcPts val="2911"/>
              </a:lnSpc>
              <a:spcBef>
                <a:spcPct val="0"/>
              </a:spcBef>
            </a:pPr>
          </a:p>
          <a:p>
            <a:pPr algn="l">
              <a:lnSpc>
                <a:spcPts val="2911"/>
              </a:lnSpc>
              <a:spcBef>
                <a:spcPct val="0"/>
              </a:spcBef>
            </a:pPr>
          </a:p>
          <a:p>
            <a:pPr algn="l">
              <a:lnSpc>
                <a:spcPts val="2911"/>
              </a:lnSpc>
              <a:spcBef>
                <a:spcPct val="0"/>
              </a:spcBef>
            </a:pPr>
          </a:p>
          <a:p>
            <a:pPr algn="l">
              <a:lnSpc>
                <a:spcPts val="2911"/>
              </a:lnSpc>
              <a:spcBef>
                <a:spcPct val="0"/>
              </a:spcBef>
            </a:pPr>
          </a:p>
          <a:p>
            <a:pPr algn="l">
              <a:lnSpc>
                <a:spcPts val="2911"/>
              </a:lnSpc>
              <a:spcBef>
                <a:spcPct val="0"/>
              </a:spcBef>
            </a:pPr>
          </a:p>
          <a:p>
            <a:pPr algn="l">
              <a:lnSpc>
                <a:spcPts val="2911"/>
              </a:lnSpc>
              <a:spcBef>
                <a:spcPct val="0"/>
              </a:spcBef>
            </a:pPr>
          </a:p>
          <a:p>
            <a:pPr algn="l">
              <a:lnSpc>
                <a:spcPts val="2911"/>
              </a:lnSpc>
              <a:spcBef>
                <a:spcPct val="0"/>
              </a:spcBef>
            </a:pPr>
          </a:p>
          <a:p>
            <a:pPr algn="l">
              <a:lnSpc>
                <a:spcPts val="2911"/>
              </a:lnSpc>
              <a:spcBef>
                <a:spcPct val="0"/>
              </a:spcBef>
            </a:pPr>
          </a:p>
          <a:p>
            <a:pPr algn="l">
              <a:lnSpc>
                <a:spcPts val="2911"/>
              </a:lnSpc>
              <a:spcBef>
                <a:spcPct val="0"/>
              </a:spcBef>
            </a:pPr>
          </a:p>
          <a:p>
            <a:pPr algn="l">
              <a:lnSpc>
                <a:spcPts val="2911"/>
              </a:lnSpc>
              <a:spcBef>
                <a:spcPct val="0"/>
              </a:spcBef>
            </a:pPr>
          </a:p>
          <a:p>
            <a:pPr algn="l">
              <a:lnSpc>
                <a:spcPts val="2911"/>
              </a:lnSpc>
              <a:spcBef>
                <a:spcPct val="0"/>
              </a:spcBef>
            </a:pPr>
            <a:r>
              <a:rPr lang="en-US" b="true" sz="2079">
                <a:solidFill>
                  <a:srgbClr val="FF914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Model Accuracy Highlight:</a:t>
            </a:r>
          </a:p>
          <a:p>
            <a:pPr algn="l">
              <a:lnSpc>
                <a:spcPts val="2911"/>
              </a:lnSpc>
              <a:spcBef>
                <a:spcPct val="0"/>
              </a:spcBef>
            </a:pPr>
          </a:p>
          <a:p>
            <a:pPr algn="l">
              <a:lnSpc>
                <a:spcPts val="2911"/>
              </a:lnSpc>
              <a:spcBef>
                <a:spcPct val="0"/>
              </a:spcBef>
            </a:pPr>
            <a:r>
              <a:rPr lang="en-US" b="true" sz="207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Recall Rate: 75.3%</a:t>
            </a:r>
          </a:p>
          <a:p>
            <a:pPr algn="l">
              <a:lnSpc>
                <a:spcPts val="2911"/>
              </a:lnSpc>
              <a:spcBef>
                <a:spcPct val="0"/>
              </a:spcBef>
            </a:pPr>
          </a:p>
          <a:p>
            <a:pPr algn="l">
              <a:lnSpc>
                <a:spcPts val="2911"/>
              </a:lnSpc>
              <a:spcBef>
                <a:spcPct val="0"/>
              </a:spcBef>
            </a:pPr>
            <a:r>
              <a:rPr lang="en-US" sz="20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We’re catching 3 out of 4 actual churners, helping retain valuable customers.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-367306" y="9726713"/>
            <a:ext cx="19022613" cy="4006046"/>
            <a:chOff x="0" y="0"/>
            <a:chExt cx="5010071" cy="105509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10071" cy="1055090"/>
            </a:xfrm>
            <a:custGeom>
              <a:avLst/>
              <a:gdLst/>
              <a:ahLst/>
              <a:cxnLst/>
              <a:rect r="r" b="b" t="t" l="l"/>
              <a:pathLst>
                <a:path h="1055090" w="5010071">
                  <a:moveTo>
                    <a:pt x="0" y="0"/>
                  </a:moveTo>
                  <a:lnTo>
                    <a:pt x="5010071" y="0"/>
                  </a:lnTo>
                  <a:lnTo>
                    <a:pt x="5010071" y="1055090"/>
                  </a:lnTo>
                  <a:lnTo>
                    <a:pt x="0" y="1055090"/>
                  </a:lnTo>
                  <a:close/>
                </a:path>
              </a:pathLst>
            </a:custGeom>
            <a:gradFill rotWithShape="true">
              <a:gsLst>
                <a:gs pos="0">
                  <a:srgbClr val="114168">
                    <a:alpha val="100000"/>
                  </a:srgbClr>
                </a:gs>
                <a:gs pos="100000">
                  <a:srgbClr val="09023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10071" cy="10931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12"/>
                </a:lnSpc>
              </a:pPr>
            </a:p>
          </p:txBody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4132941" y="-864729"/>
            <a:ext cx="4522365" cy="2767879"/>
            <a:chOff x="0" y="0"/>
            <a:chExt cx="4522368" cy="276787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349631" y="1218438"/>
              <a:ext cx="956310" cy="27940"/>
            </a:xfrm>
            <a:custGeom>
              <a:avLst/>
              <a:gdLst/>
              <a:ahLst/>
              <a:cxnLst/>
              <a:rect r="r" b="b" t="t" l="l"/>
              <a:pathLst>
                <a:path h="27940" w="956310">
                  <a:moveTo>
                    <a:pt x="0" y="27940"/>
                  </a:moveTo>
                  <a:lnTo>
                    <a:pt x="956310" y="27940"/>
                  </a:lnTo>
                  <a:lnTo>
                    <a:pt x="956310" y="0"/>
                  </a:lnTo>
                  <a:lnTo>
                    <a:pt x="0" y="0"/>
                  </a:lnTo>
                  <a:lnTo>
                    <a:pt x="0" y="27940"/>
                  </a:ln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63500" y="586359"/>
              <a:ext cx="239268" cy="243840"/>
            </a:xfrm>
            <a:custGeom>
              <a:avLst/>
              <a:gdLst/>
              <a:ahLst/>
              <a:cxnLst/>
              <a:rect r="r" b="b" t="t" l="l"/>
              <a:pathLst>
                <a:path h="243840" w="239268">
                  <a:moveTo>
                    <a:pt x="117348" y="45212"/>
                  </a:moveTo>
                  <a:cubicBezTo>
                    <a:pt x="159766" y="45212"/>
                    <a:pt x="194183" y="79629"/>
                    <a:pt x="194183" y="122047"/>
                  </a:cubicBezTo>
                  <a:cubicBezTo>
                    <a:pt x="194183" y="164465"/>
                    <a:pt x="159766" y="198882"/>
                    <a:pt x="117348" y="198882"/>
                  </a:cubicBezTo>
                  <a:cubicBezTo>
                    <a:pt x="74930" y="198882"/>
                    <a:pt x="40513" y="164465"/>
                    <a:pt x="40513" y="122047"/>
                  </a:cubicBezTo>
                  <a:cubicBezTo>
                    <a:pt x="40513" y="79629"/>
                    <a:pt x="74930" y="45212"/>
                    <a:pt x="117348" y="45212"/>
                  </a:cubicBezTo>
                  <a:close/>
                  <a:moveTo>
                    <a:pt x="117348" y="127"/>
                  </a:moveTo>
                  <a:cubicBezTo>
                    <a:pt x="61468" y="127"/>
                    <a:pt x="14478" y="37719"/>
                    <a:pt x="0" y="88900"/>
                  </a:cubicBezTo>
                  <a:lnTo>
                    <a:pt x="0" y="88900"/>
                  </a:lnTo>
                  <a:lnTo>
                    <a:pt x="0" y="155067"/>
                  </a:lnTo>
                  <a:cubicBezTo>
                    <a:pt x="14478" y="206248"/>
                    <a:pt x="61468" y="243840"/>
                    <a:pt x="117348" y="243840"/>
                  </a:cubicBezTo>
                  <a:cubicBezTo>
                    <a:pt x="184658" y="243840"/>
                    <a:pt x="239268" y="189230"/>
                    <a:pt x="239268" y="121920"/>
                  </a:cubicBezTo>
                  <a:cubicBezTo>
                    <a:pt x="239268" y="54610"/>
                    <a:pt x="184658" y="0"/>
                    <a:pt x="117348" y="0"/>
                  </a:cubicBezTo>
                  <a:close/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930783" y="1410716"/>
              <a:ext cx="243840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40">
                  <a:moveTo>
                    <a:pt x="121920" y="198755"/>
                  </a:moveTo>
                  <a:cubicBezTo>
                    <a:pt x="164338" y="198755"/>
                    <a:pt x="198755" y="164338"/>
                    <a:pt x="198755" y="121920"/>
                  </a:cubicBezTo>
                  <a:cubicBezTo>
                    <a:pt x="198755" y="79502"/>
                    <a:pt x="164338" y="45085"/>
                    <a:pt x="121920" y="45085"/>
                  </a:cubicBezTo>
                  <a:cubicBezTo>
                    <a:pt x="79502" y="45085"/>
                    <a:pt x="45085" y="79502"/>
                    <a:pt x="45085" y="121920"/>
                  </a:cubicBezTo>
                  <a:cubicBezTo>
                    <a:pt x="45085" y="164338"/>
                    <a:pt x="79502" y="198755"/>
                    <a:pt x="121920" y="198755"/>
                  </a:cubicBezTo>
                  <a:close/>
                  <a:moveTo>
                    <a:pt x="121920" y="0"/>
                  </a:moveTo>
                  <a:cubicBezTo>
                    <a:pt x="189230" y="0"/>
                    <a:pt x="243840" y="54610"/>
                    <a:pt x="243840" y="121920"/>
                  </a:cubicBezTo>
                  <a:cubicBezTo>
                    <a:pt x="243840" y="189230"/>
                    <a:pt x="189230" y="243840"/>
                    <a:pt x="121920" y="243840"/>
                  </a:cubicBezTo>
                  <a:cubicBezTo>
                    <a:pt x="54610" y="243840"/>
                    <a:pt x="0" y="189230"/>
                    <a:pt x="0" y="121920"/>
                  </a:cubicBezTo>
                  <a:cubicBezTo>
                    <a:pt x="0" y="54610"/>
                    <a:pt x="54610" y="0"/>
                    <a:pt x="121920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3491484" y="1307211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0"/>
                  </a:moveTo>
                  <a:cubicBezTo>
                    <a:pt x="130429" y="0"/>
                    <a:pt x="168148" y="37592"/>
                    <a:pt x="168148" y="84074"/>
                  </a:cubicBezTo>
                  <a:cubicBezTo>
                    <a:pt x="168148" y="130556"/>
                    <a:pt x="130556" y="168148"/>
                    <a:pt x="84074" y="168148"/>
                  </a:cubicBezTo>
                  <a:cubicBezTo>
                    <a:pt x="37592" y="168148"/>
                    <a:pt x="0" y="130556"/>
                    <a:pt x="0" y="84074"/>
                  </a:cubicBezTo>
                  <a:cubicBezTo>
                    <a:pt x="0" y="37592"/>
                    <a:pt x="37592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202311" y="1148461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0"/>
                  </a:moveTo>
                  <a:cubicBezTo>
                    <a:pt x="130429" y="0"/>
                    <a:pt x="168148" y="37592"/>
                    <a:pt x="168148" y="84074"/>
                  </a:cubicBezTo>
                  <a:cubicBezTo>
                    <a:pt x="168148" y="130556"/>
                    <a:pt x="130556" y="168148"/>
                    <a:pt x="84074" y="168148"/>
                  </a:cubicBezTo>
                  <a:cubicBezTo>
                    <a:pt x="37592" y="168148"/>
                    <a:pt x="0" y="130556"/>
                    <a:pt x="0" y="84074"/>
                  </a:cubicBezTo>
                  <a:cubicBezTo>
                    <a:pt x="0" y="37592"/>
                    <a:pt x="37592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006475" y="342646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0"/>
                  </a:moveTo>
                  <a:cubicBezTo>
                    <a:pt x="130429" y="0"/>
                    <a:pt x="168148" y="37592"/>
                    <a:pt x="168148" y="84074"/>
                  </a:cubicBezTo>
                  <a:cubicBezTo>
                    <a:pt x="168148" y="130556"/>
                    <a:pt x="130556" y="168148"/>
                    <a:pt x="84074" y="168148"/>
                  </a:cubicBezTo>
                  <a:cubicBezTo>
                    <a:pt x="37592" y="168148"/>
                    <a:pt x="0" y="130556"/>
                    <a:pt x="0" y="84074"/>
                  </a:cubicBezTo>
                  <a:cubicBezTo>
                    <a:pt x="0" y="37592"/>
                    <a:pt x="37592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489583" y="960120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137033"/>
                  </a:moveTo>
                  <a:cubicBezTo>
                    <a:pt x="113411" y="137033"/>
                    <a:pt x="137033" y="113284"/>
                    <a:pt x="137033" y="84074"/>
                  </a:cubicBezTo>
                  <a:cubicBezTo>
                    <a:pt x="137033" y="54864"/>
                    <a:pt x="113284" y="31115"/>
                    <a:pt x="84074" y="31115"/>
                  </a:cubicBezTo>
                  <a:cubicBezTo>
                    <a:pt x="54864" y="31115"/>
                    <a:pt x="31115" y="54864"/>
                    <a:pt x="31115" y="84074"/>
                  </a:cubicBezTo>
                  <a:cubicBezTo>
                    <a:pt x="31115" y="113284"/>
                    <a:pt x="54864" y="137033"/>
                    <a:pt x="84074" y="137033"/>
                  </a:cubicBezTo>
                  <a:close/>
                  <a:moveTo>
                    <a:pt x="84074" y="0"/>
                  </a:moveTo>
                  <a:cubicBezTo>
                    <a:pt x="130556" y="0"/>
                    <a:pt x="168148" y="37592"/>
                    <a:pt x="168148" y="84074"/>
                  </a:cubicBezTo>
                  <a:cubicBezTo>
                    <a:pt x="168148" y="130556"/>
                    <a:pt x="130556" y="168148"/>
                    <a:pt x="84074" y="168148"/>
                  </a:cubicBezTo>
                  <a:cubicBezTo>
                    <a:pt x="37592" y="168148"/>
                    <a:pt x="0" y="130556"/>
                    <a:pt x="0" y="84074"/>
                  </a:cubicBezTo>
                  <a:cubicBezTo>
                    <a:pt x="0" y="37592"/>
                    <a:pt x="37592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3343021" y="395605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137033"/>
                  </a:moveTo>
                  <a:cubicBezTo>
                    <a:pt x="113284" y="137033"/>
                    <a:pt x="137033" y="113284"/>
                    <a:pt x="137033" y="84074"/>
                  </a:cubicBezTo>
                  <a:cubicBezTo>
                    <a:pt x="137033" y="54864"/>
                    <a:pt x="113284" y="31115"/>
                    <a:pt x="84074" y="31115"/>
                  </a:cubicBezTo>
                  <a:cubicBezTo>
                    <a:pt x="54864" y="31115"/>
                    <a:pt x="31115" y="54864"/>
                    <a:pt x="31115" y="84074"/>
                  </a:cubicBezTo>
                  <a:cubicBezTo>
                    <a:pt x="31115" y="113284"/>
                    <a:pt x="54864" y="137033"/>
                    <a:pt x="84074" y="137033"/>
                  </a:cubicBezTo>
                  <a:close/>
                  <a:moveTo>
                    <a:pt x="84074" y="0"/>
                  </a:moveTo>
                  <a:cubicBezTo>
                    <a:pt x="130429" y="0"/>
                    <a:pt x="168148" y="37592"/>
                    <a:pt x="168148" y="84074"/>
                  </a:cubicBezTo>
                  <a:cubicBezTo>
                    <a:pt x="168148" y="130556"/>
                    <a:pt x="130556" y="168148"/>
                    <a:pt x="84074" y="168148"/>
                  </a:cubicBezTo>
                  <a:cubicBezTo>
                    <a:pt x="37592" y="168148"/>
                    <a:pt x="0" y="130556"/>
                    <a:pt x="0" y="84074"/>
                  </a:cubicBezTo>
                  <a:cubicBezTo>
                    <a:pt x="0" y="37592"/>
                    <a:pt x="37592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286385" y="63500"/>
              <a:ext cx="4172458" cy="2045716"/>
            </a:xfrm>
            <a:custGeom>
              <a:avLst/>
              <a:gdLst/>
              <a:ahLst/>
              <a:cxnLst/>
              <a:rect r="r" b="b" t="t" l="l"/>
              <a:pathLst>
                <a:path h="2045716" w="4172458">
                  <a:moveTo>
                    <a:pt x="2886964" y="0"/>
                  </a:moveTo>
                  <a:lnTo>
                    <a:pt x="2531618" y="355346"/>
                  </a:lnTo>
                  <a:lnTo>
                    <a:pt x="862965" y="355346"/>
                  </a:lnTo>
                  <a:lnTo>
                    <a:pt x="862965" y="383286"/>
                  </a:lnTo>
                  <a:lnTo>
                    <a:pt x="2543175" y="383286"/>
                  </a:lnTo>
                  <a:lnTo>
                    <a:pt x="2926588" y="0"/>
                  </a:lnTo>
                  <a:close/>
                  <a:moveTo>
                    <a:pt x="3202051" y="398399"/>
                  </a:moveTo>
                  <a:lnTo>
                    <a:pt x="3202051" y="440309"/>
                  </a:lnTo>
                  <a:lnTo>
                    <a:pt x="4172458" y="440309"/>
                  </a:lnTo>
                  <a:lnTo>
                    <a:pt x="4172458" y="398399"/>
                  </a:lnTo>
                  <a:close/>
                  <a:moveTo>
                    <a:pt x="0" y="625856"/>
                  </a:moveTo>
                  <a:lnTo>
                    <a:pt x="0" y="667766"/>
                  </a:lnTo>
                  <a:lnTo>
                    <a:pt x="1765681" y="667766"/>
                  </a:lnTo>
                  <a:lnTo>
                    <a:pt x="2064258" y="966343"/>
                  </a:lnTo>
                  <a:lnTo>
                    <a:pt x="2629916" y="966343"/>
                  </a:lnTo>
                  <a:lnTo>
                    <a:pt x="2880106" y="716153"/>
                  </a:lnTo>
                  <a:lnTo>
                    <a:pt x="4172458" y="716153"/>
                  </a:lnTo>
                  <a:lnTo>
                    <a:pt x="4172458" y="674243"/>
                  </a:lnTo>
                  <a:lnTo>
                    <a:pt x="2862707" y="674243"/>
                  </a:lnTo>
                  <a:lnTo>
                    <a:pt x="2612517" y="924433"/>
                  </a:lnTo>
                  <a:lnTo>
                    <a:pt x="2081657" y="924433"/>
                  </a:lnTo>
                  <a:lnTo>
                    <a:pt x="1783207" y="625856"/>
                  </a:lnTo>
                  <a:close/>
                  <a:moveTo>
                    <a:pt x="3196336" y="973963"/>
                  </a:moveTo>
                  <a:lnTo>
                    <a:pt x="3192272" y="978027"/>
                  </a:lnTo>
                  <a:lnTo>
                    <a:pt x="2879217" y="1291082"/>
                  </a:lnTo>
                  <a:lnTo>
                    <a:pt x="1610868" y="1291082"/>
                  </a:lnTo>
                  <a:lnTo>
                    <a:pt x="1350010" y="1030351"/>
                  </a:lnTo>
                  <a:lnTo>
                    <a:pt x="1330198" y="1050163"/>
                  </a:lnTo>
                  <a:lnTo>
                    <a:pt x="1599184" y="1319149"/>
                  </a:lnTo>
                  <a:lnTo>
                    <a:pt x="2890774" y="1319149"/>
                  </a:lnTo>
                  <a:lnTo>
                    <a:pt x="2894838" y="1315085"/>
                  </a:lnTo>
                  <a:lnTo>
                    <a:pt x="3207893" y="1002030"/>
                  </a:lnTo>
                  <a:lnTo>
                    <a:pt x="4172458" y="1002030"/>
                  </a:lnTo>
                  <a:lnTo>
                    <a:pt x="4172458" y="974090"/>
                  </a:lnTo>
                  <a:close/>
                  <a:moveTo>
                    <a:pt x="3363468" y="1315339"/>
                  </a:moveTo>
                  <a:lnTo>
                    <a:pt x="3363468" y="1343279"/>
                  </a:lnTo>
                  <a:lnTo>
                    <a:pt x="4172458" y="1343279"/>
                  </a:lnTo>
                  <a:lnTo>
                    <a:pt x="4172458" y="1315339"/>
                  </a:lnTo>
                  <a:close/>
                  <a:moveTo>
                    <a:pt x="862965" y="1450721"/>
                  </a:moveTo>
                  <a:lnTo>
                    <a:pt x="862965" y="1492631"/>
                  </a:lnTo>
                  <a:lnTo>
                    <a:pt x="2528824" y="1492631"/>
                  </a:lnTo>
                  <a:lnTo>
                    <a:pt x="2935351" y="1899158"/>
                  </a:lnTo>
                  <a:lnTo>
                    <a:pt x="4025773" y="1899158"/>
                  </a:lnTo>
                  <a:lnTo>
                    <a:pt x="4172458" y="2045716"/>
                  </a:lnTo>
                  <a:lnTo>
                    <a:pt x="4172458" y="1986407"/>
                  </a:lnTo>
                  <a:lnTo>
                    <a:pt x="4043172" y="1857248"/>
                  </a:lnTo>
                  <a:lnTo>
                    <a:pt x="2952750" y="1857248"/>
                  </a:lnTo>
                  <a:lnTo>
                    <a:pt x="2546223" y="1450721"/>
                  </a:lnTo>
                  <a:close/>
                </a:path>
              </a:pathLst>
            </a:custGeom>
            <a:solidFill>
              <a:srgbClr val="C7D7F3"/>
            </a:solidFill>
          </p:spPr>
        </p:sp>
      </p:grpSp>
      <p:grpSp>
        <p:nvGrpSpPr>
          <p:cNvPr name="Group 18" id="18"/>
          <p:cNvGrpSpPr>
            <a:grpSpLocks noChangeAspect="true"/>
          </p:cNvGrpSpPr>
          <p:nvPr/>
        </p:nvGrpSpPr>
        <p:grpSpPr>
          <a:xfrm rot="0">
            <a:off x="0" y="-472895"/>
            <a:ext cx="4357106" cy="1984210"/>
            <a:chOff x="0" y="0"/>
            <a:chExt cx="4357103" cy="198421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3189986" y="434848"/>
              <a:ext cx="956310" cy="27940"/>
            </a:xfrm>
            <a:custGeom>
              <a:avLst/>
              <a:gdLst/>
              <a:ahLst/>
              <a:cxnLst/>
              <a:rect r="r" b="b" t="t" l="l"/>
              <a:pathLst>
                <a:path h="27940" w="956310">
                  <a:moveTo>
                    <a:pt x="956310" y="27940"/>
                  </a:moveTo>
                  <a:lnTo>
                    <a:pt x="0" y="27940"/>
                  </a:lnTo>
                  <a:lnTo>
                    <a:pt x="0" y="0"/>
                  </a:lnTo>
                  <a:lnTo>
                    <a:pt x="956310" y="0"/>
                  </a:lnTo>
                  <a:lnTo>
                    <a:pt x="956310" y="27940"/>
                  </a:ln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3321177" y="626999"/>
              <a:ext cx="243840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40">
                  <a:moveTo>
                    <a:pt x="121920" y="198755"/>
                  </a:moveTo>
                  <a:cubicBezTo>
                    <a:pt x="79502" y="198755"/>
                    <a:pt x="45085" y="164338"/>
                    <a:pt x="45085" y="121920"/>
                  </a:cubicBezTo>
                  <a:cubicBezTo>
                    <a:pt x="45085" y="79502"/>
                    <a:pt x="79502" y="45085"/>
                    <a:pt x="121920" y="45085"/>
                  </a:cubicBezTo>
                  <a:cubicBezTo>
                    <a:pt x="164338" y="45085"/>
                    <a:pt x="198755" y="79502"/>
                    <a:pt x="198755" y="121920"/>
                  </a:cubicBezTo>
                  <a:cubicBezTo>
                    <a:pt x="198755" y="164338"/>
                    <a:pt x="164338" y="198755"/>
                    <a:pt x="121920" y="198755"/>
                  </a:cubicBezTo>
                  <a:close/>
                  <a:moveTo>
                    <a:pt x="121920" y="0"/>
                  </a:moveTo>
                  <a:cubicBezTo>
                    <a:pt x="54610" y="0"/>
                    <a:pt x="0" y="54610"/>
                    <a:pt x="0" y="121920"/>
                  </a:cubicBezTo>
                  <a:cubicBezTo>
                    <a:pt x="0" y="189230"/>
                    <a:pt x="54610" y="243840"/>
                    <a:pt x="121920" y="243840"/>
                  </a:cubicBezTo>
                  <a:cubicBezTo>
                    <a:pt x="189230" y="243840"/>
                    <a:pt x="243840" y="189230"/>
                    <a:pt x="243840" y="121920"/>
                  </a:cubicBezTo>
                  <a:cubicBezTo>
                    <a:pt x="243840" y="54610"/>
                    <a:pt x="189230" y="0"/>
                    <a:pt x="121920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836295" y="523621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0"/>
                  </a:moveTo>
                  <a:cubicBezTo>
                    <a:pt x="37719" y="0"/>
                    <a:pt x="0" y="37592"/>
                    <a:pt x="0" y="84074"/>
                  </a:cubicBezTo>
                  <a:cubicBezTo>
                    <a:pt x="0" y="130556"/>
                    <a:pt x="37592" y="168148"/>
                    <a:pt x="84074" y="168148"/>
                  </a:cubicBezTo>
                  <a:cubicBezTo>
                    <a:pt x="130556" y="168148"/>
                    <a:pt x="168148" y="130556"/>
                    <a:pt x="168148" y="84074"/>
                  </a:cubicBezTo>
                  <a:cubicBezTo>
                    <a:pt x="168148" y="37592"/>
                    <a:pt x="130556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4125468" y="364744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0"/>
                  </a:moveTo>
                  <a:cubicBezTo>
                    <a:pt x="37719" y="0"/>
                    <a:pt x="0" y="37592"/>
                    <a:pt x="0" y="84074"/>
                  </a:cubicBezTo>
                  <a:cubicBezTo>
                    <a:pt x="0" y="130556"/>
                    <a:pt x="37592" y="168148"/>
                    <a:pt x="84074" y="168148"/>
                  </a:cubicBezTo>
                  <a:cubicBezTo>
                    <a:pt x="130556" y="168148"/>
                    <a:pt x="168148" y="130556"/>
                    <a:pt x="168148" y="84074"/>
                  </a:cubicBezTo>
                  <a:cubicBezTo>
                    <a:pt x="168148" y="37592"/>
                    <a:pt x="130556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2838196" y="176530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137033"/>
                  </a:moveTo>
                  <a:cubicBezTo>
                    <a:pt x="54737" y="137033"/>
                    <a:pt x="31115" y="113284"/>
                    <a:pt x="31115" y="84074"/>
                  </a:cubicBezTo>
                  <a:cubicBezTo>
                    <a:pt x="31115" y="54864"/>
                    <a:pt x="54864" y="31115"/>
                    <a:pt x="84074" y="31115"/>
                  </a:cubicBezTo>
                  <a:cubicBezTo>
                    <a:pt x="113284" y="31115"/>
                    <a:pt x="137033" y="54864"/>
                    <a:pt x="137033" y="84074"/>
                  </a:cubicBezTo>
                  <a:cubicBezTo>
                    <a:pt x="137033" y="113284"/>
                    <a:pt x="113284" y="137033"/>
                    <a:pt x="84074" y="137033"/>
                  </a:cubicBezTo>
                  <a:close/>
                  <a:moveTo>
                    <a:pt x="84074" y="0"/>
                  </a:moveTo>
                  <a:cubicBezTo>
                    <a:pt x="37592" y="0"/>
                    <a:pt x="0" y="37592"/>
                    <a:pt x="0" y="84074"/>
                  </a:cubicBezTo>
                  <a:cubicBezTo>
                    <a:pt x="0" y="130556"/>
                    <a:pt x="37592" y="168148"/>
                    <a:pt x="84074" y="168148"/>
                  </a:cubicBezTo>
                  <a:cubicBezTo>
                    <a:pt x="130556" y="168148"/>
                    <a:pt x="168148" y="130556"/>
                    <a:pt x="168148" y="84074"/>
                  </a:cubicBezTo>
                  <a:cubicBezTo>
                    <a:pt x="168148" y="37592"/>
                    <a:pt x="130556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63500" y="63500"/>
              <a:ext cx="3282950" cy="1235710"/>
            </a:xfrm>
            <a:custGeom>
              <a:avLst/>
              <a:gdLst/>
              <a:ahLst/>
              <a:cxnLst/>
              <a:rect r="r" b="b" t="t" l="l"/>
              <a:pathLst>
                <a:path h="1235710" w="3282950">
                  <a:moveTo>
                    <a:pt x="1333373" y="0"/>
                  </a:moveTo>
                  <a:lnTo>
                    <a:pt x="1516126" y="182753"/>
                  </a:lnTo>
                  <a:lnTo>
                    <a:pt x="2081784" y="182753"/>
                  </a:lnTo>
                  <a:lnTo>
                    <a:pt x="2264537" y="0"/>
                  </a:lnTo>
                  <a:lnTo>
                    <a:pt x="2205228" y="0"/>
                  </a:lnTo>
                  <a:lnTo>
                    <a:pt x="2064385" y="140716"/>
                  </a:lnTo>
                  <a:lnTo>
                    <a:pt x="1533398" y="140716"/>
                  </a:lnTo>
                  <a:lnTo>
                    <a:pt x="1392682" y="0"/>
                  </a:lnTo>
                  <a:close/>
                  <a:moveTo>
                    <a:pt x="0" y="190373"/>
                  </a:moveTo>
                  <a:lnTo>
                    <a:pt x="0" y="218313"/>
                  </a:lnTo>
                  <a:lnTo>
                    <a:pt x="938149" y="218313"/>
                  </a:lnTo>
                  <a:lnTo>
                    <a:pt x="1251204" y="531368"/>
                  </a:lnTo>
                  <a:lnTo>
                    <a:pt x="1255268" y="535432"/>
                  </a:lnTo>
                  <a:lnTo>
                    <a:pt x="2546731" y="535432"/>
                  </a:lnTo>
                  <a:lnTo>
                    <a:pt x="2815717" y="266446"/>
                  </a:lnTo>
                  <a:lnTo>
                    <a:pt x="2795905" y="246634"/>
                  </a:lnTo>
                  <a:lnTo>
                    <a:pt x="2535047" y="507492"/>
                  </a:lnTo>
                  <a:lnTo>
                    <a:pt x="1266825" y="507492"/>
                  </a:lnTo>
                  <a:lnTo>
                    <a:pt x="953770" y="194437"/>
                  </a:lnTo>
                  <a:lnTo>
                    <a:pt x="949706" y="190373"/>
                  </a:lnTo>
                  <a:close/>
                  <a:moveTo>
                    <a:pt x="0" y="531749"/>
                  </a:moveTo>
                  <a:lnTo>
                    <a:pt x="0" y="559689"/>
                  </a:lnTo>
                  <a:lnTo>
                    <a:pt x="782574" y="559689"/>
                  </a:lnTo>
                  <a:lnTo>
                    <a:pt x="782574" y="531749"/>
                  </a:lnTo>
                  <a:close/>
                  <a:moveTo>
                    <a:pt x="1599819" y="667131"/>
                  </a:moveTo>
                  <a:lnTo>
                    <a:pt x="1193292" y="1073658"/>
                  </a:lnTo>
                  <a:lnTo>
                    <a:pt x="102870" y="1073658"/>
                  </a:lnTo>
                  <a:lnTo>
                    <a:pt x="0" y="1176401"/>
                  </a:lnTo>
                  <a:lnTo>
                    <a:pt x="0" y="1235710"/>
                  </a:lnTo>
                  <a:lnTo>
                    <a:pt x="120269" y="1115568"/>
                  </a:lnTo>
                  <a:lnTo>
                    <a:pt x="1210691" y="1115568"/>
                  </a:lnTo>
                  <a:lnTo>
                    <a:pt x="1617218" y="709041"/>
                  </a:lnTo>
                  <a:lnTo>
                    <a:pt x="3282950" y="709041"/>
                  </a:lnTo>
                  <a:lnTo>
                    <a:pt x="3282950" y="667131"/>
                  </a:lnTo>
                  <a:close/>
                </a:path>
              </a:pathLst>
            </a:custGeom>
            <a:solidFill>
              <a:srgbClr val="C7D7F3"/>
            </a:solidFill>
          </p:spPr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68742" y="607141"/>
            <a:ext cx="16652123" cy="7717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RECOMMENDATIONS</a:t>
            </a:r>
          </a:p>
          <a:p>
            <a:pPr algn="ctr">
              <a:lnSpc>
                <a:spcPts val="2911"/>
              </a:lnSpc>
              <a:spcBef>
                <a:spcPct val="0"/>
              </a:spcBef>
            </a:pPr>
          </a:p>
          <a:p>
            <a:pPr algn="l" marL="449071" indent="-224536" lvl="1">
              <a:lnSpc>
                <a:spcPts val="5199"/>
              </a:lnSpc>
              <a:buFont typeface="Arial"/>
              <a:buChar char="•"/>
            </a:pPr>
            <a:r>
              <a:rPr lang="en-US" b="true" sz="207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</a:t>
            </a:r>
            <a:r>
              <a:rPr lang="en-US" b="true" sz="207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romote International Plans:</a:t>
            </a:r>
            <a:r>
              <a:rPr lang="en-US" sz="20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Target customers without international calling offer bundled discounts to boost retention.</a:t>
            </a:r>
          </a:p>
          <a:p>
            <a:pPr algn="l" marL="449071" indent="-224536" lvl="1">
              <a:lnSpc>
                <a:spcPts val="5199"/>
              </a:lnSpc>
              <a:buFont typeface="Arial"/>
              <a:buChar char="•"/>
            </a:pPr>
            <a:r>
              <a:rPr lang="en-US" b="true" sz="207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Proactive Support for Frequent Callers: </a:t>
            </a:r>
            <a:r>
              <a:rPr lang="en-US" sz="20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High support interactions signal dissatisfaction assign dedicated reps or early surveys to prevent churn.</a:t>
            </a:r>
          </a:p>
          <a:p>
            <a:pPr algn="l" marL="449071" indent="-224536" lvl="1">
              <a:lnSpc>
                <a:spcPts val="5199"/>
              </a:lnSpc>
              <a:buFont typeface="Arial"/>
              <a:buChar char="•"/>
            </a:pPr>
            <a:r>
              <a:rPr lang="en-US" b="true" sz="207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Personalized Incentives for Heavy Users:</a:t>
            </a:r>
            <a:r>
              <a:rPr lang="en-US" sz="20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Reward frequent callers with bonus minutes, loyalty perks, or discounted rates.</a:t>
            </a:r>
          </a:p>
          <a:p>
            <a:pPr algn="l" marL="449071" indent="-224536" lvl="1">
              <a:lnSpc>
                <a:spcPts val="5199"/>
              </a:lnSpc>
              <a:buFont typeface="Arial"/>
              <a:buChar char="•"/>
            </a:pPr>
            <a:r>
              <a:rPr lang="en-US" b="true" sz="207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Automate High-Risk Alerts</a:t>
            </a:r>
            <a:r>
              <a:rPr lang="en-US" sz="20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: Integrate churn predictions into CRM for real-time SMS offers or exclusive deals.</a:t>
            </a:r>
          </a:p>
          <a:p>
            <a:pPr algn="l" marL="449071" indent="-224536" lvl="1">
              <a:lnSpc>
                <a:spcPts val="5199"/>
              </a:lnSpc>
              <a:buFont typeface="Arial"/>
              <a:buChar char="•"/>
            </a:pPr>
            <a:r>
              <a:rPr lang="en-US" b="true" sz="207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Act Fast on High-Risk Customers</a:t>
            </a:r>
            <a:r>
              <a:rPr lang="en-US" sz="20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: Immediate loyalty offers or premium support can prevent escalation.</a:t>
            </a:r>
          </a:p>
          <a:p>
            <a:pPr algn="l" marL="449071" indent="-224536" lvl="1">
              <a:lnSpc>
                <a:spcPts val="5199"/>
              </a:lnSpc>
              <a:buFont typeface="Arial"/>
              <a:buChar char="•"/>
            </a:pPr>
            <a:r>
              <a:rPr lang="en-US" b="true" sz="207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Regional &amp; Onboarding Focus:</a:t>
            </a:r>
            <a:r>
              <a:rPr lang="en-US" sz="20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Strengthen retention in high-churn states such as New Jersey, California and Texas with localized campaigns and better onboarding.</a:t>
            </a:r>
          </a:p>
          <a:p>
            <a:pPr algn="l" marL="449071" indent="-224536" lvl="1">
              <a:lnSpc>
                <a:spcPts val="5199"/>
              </a:lnSpc>
              <a:buFont typeface="Arial"/>
              <a:buChar char="•"/>
            </a:pPr>
            <a:r>
              <a:rPr lang="en-US" b="true" sz="207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Tiered Discounts for High Spenders: </a:t>
            </a:r>
            <a:r>
              <a:rPr lang="en-US" sz="20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Offer tailored discounts to high-bill users and incentivize newer customers early.</a:t>
            </a:r>
          </a:p>
          <a:p>
            <a:pPr algn="l">
              <a:lnSpc>
                <a:spcPts val="4388"/>
              </a:lnSpc>
            </a:pPr>
          </a:p>
          <a:p>
            <a:pPr algn="l">
              <a:lnSpc>
                <a:spcPts val="2911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-367306" y="9726713"/>
            <a:ext cx="19022613" cy="4006046"/>
            <a:chOff x="0" y="0"/>
            <a:chExt cx="5010071" cy="10550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010071" cy="1055090"/>
            </a:xfrm>
            <a:custGeom>
              <a:avLst/>
              <a:gdLst/>
              <a:ahLst/>
              <a:cxnLst/>
              <a:rect r="r" b="b" t="t" l="l"/>
              <a:pathLst>
                <a:path h="1055090" w="5010071">
                  <a:moveTo>
                    <a:pt x="0" y="0"/>
                  </a:moveTo>
                  <a:lnTo>
                    <a:pt x="5010071" y="0"/>
                  </a:lnTo>
                  <a:lnTo>
                    <a:pt x="5010071" y="1055090"/>
                  </a:lnTo>
                  <a:lnTo>
                    <a:pt x="0" y="1055090"/>
                  </a:lnTo>
                  <a:close/>
                </a:path>
              </a:pathLst>
            </a:custGeom>
            <a:gradFill rotWithShape="true">
              <a:gsLst>
                <a:gs pos="0">
                  <a:srgbClr val="114168">
                    <a:alpha val="100000"/>
                  </a:srgbClr>
                </a:gs>
                <a:gs pos="100000">
                  <a:srgbClr val="09023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5010071" cy="10931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12"/>
                </a:lnSpc>
              </a:pPr>
            </a:p>
          </p:txBody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14132941" y="-864729"/>
            <a:ext cx="4522365" cy="2767879"/>
            <a:chOff x="0" y="0"/>
            <a:chExt cx="4522368" cy="276787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349631" y="1218438"/>
              <a:ext cx="956310" cy="27940"/>
            </a:xfrm>
            <a:custGeom>
              <a:avLst/>
              <a:gdLst/>
              <a:ahLst/>
              <a:cxnLst/>
              <a:rect r="r" b="b" t="t" l="l"/>
              <a:pathLst>
                <a:path h="27940" w="956310">
                  <a:moveTo>
                    <a:pt x="0" y="27940"/>
                  </a:moveTo>
                  <a:lnTo>
                    <a:pt x="956310" y="27940"/>
                  </a:lnTo>
                  <a:lnTo>
                    <a:pt x="956310" y="0"/>
                  </a:lnTo>
                  <a:lnTo>
                    <a:pt x="0" y="0"/>
                  </a:lnTo>
                  <a:lnTo>
                    <a:pt x="0" y="27940"/>
                  </a:ln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3500" y="586359"/>
              <a:ext cx="239268" cy="243840"/>
            </a:xfrm>
            <a:custGeom>
              <a:avLst/>
              <a:gdLst/>
              <a:ahLst/>
              <a:cxnLst/>
              <a:rect r="r" b="b" t="t" l="l"/>
              <a:pathLst>
                <a:path h="243840" w="239268">
                  <a:moveTo>
                    <a:pt x="117348" y="45212"/>
                  </a:moveTo>
                  <a:cubicBezTo>
                    <a:pt x="159766" y="45212"/>
                    <a:pt x="194183" y="79629"/>
                    <a:pt x="194183" y="122047"/>
                  </a:cubicBezTo>
                  <a:cubicBezTo>
                    <a:pt x="194183" y="164465"/>
                    <a:pt x="159766" y="198882"/>
                    <a:pt x="117348" y="198882"/>
                  </a:cubicBezTo>
                  <a:cubicBezTo>
                    <a:pt x="74930" y="198882"/>
                    <a:pt x="40513" y="164465"/>
                    <a:pt x="40513" y="122047"/>
                  </a:cubicBezTo>
                  <a:cubicBezTo>
                    <a:pt x="40513" y="79629"/>
                    <a:pt x="74930" y="45212"/>
                    <a:pt x="117348" y="45212"/>
                  </a:cubicBezTo>
                  <a:close/>
                  <a:moveTo>
                    <a:pt x="117348" y="127"/>
                  </a:moveTo>
                  <a:cubicBezTo>
                    <a:pt x="61468" y="127"/>
                    <a:pt x="14478" y="37719"/>
                    <a:pt x="0" y="88900"/>
                  </a:cubicBezTo>
                  <a:lnTo>
                    <a:pt x="0" y="88900"/>
                  </a:lnTo>
                  <a:lnTo>
                    <a:pt x="0" y="155067"/>
                  </a:lnTo>
                  <a:cubicBezTo>
                    <a:pt x="14478" y="206248"/>
                    <a:pt x="61468" y="243840"/>
                    <a:pt x="117348" y="243840"/>
                  </a:cubicBezTo>
                  <a:cubicBezTo>
                    <a:pt x="184658" y="243840"/>
                    <a:pt x="239268" y="189230"/>
                    <a:pt x="239268" y="121920"/>
                  </a:cubicBezTo>
                  <a:cubicBezTo>
                    <a:pt x="239268" y="54610"/>
                    <a:pt x="184658" y="0"/>
                    <a:pt x="117348" y="0"/>
                  </a:cubicBezTo>
                  <a:close/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930783" y="1410716"/>
              <a:ext cx="243840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40">
                  <a:moveTo>
                    <a:pt x="121920" y="198755"/>
                  </a:moveTo>
                  <a:cubicBezTo>
                    <a:pt x="164338" y="198755"/>
                    <a:pt x="198755" y="164338"/>
                    <a:pt x="198755" y="121920"/>
                  </a:cubicBezTo>
                  <a:cubicBezTo>
                    <a:pt x="198755" y="79502"/>
                    <a:pt x="164338" y="45085"/>
                    <a:pt x="121920" y="45085"/>
                  </a:cubicBezTo>
                  <a:cubicBezTo>
                    <a:pt x="79502" y="45085"/>
                    <a:pt x="45085" y="79502"/>
                    <a:pt x="45085" y="121920"/>
                  </a:cubicBezTo>
                  <a:cubicBezTo>
                    <a:pt x="45085" y="164338"/>
                    <a:pt x="79502" y="198755"/>
                    <a:pt x="121920" y="198755"/>
                  </a:cubicBezTo>
                  <a:close/>
                  <a:moveTo>
                    <a:pt x="121920" y="0"/>
                  </a:moveTo>
                  <a:cubicBezTo>
                    <a:pt x="189230" y="0"/>
                    <a:pt x="243840" y="54610"/>
                    <a:pt x="243840" y="121920"/>
                  </a:cubicBezTo>
                  <a:cubicBezTo>
                    <a:pt x="243840" y="189230"/>
                    <a:pt x="189230" y="243840"/>
                    <a:pt x="121920" y="243840"/>
                  </a:cubicBezTo>
                  <a:cubicBezTo>
                    <a:pt x="54610" y="243840"/>
                    <a:pt x="0" y="189230"/>
                    <a:pt x="0" y="121920"/>
                  </a:cubicBezTo>
                  <a:cubicBezTo>
                    <a:pt x="0" y="54610"/>
                    <a:pt x="54610" y="0"/>
                    <a:pt x="121920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3491484" y="1307211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0"/>
                  </a:moveTo>
                  <a:cubicBezTo>
                    <a:pt x="130429" y="0"/>
                    <a:pt x="168148" y="37592"/>
                    <a:pt x="168148" y="84074"/>
                  </a:cubicBezTo>
                  <a:cubicBezTo>
                    <a:pt x="168148" y="130556"/>
                    <a:pt x="130556" y="168148"/>
                    <a:pt x="84074" y="168148"/>
                  </a:cubicBezTo>
                  <a:cubicBezTo>
                    <a:pt x="37592" y="168148"/>
                    <a:pt x="0" y="130556"/>
                    <a:pt x="0" y="84074"/>
                  </a:cubicBezTo>
                  <a:cubicBezTo>
                    <a:pt x="0" y="37592"/>
                    <a:pt x="37592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202311" y="1148461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0"/>
                  </a:moveTo>
                  <a:cubicBezTo>
                    <a:pt x="130429" y="0"/>
                    <a:pt x="168148" y="37592"/>
                    <a:pt x="168148" y="84074"/>
                  </a:cubicBezTo>
                  <a:cubicBezTo>
                    <a:pt x="168148" y="130556"/>
                    <a:pt x="130556" y="168148"/>
                    <a:pt x="84074" y="168148"/>
                  </a:cubicBezTo>
                  <a:cubicBezTo>
                    <a:pt x="37592" y="168148"/>
                    <a:pt x="0" y="130556"/>
                    <a:pt x="0" y="84074"/>
                  </a:cubicBezTo>
                  <a:cubicBezTo>
                    <a:pt x="0" y="37592"/>
                    <a:pt x="37592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006475" y="342646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0"/>
                  </a:moveTo>
                  <a:cubicBezTo>
                    <a:pt x="130429" y="0"/>
                    <a:pt x="168148" y="37592"/>
                    <a:pt x="168148" y="84074"/>
                  </a:cubicBezTo>
                  <a:cubicBezTo>
                    <a:pt x="168148" y="130556"/>
                    <a:pt x="130556" y="168148"/>
                    <a:pt x="84074" y="168148"/>
                  </a:cubicBezTo>
                  <a:cubicBezTo>
                    <a:pt x="37592" y="168148"/>
                    <a:pt x="0" y="130556"/>
                    <a:pt x="0" y="84074"/>
                  </a:cubicBezTo>
                  <a:cubicBezTo>
                    <a:pt x="0" y="37592"/>
                    <a:pt x="37592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489583" y="960120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137033"/>
                  </a:moveTo>
                  <a:cubicBezTo>
                    <a:pt x="113411" y="137033"/>
                    <a:pt x="137033" y="113284"/>
                    <a:pt x="137033" y="84074"/>
                  </a:cubicBezTo>
                  <a:cubicBezTo>
                    <a:pt x="137033" y="54864"/>
                    <a:pt x="113284" y="31115"/>
                    <a:pt x="84074" y="31115"/>
                  </a:cubicBezTo>
                  <a:cubicBezTo>
                    <a:pt x="54864" y="31115"/>
                    <a:pt x="31115" y="54864"/>
                    <a:pt x="31115" y="84074"/>
                  </a:cubicBezTo>
                  <a:cubicBezTo>
                    <a:pt x="31115" y="113284"/>
                    <a:pt x="54864" y="137033"/>
                    <a:pt x="84074" y="137033"/>
                  </a:cubicBezTo>
                  <a:close/>
                  <a:moveTo>
                    <a:pt x="84074" y="0"/>
                  </a:moveTo>
                  <a:cubicBezTo>
                    <a:pt x="130556" y="0"/>
                    <a:pt x="168148" y="37592"/>
                    <a:pt x="168148" y="84074"/>
                  </a:cubicBezTo>
                  <a:cubicBezTo>
                    <a:pt x="168148" y="130556"/>
                    <a:pt x="130556" y="168148"/>
                    <a:pt x="84074" y="168148"/>
                  </a:cubicBezTo>
                  <a:cubicBezTo>
                    <a:pt x="37592" y="168148"/>
                    <a:pt x="0" y="130556"/>
                    <a:pt x="0" y="84074"/>
                  </a:cubicBezTo>
                  <a:cubicBezTo>
                    <a:pt x="0" y="37592"/>
                    <a:pt x="37592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3343021" y="395605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137033"/>
                  </a:moveTo>
                  <a:cubicBezTo>
                    <a:pt x="113284" y="137033"/>
                    <a:pt x="137033" y="113284"/>
                    <a:pt x="137033" y="84074"/>
                  </a:cubicBezTo>
                  <a:cubicBezTo>
                    <a:pt x="137033" y="54864"/>
                    <a:pt x="113284" y="31115"/>
                    <a:pt x="84074" y="31115"/>
                  </a:cubicBezTo>
                  <a:cubicBezTo>
                    <a:pt x="54864" y="31115"/>
                    <a:pt x="31115" y="54864"/>
                    <a:pt x="31115" y="84074"/>
                  </a:cubicBezTo>
                  <a:cubicBezTo>
                    <a:pt x="31115" y="113284"/>
                    <a:pt x="54864" y="137033"/>
                    <a:pt x="84074" y="137033"/>
                  </a:cubicBezTo>
                  <a:close/>
                  <a:moveTo>
                    <a:pt x="84074" y="0"/>
                  </a:moveTo>
                  <a:cubicBezTo>
                    <a:pt x="130429" y="0"/>
                    <a:pt x="168148" y="37592"/>
                    <a:pt x="168148" y="84074"/>
                  </a:cubicBezTo>
                  <a:cubicBezTo>
                    <a:pt x="168148" y="130556"/>
                    <a:pt x="130556" y="168148"/>
                    <a:pt x="84074" y="168148"/>
                  </a:cubicBezTo>
                  <a:cubicBezTo>
                    <a:pt x="37592" y="168148"/>
                    <a:pt x="0" y="130556"/>
                    <a:pt x="0" y="84074"/>
                  </a:cubicBezTo>
                  <a:cubicBezTo>
                    <a:pt x="0" y="37592"/>
                    <a:pt x="37592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86385" y="63500"/>
              <a:ext cx="4172458" cy="2045716"/>
            </a:xfrm>
            <a:custGeom>
              <a:avLst/>
              <a:gdLst/>
              <a:ahLst/>
              <a:cxnLst/>
              <a:rect r="r" b="b" t="t" l="l"/>
              <a:pathLst>
                <a:path h="2045716" w="4172458">
                  <a:moveTo>
                    <a:pt x="2886964" y="0"/>
                  </a:moveTo>
                  <a:lnTo>
                    <a:pt x="2531618" y="355346"/>
                  </a:lnTo>
                  <a:lnTo>
                    <a:pt x="862965" y="355346"/>
                  </a:lnTo>
                  <a:lnTo>
                    <a:pt x="862965" y="383286"/>
                  </a:lnTo>
                  <a:lnTo>
                    <a:pt x="2543175" y="383286"/>
                  </a:lnTo>
                  <a:lnTo>
                    <a:pt x="2926588" y="0"/>
                  </a:lnTo>
                  <a:close/>
                  <a:moveTo>
                    <a:pt x="3202051" y="398399"/>
                  </a:moveTo>
                  <a:lnTo>
                    <a:pt x="3202051" y="440309"/>
                  </a:lnTo>
                  <a:lnTo>
                    <a:pt x="4172458" y="440309"/>
                  </a:lnTo>
                  <a:lnTo>
                    <a:pt x="4172458" y="398399"/>
                  </a:lnTo>
                  <a:close/>
                  <a:moveTo>
                    <a:pt x="0" y="625856"/>
                  </a:moveTo>
                  <a:lnTo>
                    <a:pt x="0" y="667766"/>
                  </a:lnTo>
                  <a:lnTo>
                    <a:pt x="1765681" y="667766"/>
                  </a:lnTo>
                  <a:lnTo>
                    <a:pt x="2064258" y="966343"/>
                  </a:lnTo>
                  <a:lnTo>
                    <a:pt x="2629916" y="966343"/>
                  </a:lnTo>
                  <a:lnTo>
                    <a:pt x="2880106" y="716153"/>
                  </a:lnTo>
                  <a:lnTo>
                    <a:pt x="4172458" y="716153"/>
                  </a:lnTo>
                  <a:lnTo>
                    <a:pt x="4172458" y="674243"/>
                  </a:lnTo>
                  <a:lnTo>
                    <a:pt x="2862707" y="674243"/>
                  </a:lnTo>
                  <a:lnTo>
                    <a:pt x="2612517" y="924433"/>
                  </a:lnTo>
                  <a:lnTo>
                    <a:pt x="2081657" y="924433"/>
                  </a:lnTo>
                  <a:lnTo>
                    <a:pt x="1783207" y="625856"/>
                  </a:lnTo>
                  <a:close/>
                  <a:moveTo>
                    <a:pt x="3196336" y="973963"/>
                  </a:moveTo>
                  <a:lnTo>
                    <a:pt x="3192272" y="978027"/>
                  </a:lnTo>
                  <a:lnTo>
                    <a:pt x="2879217" y="1291082"/>
                  </a:lnTo>
                  <a:lnTo>
                    <a:pt x="1610868" y="1291082"/>
                  </a:lnTo>
                  <a:lnTo>
                    <a:pt x="1350010" y="1030351"/>
                  </a:lnTo>
                  <a:lnTo>
                    <a:pt x="1330198" y="1050163"/>
                  </a:lnTo>
                  <a:lnTo>
                    <a:pt x="1599184" y="1319149"/>
                  </a:lnTo>
                  <a:lnTo>
                    <a:pt x="2890774" y="1319149"/>
                  </a:lnTo>
                  <a:lnTo>
                    <a:pt x="2894838" y="1315085"/>
                  </a:lnTo>
                  <a:lnTo>
                    <a:pt x="3207893" y="1002030"/>
                  </a:lnTo>
                  <a:lnTo>
                    <a:pt x="4172458" y="1002030"/>
                  </a:lnTo>
                  <a:lnTo>
                    <a:pt x="4172458" y="974090"/>
                  </a:lnTo>
                  <a:close/>
                  <a:moveTo>
                    <a:pt x="3363468" y="1315339"/>
                  </a:moveTo>
                  <a:lnTo>
                    <a:pt x="3363468" y="1343279"/>
                  </a:lnTo>
                  <a:lnTo>
                    <a:pt x="4172458" y="1343279"/>
                  </a:lnTo>
                  <a:lnTo>
                    <a:pt x="4172458" y="1315339"/>
                  </a:lnTo>
                  <a:close/>
                  <a:moveTo>
                    <a:pt x="862965" y="1450721"/>
                  </a:moveTo>
                  <a:lnTo>
                    <a:pt x="862965" y="1492631"/>
                  </a:lnTo>
                  <a:lnTo>
                    <a:pt x="2528824" y="1492631"/>
                  </a:lnTo>
                  <a:lnTo>
                    <a:pt x="2935351" y="1899158"/>
                  </a:lnTo>
                  <a:lnTo>
                    <a:pt x="4025773" y="1899158"/>
                  </a:lnTo>
                  <a:lnTo>
                    <a:pt x="4172458" y="2045716"/>
                  </a:lnTo>
                  <a:lnTo>
                    <a:pt x="4172458" y="1986407"/>
                  </a:lnTo>
                  <a:lnTo>
                    <a:pt x="4043172" y="1857248"/>
                  </a:lnTo>
                  <a:lnTo>
                    <a:pt x="2952750" y="1857248"/>
                  </a:lnTo>
                  <a:lnTo>
                    <a:pt x="2546223" y="1450721"/>
                  </a:lnTo>
                  <a:close/>
                </a:path>
              </a:pathLst>
            </a:custGeom>
            <a:solidFill>
              <a:srgbClr val="C7D7F3"/>
            </a:solidFill>
          </p:spPr>
        </p:sp>
      </p:grpSp>
      <p:grpSp>
        <p:nvGrpSpPr>
          <p:cNvPr name="Group 17" id="17"/>
          <p:cNvGrpSpPr>
            <a:grpSpLocks noChangeAspect="true"/>
          </p:cNvGrpSpPr>
          <p:nvPr/>
        </p:nvGrpSpPr>
        <p:grpSpPr>
          <a:xfrm rot="0">
            <a:off x="0" y="-691970"/>
            <a:ext cx="4357106" cy="1984210"/>
            <a:chOff x="0" y="0"/>
            <a:chExt cx="4357103" cy="198421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3189986" y="434848"/>
              <a:ext cx="956310" cy="27940"/>
            </a:xfrm>
            <a:custGeom>
              <a:avLst/>
              <a:gdLst/>
              <a:ahLst/>
              <a:cxnLst/>
              <a:rect r="r" b="b" t="t" l="l"/>
              <a:pathLst>
                <a:path h="27940" w="956310">
                  <a:moveTo>
                    <a:pt x="956310" y="27940"/>
                  </a:moveTo>
                  <a:lnTo>
                    <a:pt x="0" y="27940"/>
                  </a:lnTo>
                  <a:lnTo>
                    <a:pt x="0" y="0"/>
                  </a:lnTo>
                  <a:lnTo>
                    <a:pt x="956310" y="0"/>
                  </a:lnTo>
                  <a:lnTo>
                    <a:pt x="956310" y="27940"/>
                  </a:ln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3321177" y="626999"/>
              <a:ext cx="243840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40">
                  <a:moveTo>
                    <a:pt x="121920" y="198755"/>
                  </a:moveTo>
                  <a:cubicBezTo>
                    <a:pt x="79502" y="198755"/>
                    <a:pt x="45085" y="164338"/>
                    <a:pt x="45085" y="121920"/>
                  </a:cubicBezTo>
                  <a:cubicBezTo>
                    <a:pt x="45085" y="79502"/>
                    <a:pt x="79502" y="45085"/>
                    <a:pt x="121920" y="45085"/>
                  </a:cubicBezTo>
                  <a:cubicBezTo>
                    <a:pt x="164338" y="45085"/>
                    <a:pt x="198755" y="79502"/>
                    <a:pt x="198755" y="121920"/>
                  </a:cubicBezTo>
                  <a:cubicBezTo>
                    <a:pt x="198755" y="164338"/>
                    <a:pt x="164338" y="198755"/>
                    <a:pt x="121920" y="198755"/>
                  </a:cubicBezTo>
                  <a:close/>
                  <a:moveTo>
                    <a:pt x="121920" y="0"/>
                  </a:moveTo>
                  <a:cubicBezTo>
                    <a:pt x="54610" y="0"/>
                    <a:pt x="0" y="54610"/>
                    <a:pt x="0" y="121920"/>
                  </a:cubicBezTo>
                  <a:cubicBezTo>
                    <a:pt x="0" y="189230"/>
                    <a:pt x="54610" y="243840"/>
                    <a:pt x="121920" y="243840"/>
                  </a:cubicBezTo>
                  <a:cubicBezTo>
                    <a:pt x="189230" y="243840"/>
                    <a:pt x="243840" y="189230"/>
                    <a:pt x="243840" y="121920"/>
                  </a:cubicBezTo>
                  <a:cubicBezTo>
                    <a:pt x="243840" y="54610"/>
                    <a:pt x="189230" y="0"/>
                    <a:pt x="121920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836295" y="523621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0"/>
                  </a:moveTo>
                  <a:cubicBezTo>
                    <a:pt x="37719" y="0"/>
                    <a:pt x="0" y="37592"/>
                    <a:pt x="0" y="84074"/>
                  </a:cubicBezTo>
                  <a:cubicBezTo>
                    <a:pt x="0" y="130556"/>
                    <a:pt x="37592" y="168148"/>
                    <a:pt x="84074" y="168148"/>
                  </a:cubicBezTo>
                  <a:cubicBezTo>
                    <a:pt x="130556" y="168148"/>
                    <a:pt x="168148" y="130556"/>
                    <a:pt x="168148" y="84074"/>
                  </a:cubicBezTo>
                  <a:cubicBezTo>
                    <a:pt x="168148" y="37592"/>
                    <a:pt x="130556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4125468" y="364744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0"/>
                  </a:moveTo>
                  <a:cubicBezTo>
                    <a:pt x="37719" y="0"/>
                    <a:pt x="0" y="37592"/>
                    <a:pt x="0" y="84074"/>
                  </a:cubicBezTo>
                  <a:cubicBezTo>
                    <a:pt x="0" y="130556"/>
                    <a:pt x="37592" y="168148"/>
                    <a:pt x="84074" y="168148"/>
                  </a:cubicBezTo>
                  <a:cubicBezTo>
                    <a:pt x="130556" y="168148"/>
                    <a:pt x="168148" y="130556"/>
                    <a:pt x="168148" y="84074"/>
                  </a:cubicBezTo>
                  <a:cubicBezTo>
                    <a:pt x="168148" y="37592"/>
                    <a:pt x="130556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2838196" y="176530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137033"/>
                  </a:moveTo>
                  <a:cubicBezTo>
                    <a:pt x="54737" y="137033"/>
                    <a:pt x="31115" y="113284"/>
                    <a:pt x="31115" y="84074"/>
                  </a:cubicBezTo>
                  <a:cubicBezTo>
                    <a:pt x="31115" y="54864"/>
                    <a:pt x="54864" y="31115"/>
                    <a:pt x="84074" y="31115"/>
                  </a:cubicBezTo>
                  <a:cubicBezTo>
                    <a:pt x="113284" y="31115"/>
                    <a:pt x="137033" y="54864"/>
                    <a:pt x="137033" y="84074"/>
                  </a:cubicBezTo>
                  <a:cubicBezTo>
                    <a:pt x="137033" y="113284"/>
                    <a:pt x="113284" y="137033"/>
                    <a:pt x="84074" y="137033"/>
                  </a:cubicBezTo>
                  <a:close/>
                  <a:moveTo>
                    <a:pt x="84074" y="0"/>
                  </a:moveTo>
                  <a:cubicBezTo>
                    <a:pt x="37592" y="0"/>
                    <a:pt x="0" y="37592"/>
                    <a:pt x="0" y="84074"/>
                  </a:cubicBezTo>
                  <a:cubicBezTo>
                    <a:pt x="0" y="130556"/>
                    <a:pt x="37592" y="168148"/>
                    <a:pt x="84074" y="168148"/>
                  </a:cubicBezTo>
                  <a:cubicBezTo>
                    <a:pt x="130556" y="168148"/>
                    <a:pt x="168148" y="130556"/>
                    <a:pt x="168148" y="84074"/>
                  </a:cubicBezTo>
                  <a:cubicBezTo>
                    <a:pt x="168148" y="37592"/>
                    <a:pt x="130556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63500" y="63500"/>
              <a:ext cx="3282950" cy="1235710"/>
            </a:xfrm>
            <a:custGeom>
              <a:avLst/>
              <a:gdLst/>
              <a:ahLst/>
              <a:cxnLst/>
              <a:rect r="r" b="b" t="t" l="l"/>
              <a:pathLst>
                <a:path h="1235710" w="3282950">
                  <a:moveTo>
                    <a:pt x="1333373" y="0"/>
                  </a:moveTo>
                  <a:lnTo>
                    <a:pt x="1516126" y="182753"/>
                  </a:lnTo>
                  <a:lnTo>
                    <a:pt x="2081784" y="182753"/>
                  </a:lnTo>
                  <a:lnTo>
                    <a:pt x="2264537" y="0"/>
                  </a:lnTo>
                  <a:lnTo>
                    <a:pt x="2205228" y="0"/>
                  </a:lnTo>
                  <a:lnTo>
                    <a:pt x="2064385" y="140716"/>
                  </a:lnTo>
                  <a:lnTo>
                    <a:pt x="1533398" y="140716"/>
                  </a:lnTo>
                  <a:lnTo>
                    <a:pt x="1392682" y="0"/>
                  </a:lnTo>
                  <a:close/>
                  <a:moveTo>
                    <a:pt x="0" y="190373"/>
                  </a:moveTo>
                  <a:lnTo>
                    <a:pt x="0" y="218313"/>
                  </a:lnTo>
                  <a:lnTo>
                    <a:pt x="938149" y="218313"/>
                  </a:lnTo>
                  <a:lnTo>
                    <a:pt x="1251204" y="531368"/>
                  </a:lnTo>
                  <a:lnTo>
                    <a:pt x="1255268" y="535432"/>
                  </a:lnTo>
                  <a:lnTo>
                    <a:pt x="2546731" y="535432"/>
                  </a:lnTo>
                  <a:lnTo>
                    <a:pt x="2815717" y="266446"/>
                  </a:lnTo>
                  <a:lnTo>
                    <a:pt x="2795905" y="246634"/>
                  </a:lnTo>
                  <a:lnTo>
                    <a:pt x="2535047" y="507492"/>
                  </a:lnTo>
                  <a:lnTo>
                    <a:pt x="1266825" y="507492"/>
                  </a:lnTo>
                  <a:lnTo>
                    <a:pt x="953770" y="194437"/>
                  </a:lnTo>
                  <a:lnTo>
                    <a:pt x="949706" y="190373"/>
                  </a:lnTo>
                  <a:close/>
                  <a:moveTo>
                    <a:pt x="0" y="531749"/>
                  </a:moveTo>
                  <a:lnTo>
                    <a:pt x="0" y="559689"/>
                  </a:lnTo>
                  <a:lnTo>
                    <a:pt x="782574" y="559689"/>
                  </a:lnTo>
                  <a:lnTo>
                    <a:pt x="782574" y="531749"/>
                  </a:lnTo>
                  <a:close/>
                  <a:moveTo>
                    <a:pt x="1599819" y="667131"/>
                  </a:moveTo>
                  <a:lnTo>
                    <a:pt x="1193292" y="1073658"/>
                  </a:lnTo>
                  <a:lnTo>
                    <a:pt x="102870" y="1073658"/>
                  </a:lnTo>
                  <a:lnTo>
                    <a:pt x="0" y="1176401"/>
                  </a:lnTo>
                  <a:lnTo>
                    <a:pt x="0" y="1235710"/>
                  </a:lnTo>
                  <a:lnTo>
                    <a:pt x="120269" y="1115568"/>
                  </a:lnTo>
                  <a:lnTo>
                    <a:pt x="1210691" y="1115568"/>
                  </a:lnTo>
                  <a:lnTo>
                    <a:pt x="1617218" y="709041"/>
                  </a:lnTo>
                  <a:lnTo>
                    <a:pt x="3282950" y="709041"/>
                  </a:lnTo>
                  <a:lnTo>
                    <a:pt x="3282950" y="667131"/>
                  </a:lnTo>
                  <a:close/>
                </a:path>
              </a:pathLst>
            </a:custGeom>
            <a:solidFill>
              <a:srgbClr val="C7D7F3"/>
            </a:solidFill>
          </p:spPr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61409" y="1082320"/>
            <a:ext cx="13087896" cy="7837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40"/>
              </a:lnSpc>
            </a:pPr>
            <a:r>
              <a:rPr lang="en-US" b="true" sz="30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LIMITATIONS</a:t>
            </a:r>
          </a:p>
          <a:p>
            <a:pPr algn="l">
              <a:lnSpc>
                <a:spcPts val="4324"/>
              </a:lnSpc>
            </a:pPr>
          </a:p>
          <a:p>
            <a:pPr algn="l" marL="449071" indent="-224536" lvl="1">
              <a:lnSpc>
                <a:spcPts val="3910"/>
              </a:lnSpc>
              <a:buFont typeface="Arial"/>
              <a:buChar char="•"/>
            </a:pPr>
            <a:r>
              <a:rPr lang="en-US" sz="20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SMOTE may cause overfitting, affecting real-world performance.</a:t>
            </a:r>
          </a:p>
          <a:p>
            <a:pPr algn="l" marL="449071" indent="-224536" lvl="1">
              <a:lnSpc>
                <a:spcPts val="3910"/>
              </a:lnSpc>
              <a:buFont typeface="Arial"/>
              <a:buChar char="•"/>
            </a:pPr>
            <a:r>
              <a:rPr lang="en-US" sz="20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Model scope was limited to three algorithms without deeper tuning.</a:t>
            </a:r>
          </a:p>
          <a:p>
            <a:pPr algn="l" marL="449071" indent="-224536" lvl="1">
              <a:lnSpc>
                <a:spcPts val="3910"/>
              </a:lnSpc>
              <a:buFont typeface="Arial"/>
              <a:buChar char="•"/>
            </a:pPr>
            <a:r>
              <a:rPr lang="en-US" sz="20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Some churn patterns lack context, needing more customer behavior data.</a:t>
            </a:r>
          </a:p>
          <a:p>
            <a:pPr algn="l" marL="449071" indent="-224536" lvl="1">
              <a:lnSpc>
                <a:spcPts val="3910"/>
              </a:lnSpc>
              <a:buFont typeface="Arial"/>
              <a:buChar char="•"/>
            </a:pPr>
            <a:r>
              <a:rPr lang="en-US" sz="20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Geographic churn trends weren’t deeply explored, missing regional insights.</a:t>
            </a:r>
          </a:p>
          <a:p>
            <a:pPr algn="l" marL="449071" indent="-224536" lvl="1">
              <a:lnSpc>
                <a:spcPts val="3910"/>
              </a:lnSpc>
              <a:buFont typeface="Arial"/>
              <a:buChar char="•"/>
            </a:pPr>
            <a:r>
              <a:rPr lang="en-US" sz="20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Call data lacked quality indicators, limiting support-related analysis.</a:t>
            </a:r>
          </a:p>
          <a:p>
            <a:pPr algn="l">
              <a:lnSpc>
                <a:spcPts val="3910"/>
              </a:lnSpc>
            </a:pPr>
          </a:p>
          <a:p>
            <a:pPr algn="l">
              <a:lnSpc>
                <a:spcPts val="5640"/>
              </a:lnSpc>
            </a:pPr>
            <a:r>
              <a:rPr lang="en-US" b="true" sz="30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NEXT STEPS</a:t>
            </a:r>
          </a:p>
          <a:p>
            <a:pPr algn="l">
              <a:lnSpc>
                <a:spcPts val="4324"/>
              </a:lnSpc>
            </a:pPr>
          </a:p>
          <a:p>
            <a:pPr algn="l" marL="449071" indent="-224536" lvl="1">
              <a:lnSpc>
                <a:spcPts val="3910"/>
              </a:lnSpc>
              <a:buFont typeface="Arial"/>
              <a:buChar char="•"/>
            </a:pPr>
            <a:r>
              <a:rPr lang="en-US" sz="20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Experiment with advanced models like XGBoost and LightGBM.</a:t>
            </a:r>
          </a:p>
          <a:p>
            <a:pPr algn="l" marL="449071" indent="-224536" lvl="1">
              <a:lnSpc>
                <a:spcPts val="3910"/>
              </a:lnSpc>
              <a:buFont typeface="Arial"/>
              <a:buChar char="•"/>
            </a:pPr>
            <a:r>
              <a:rPr lang="en-US" sz="20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Run A/B tests on targeted retention campaigns</a:t>
            </a:r>
          </a:p>
          <a:p>
            <a:pPr algn="l">
              <a:lnSpc>
                <a:spcPts val="5640"/>
              </a:lnSpc>
            </a:pPr>
          </a:p>
          <a:p>
            <a:pPr algn="l">
              <a:lnSpc>
                <a:spcPts val="5640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-367306" y="9726713"/>
            <a:ext cx="19022613" cy="4006046"/>
            <a:chOff x="0" y="0"/>
            <a:chExt cx="5010071" cy="10550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010071" cy="1055090"/>
            </a:xfrm>
            <a:custGeom>
              <a:avLst/>
              <a:gdLst/>
              <a:ahLst/>
              <a:cxnLst/>
              <a:rect r="r" b="b" t="t" l="l"/>
              <a:pathLst>
                <a:path h="1055090" w="5010071">
                  <a:moveTo>
                    <a:pt x="0" y="0"/>
                  </a:moveTo>
                  <a:lnTo>
                    <a:pt x="5010071" y="0"/>
                  </a:lnTo>
                  <a:lnTo>
                    <a:pt x="5010071" y="1055090"/>
                  </a:lnTo>
                  <a:lnTo>
                    <a:pt x="0" y="1055090"/>
                  </a:lnTo>
                  <a:close/>
                </a:path>
              </a:pathLst>
            </a:custGeom>
            <a:gradFill rotWithShape="true">
              <a:gsLst>
                <a:gs pos="0">
                  <a:srgbClr val="114168">
                    <a:alpha val="100000"/>
                  </a:srgbClr>
                </a:gs>
                <a:gs pos="100000">
                  <a:srgbClr val="09023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5010071" cy="10931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12"/>
                </a:lnSpc>
              </a:pPr>
            </a:p>
          </p:txBody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14132941" y="-864729"/>
            <a:ext cx="4522365" cy="2767879"/>
            <a:chOff x="0" y="0"/>
            <a:chExt cx="4522368" cy="276787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349631" y="1218438"/>
              <a:ext cx="956310" cy="27940"/>
            </a:xfrm>
            <a:custGeom>
              <a:avLst/>
              <a:gdLst/>
              <a:ahLst/>
              <a:cxnLst/>
              <a:rect r="r" b="b" t="t" l="l"/>
              <a:pathLst>
                <a:path h="27940" w="956310">
                  <a:moveTo>
                    <a:pt x="0" y="27940"/>
                  </a:moveTo>
                  <a:lnTo>
                    <a:pt x="956310" y="27940"/>
                  </a:lnTo>
                  <a:lnTo>
                    <a:pt x="956310" y="0"/>
                  </a:lnTo>
                  <a:lnTo>
                    <a:pt x="0" y="0"/>
                  </a:lnTo>
                  <a:lnTo>
                    <a:pt x="0" y="27940"/>
                  </a:ln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3500" y="586359"/>
              <a:ext cx="239268" cy="243840"/>
            </a:xfrm>
            <a:custGeom>
              <a:avLst/>
              <a:gdLst/>
              <a:ahLst/>
              <a:cxnLst/>
              <a:rect r="r" b="b" t="t" l="l"/>
              <a:pathLst>
                <a:path h="243840" w="239268">
                  <a:moveTo>
                    <a:pt x="117348" y="45212"/>
                  </a:moveTo>
                  <a:cubicBezTo>
                    <a:pt x="159766" y="45212"/>
                    <a:pt x="194183" y="79629"/>
                    <a:pt x="194183" y="122047"/>
                  </a:cubicBezTo>
                  <a:cubicBezTo>
                    <a:pt x="194183" y="164465"/>
                    <a:pt x="159766" y="198882"/>
                    <a:pt x="117348" y="198882"/>
                  </a:cubicBezTo>
                  <a:cubicBezTo>
                    <a:pt x="74930" y="198882"/>
                    <a:pt x="40513" y="164465"/>
                    <a:pt x="40513" y="122047"/>
                  </a:cubicBezTo>
                  <a:cubicBezTo>
                    <a:pt x="40513" y="79629"/>
                    <a:pt x="74930" y="45212"/>
                    <a:pt x="117348" y="45212"/>
                  </a:cubicBezTo>
                  <a:close/>
                  <a:moveTo>
                    <a:pt x="117348" y="127"/>
                  </a:moveTo>
                  <a:cubicBezTo>
                    <a:pt x="61468" y="127"/>
                    <a:pt x="14478" y="37719"/>
                    <a:pt x="0" y="88900"/>
                  </a:cubicBezTo>
                  <a:lnTo>
                    <a:pt x="0" y="88900"/>
                  </a:lnTo>
                  <a:lnTo>
                    <a:pt x="0" y="155067"/>
                  </a:lnTo>
                  <a:cubicBezTo>
                    <a:pt x="14478" y="206248"/>
                    <a:pt x="61468" y="243840"/>
                    <a:pt x="117348" y="243840"/>
                  </a:cubicBezTo>
                  <a:cubicBezTo>
                    <a:pt x="184658" y="243840"/>
                    <a:pt x="239268" y="189230"/>
                    <a:pt x="239268" y="121920"/>
                  </a:cubicBezTo>
                  <a:cubicBezTo>
                    <a:pt x="239268" y="54610"/>
                    <a:pt x="184658" y="0"/>
                    <a:pt x="117348" y="0"/>
                  </a:cubicBezTo>
                  <a:close/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930783" y="1410716"/>
              <a:ext cx="243840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40">
                  <a:moveTo>
                    <a:pt x="121920" y="198755"/>
                  </a:moveTo>
                  <a:cubicBezTo>
                    <a:pt x="164338" y="198755"/>
                    <a:pt x="198755" y="164338"/>
                    <a:pt x="198755" y="121920"/>
                  </a:cubicBezTo>
                  <a:cubicBezTo>
                    <a:pt x="198755" y="79502"/>
                    <a:pt x="164338" y="45085"/>
                    <a:pt x="121920" y="45085"/>
                  </a:cubicBezTo>
                  <a:cubicBezTo>
                    <a:pt x="79502" y="45085"/>
                    <a:pt x="45085" y="79502"/>
                    <a:pt x="45085" y="121920"/>
                  </a:cubicBezTo>
                  <a:cubicBezTo>
                    <a:pt x="45085" y="164338"/>
                    <a:pt x="79502" y="198755"/>
                    <a:pt x="121920" y="198755"/>
                  </a:cubicBezTo>
                  <a:close/>
                  <a:moveTo>
                    <a:pt x="121920" y="0"/>
                  </a:moveTo>
                  <a:cubicBezTo>
                    <a:pt x="189230" y="0"/>
                    <a:pt x="243840" y="54610"/>
                    <a:pt x="243840" y="121920"/>
                  </a:cubicBezTo>
                  <a:cubicBezTo>
                    <a:pt x="243840" y="189230"/>
                    <a:pt x="189230" y="243840"/>
                    <a:pt x="121920" y="243840"/>
                  </a:cubicBezTo>
                  <a:cubicBezTo>
                    <a:pt x="54610" y="243840"/>
                    <a:pt x="0" y="189230"/>
                    <a:pt x="0" y="121920"/>
                  </a:cubicBezTo>
                  <a:cubicBezTo>
                    <a:pt x="0" y="54610"/>
                    <a:pt x="54610" y="0"/>
                    <a:pt x="121920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3491484" y="1307211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0"/>
                  </a:moveTo>
                  <a:cubicBezTo>
                    <a:pt x="130429" y="0"/>
                    <a:pt x="168148" y="37592"/>
                    <a:pt x="168148" y="84074"/>
                  </a:cubicBezTo>
                  <a:cubicBezTo>
                    <a:pt x="168148" y="130556"/>
                    <a:pt x="130556" y="168148"/>
                    <a:pt x="84074" y="168148"/>
                  </a:cubicBezTo>
                  <a:cubicBezTo>
                    <a:pt x="37592" y="168148"/>
                    <a:pt x="0" y="130556"/>
                    <a:pt x="0" y="84074"/>
                  </a:cubicBezTo>
                  <a:cubicBezTo>
                    <a:pt x="0" y="37592"/>
                    <a:pt x="37592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202311" y="1148461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0"/>
                  </a:moveTo>
                  <a:cubicBezTo>
                    <a:pt x="130429" y="0"/>
                    <a:pt x="168148" y="37592"/>
                    <a:pt x="168148" y="84074"/>
                  </a:cubicBezTo>
                  <a:cubicBezTo>
                    <a:pt x="168148" y="130556"/>
                    <a:pt x="130556" y="168148"/>
                    <a:pt x="84074" y="168148"/>
                  </a:cubicBezTo>
                  <a:cubicBezTo>
                    <a:pt x="37592" y="168148"/>
                    <a:pt x="0" y="130556"/>
                    <a:pt x="0" y="84074"/>
                  </a:cubicBezTo>
                  <a:cubicBezTo>
                    <a:pt x="0" y="37592"/>
                    <a:pt x="37592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006475" y="342646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0"/>
                  </a:moveTo>
                  <a:cubicBezTo>
                    <a:pt x="130429" y="0"/>
                    <a:pt x="168148" y="37592"/>
                    <a:pt x="168148" y="84074"/>
                  </a:cubicBezTo>
                  <a:cubicBezTo>
                    <a:pt x="168148" y="130556"/>
                    <a:pt x="130556" y="168148"/>
                    <a:pt x="84074" y="168148"/>
                  </a:cubicBezTo>
                  <a:cubicBezTo>
                    <a:pt x="37592" y="168148"/>
                    <a:pt x="0" y="130556"/>
                    <a:pt x="0" y="84074"/>
                  </a:cubicBezTo>
                  <a:cubicBezTo>
                    <a:pt x="0" y="37592"/>
                    <a:pt x="37592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489583" y="960120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137033"/>
                  </a:moveTo>
                  <a:cubicBezTo>
                    <a:pt x="113411" y="137033"/>
                    <a:pt x="137033" y="113284"/>
                    <a:pt x="137033" y="84074"/>
                  </a:cubicBezTo>
                  <a:cubicBezTo>
                    <a:pt x="137033" y="54864"/>
                    <a:pt x="113284" y="31115"/>
                    <a:pt x="84074" y="31115"/>
                  </a:cubicBezTo>
                  <a:cubicBezTo>
                    <a:pt x="54864" y="31115"/>
                    <a:pt x="31115" y="54864"/>
                    <a:pt x="31115" y="84074"/>
                  </a:cubicBezTo>
                  <a:cubicBezTo>
                    <a:pt x="31115" y="113284"/>
                    <a:pt x="54864" y="137033"/>
                    <a:pt x="84074" y="137033"/>
                  </a:cubicBezTo>
                  <a:close/>
                  <a:moveTo>
                    <a:pt x="84074" y="0"/>
                  </a:moveTo>
                  <a:cubicBezTo>
                    <a:pt x="130556" y="0"/>
                    <a:pt x="168148" y="37592"/>
                    <a:pt x="168148" y="84074"/>
                  </a:cubicBezTo>
                  <a:cubicBezTo>
                    <a:pt x="168148" y="130556"/>
                    <a:pt x="130556" y="168148"/>
                    <a:pt x="84074" y="168148"/>
                  </a:cubicBezTo>
                  <a:cubicBezTo>
                    <a:pt x="37592" y="168148"/>
                    <a:pt x="0" y="130556"/>
                    <a:pt x="0" y="84074"/>
                  </a:cubicBezTo>
                  <a:cubicBezTo>
                    <a:pt x="0" y="37592"/>
                    <a:pt x="37592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3343021" y="395605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137033"/>
                  </a:moveTo>
                  <a:cubicBezTo>
                    <a:pt x="113284" y="137033"/>
                    <a:pt x="137033" y="113284"/>
                    <a:pt x="137033" y="84074"/>
                  </a:cubicBezTo>
                  <a:cubicBezTo>
                    <a:pt x="137033" y="54864"/>
                    <a:pt x="113284" y="31115"/>
                    <a:pt x="84074" y="31115"/>
                  </a:cubicBezTo>
                  <a:cubicBezTo>
                    <a:pt x="54864" y="31115"/>
                    <a:pt x="31115" y="54864"/>
                    <a:pt x="31115" y="84074"/>
                  </a:cubicBezTo>
                  <a:cubicBezTo>
                    <a:pt x="31115" y="113284"/>
                    <a:pt x="54864" y="137033"/>
                    <a:pt x="84074" y="137033"/>
                  </a:cubicBezTo>
                  <a:close/>
                  <a:moveTo>
                    <a:pt x="84074" y="0"/>
                  </a:moveTo>
                  <a:cubicBezTo>
                    <a:pt x="130429" y="0"/>
                    <a:pt x="168148" y="37592"/>
                    <a:pt x="168148" y="84074"/>
                  </a:cubicBezTo>
                  <a:cubicBezTo>
                    <a:pt x="168148" y="130556"/>
                    <a:pt x="130556" y="168148"/>
                    <a:pt x="84074" y="168148"/>
                  </a:cubicBezTo>
                  <a:cubicBezTo>
                    <a:pt x="37592" y="168148"/>
                    <a:pt x="0" y="130556"/>
                    <a:pt x="0" y="84074"/>
                  </a:cubicBezTo>
                  <a:cubicBezTo>
                    <a:pt x="0" y="37592"/>
                    <a:pt x="37592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86385" y="63500"/>
              <a:ext cx="4172458" cy="2045716"/>
            </a:xfrm>
            <a:custGeom>
              <a:avLst/>
              <a:gdLst/>
              <a:ahLst/>
              <a:cxnLst/>
              <a:rect r="r" b="b" t="t" l="l"/>
              <a:pathLst>
                <a:path h="2045716" w="4172458">
                  <a:moveTo>
                    <a:pt x="2886964" y="0"/>
                  </a:moveTo>
                  <a:lnTo>
                    <a:pt x="2531618" y="355346"/>
                  </a:lnTo>
                  <a:lnTo>
                    <a:pt x="862965" y="355346"/>
                  </a:lnTo>
                  <a:lnTo>
                    <a:pt x="862965" y="383286"/>
                  </a:lnTo>
                  <a:lnTo>
                    <a:pt x="2543175" y="383286"/>
                  </a:lnTo>
                  <a:lnTo>
                    <a:pt x="2926588" y="0"/>
                  </a:lnTo>
                  <a:close/>
                  <a:moveTo>
                    <a:pt x="3202051" y="398399"/>
                  </a:moveTo>
                  <a:lnTo>
                    <a:pt x="3202051" y="440309"/>
                  </a:lnTo>
                  <a:lnTo>
                    <a:pt x="4172458" y="440309"/>
                  </a:lnTo>
                  <a:lnTo>
                    <a:pt x="4172458" y="398399"/>
                  </a:lnTo>
                  <a:close/>
                  <a:moveTo>
                    <a:pt x="0" y="625856"/>
                  </a:moveTo>
                  <a:lnTo>
                    <a:pt x="0" y="667766"/>
                  </a:lnTo>
                  <a:lnTo>
                    <a:pt x="1765681" y="667766"/>
                  </a:lnTo>
                  <a:lnTo>
                    <a:pt x="2064258" y="966343"/>
                  </a:lnTo>
                  <a:lnTo>
                    <a:pt x="2629916" y="966343"/>
                  </a:lnTo>
                  <a:lnTo>
                    <a:pt x="2880106" y="716153"/>
                  </a:lnTo>
                  <a:lnTo>
                    <a:pt x="4172458" y="716153"/>
                  </a:lnTo>
                  <a:lnTo>
                    <a:pt x="4172458" y="674243"/>
                  </a:lnTo>
                  <a:lnTo>
                    <a:pt x="2862707" y="674243"/>
                  </a:lnTo>
                  <a:lnTo>
                    <a:pt x="2612517" y="924433"/>
                  </a:lnTo>
                  <a:lnTo>
                    <a:pt x="2081657" y="924433"/>
                  </a:lnTo>
                  <a:lnTo>
                    <a:pt x="1783207" y="625856"/>
                  </a:lnTo>
                  <a:close/>
                  <a:moveTo>
                    <a:pt x="3196336" y="973963"/>
                  </a:moveTo>
                  <a:lnTo>
                    <a:pt x="3192272" y="978027"/>
                  </a:lnTo>
                  <a:lnTo>
                    <a:pt x="2879217" y="1291082"/>
                  </a:lnTo>
                  <a:lnTo>
                    <a:pt x="1610868" y="1291082"/>
                  </a:lnTo>
                  <a:lnTo>
                    <a:pt x="1350010" y="1030351"/>
                  </a:lnTo>
                  <a:lnTo>
                    <a:pt x="1330198" y="1050163"/>
                  </a:lnTo>
                  <a:lnTo>
                    <a:pt x="1599184" y="1319149"/>
                  </a:lnTo>
                  <a:lnTo>
                    <a:pt x="2890774" y="1319149"/>
                  </a:lnTo>
                  <a:lnTo>
                    <a:pt x="2894838" y="1315085"/>
                  </a:lnTo>
                  <a:lnTo>
                    <a:pt x="3207893" y="1002030"/>
                  </a:lnTo>
                  <a:lnTo>
                    <a:pt x="4172458" y="1002030"/>
                  </a:lnTo>
                  <a:lnTo>
                    <a:pt x="4172458" y="974090"/>
                  </a:lnTo>
                  <a:close/>
                  <a:moveTo>
                    <a:pt x="3363468" y="1315339"/>
                  </a:moveTo>
                  <a:lnTo>
                    <a:pt x="3363468" y="1343279"/>
                  </a:lnTo>
                  <a:lnTo>
                    <a:pt x="4172458" y="1343279"/>
                  </a:lnTo>
                  <a:lnTo>
                    <a:pt x="4172458" y="1315339"/>
                  </a:lnTo>
                  <a:close/>
                  <a:moveTo>
                    <a:pt x="862965" y="1450721"/>
                  </a:moveTo>
                  <a:lnTo>
                    <a:pt x="862965" y="1492631"/>
                  </a:lnTo>
                  <a:lnTo>
                    <a:pt x="2528824" y="1492631"/>
                  </a:lnTo>
                  <a:lnTo>
                    <a:pt x="2935351" y="1899158"/>
                  </a:lnTo>
                  <a:lnTo>
                    <a:pt x="4025773" y="1899158"/>
                  </a:lnTo>
                  <a:lnTo>
                    <a:pt x="4172458" y="2045716"/>
                  </a:lnTo>
                  <a:lnTo>
                    <a:pt x="4172458" y="1986407"/>
                  </a:lnTo>
                  <a:lnTo>
                    <a:pt x="4043172" y="1857248"/>
                  </a:lnTo>
                  <a:lnTo>
                    <a:pt x="2952750" y="1857248"/>
                  </a:lnTo>
                  <a:lnTo>
                    <a:pt x="2546223" y="1450721"/>
                  </a:lnTo>
                  <a:close/>
                </a:path>
              </a:pathLst>
            </a:custGeom>
            <a:solidFill>
              <a:srgbClr val="C7D7F3"/>
            </a:solidFill>
          </p:spPr>
        </p:sp>
      </p:grpSp>
      <p:grpSp>
        <p:nvGrpSpPr>
          <p:cNvPr name="Group 17" id="17"/>
          <p:cNvGrpSpPr>
            <a:grpSpLocks noChangeAspect="true"/>
          </p:cNvGrpSpPr>
          <p:nvPr/>
        </p:nvGrpSpPr>
        <p:grpSpPr>
          <a:xfrm rot="0">
            <a:off x="0" y="-472895"/>
            <a:ext cx="4357106" cy="1984210"/>
            <a:chOff x="0" y="0"/>
            <a:chExt cx="4357103" cy="198421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3189986" y="434848"/>
              <a:ext cx="956310" cy="27940"/>
            </a:xfrm>
            <a:custGeom>
              <a:avLst/>
              <a:gdLst/>
              <a:ahLst/>
              <a:cxnLst/>
              <a:rect r="r" b="b" t="t" l="l"/>
              <a:pathLst>
                <a:path h="27940" w="956310">
                  <a:moveTo>
                    <a:pt x="956310" y="27940"/>
                  </a:moveTo>
                  <a:lnTo>
                    <a:pt x="0" y="27940"/>
                  </a:lnTo>
                  <a:lnTo>
                    <a:pt x="0" y="0"/>
                  </a:lnTo>
                  <a:lnTo>
                    <a:pt x="956310" y="0"/>
                  </a:lnTo>
                  <a:lnTo>
                    <a:pt x="956310" y="27940"/>
                  </a:ln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3321177" y="626999"/>
              <a:ext cx="243840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40">
                  <a:moveTo>
                    <a:pt x="121920" y="198755"/>
                  </a:moveTo>
                  <a:cubicBezTo>
                    <a:pt x="79502" y="198755"/>
                    <a:pt x="45085" y="164338"/>
                    <a:pt x="45085" y="121920"/>
                  </a:cubicBezTo>
                  <a:cubicBezTo>
                    <a:pt x="45085" y="79502"/>
                    <a:pt x="79502" y="45085"/>
                    <a:pt x="121920" y="45085"/>
                  </a:cubicBezTo>
                  <a:cubicBezTo>
                    <a:pt x="164338" y="45085"/>
                    <a:pt x="198755" y="79502"/>
                    <a:pt x="198755" y="121920"/>
                  </a:cubicBezTo>
                  <a:cubicBezTo>
                    <a:pt x="198755" y="164338"/>
                    <a:pt x="164338" y="198755"/>
                    <a:pt x="121920" y="198755"/>
                  </a:cubicBezTo>
                  <a:close/>
                  <a:moveTo>
                    <a:pt x="121920" y="0"/>
                  </a:moveTo>
                  <a:cubicBezTo>
                    <a:pt x="54610" y="0"/>
                    <a:pt x="0" y="54610"/>
                    <a:pt x="0" y="121920"/>
                  </a:cubicBezTo>
                  <a:cubicBezTo>
                    <a:pt x="0" y="189230"/>
                    <a:pt x="54610" y="243840"/>
                    <a:pt x="121920" y="243840"/>
                  </a:cubicBezTo>
                  <a:cubicBezTo>
                    <a:pt x="189230" y="243840"/>
                    <a:pt x="243840" y="189230"/>
                    <a:pt x="243840" y="121920"/>
                  </a:cubicBezTo>
                  <a:cubicBezTo>
                    <a:pt x="243840" y="54610"/>
                    <a:pt x="189230" y="0"/>
                    <a:pt x="121920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836295" y="523621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0"/>
                  </a:moveTo>
                  <a:cubicBezTo>
                    <a:pt x="37719" y="0"/>
                    <a:pt x="0" y="37592"/>
                    <a:pt x="0" y="84074"/>
                  </a:cubicBezTo>
                  <a:cubicBezTo>
                    <a:pt x="0" y="130556"/>
                    <a:pt x="37592" y="168148"/>
                    <a:pt x="84074" y="168148"/>
                  </a:cubicBezTo>
                  <a:cubicBezTo>
                    <a:pt x="130556" y="168148"/>
                    <a:pt x="168148" y="130556"/>
                    <a:pt x="168148" y="84074"/>
                  </a:cubicBezTo>
                  <a:cubicBezTo>
                    <a:pt x="168148" y="37592"/>
                    <a:pt x="130556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4125468" y="364744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0"/>
                  </a:moveTo>
                  <a:cubicBezTo>
                    <a:pt x="37719" y="0"/>
                    <a:pt x="0" y="37592"/>
                    <a:pt x="0" y="84074"/>
                  </a:cubicBezTo>
                  <a:cubicBezTo>
                    <a:pt x="0" y="130556"/>
                    <a:pt x="37592" y="168148"/>
                    <a:pt x="84074" y="168148"/>
                  </a:cubicBezTo>
                  <a:cubicBezTo>
                    <a:pt x="130556" y="168148"/>
                    <a:pt x="168148" y="130556"/>
                    <a:pt x="168148" y="84074"/>
                  </a:cubicBezTo>
                  <a:cubicBezTo>
                    <a:pt x="168148" y="37592"/>
                    <a:pt x="130556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2838196" y="176530"/>
              <a:ext cx="168148" cy="168148"/>
            </a:xfrm>
            <a:custGeom>
              <a:avLst/>
              <a:gdLst/>
              <a:ahLst/>
              <a:cxnLst/>
              <a:rect r="r" b="b" t="t" l="l"/>
              <a:pathLst>
                <a:path h="168148" w="168148">
                  <a:moveTo>
                    <a:pt x="84074" y="137033"/>
                  </a:moveTo>
                  <a:cubicBezTo>
                    <a:pt x="54737" y="137033"/>
                    <a:pt x="31115" y="113284"/>
                    <a:pt x="31115" y="84074"/>
                  </a:cubicBezTo>
                  <a:cubicBezTo>
                    <a:pt x="31115" y="54864"/>
                    <a:pt x="54864" y="31115"/>
                    <a:pt x="84074" y="31115"/>
                  </a:cubicBezTo>
                  <a:cubicBezTo>
                    <a:pt x="113284" y="31115"/>
                    <a:pt x="137033" y="54864"/>
                    <a:pt x="137033" y="84074"/>
                  </a:cubicBezTo>
                  <a:cubicBezTo>
                    <a:pt x="137033" y="113284"/>
                    <a:pt x="113284" y="137033"/>
                    <a:pt x="84074" y="137033"/>
                  </a:cubicBezTo>
                  <a:close/>
                  <a:moveTo>
                    <a:pt x="84074" y="0"/>
                  </a:moveTo>
                  <a:cubicBezTo>
                    <a:pt x="37592" y="0"/>
                    <a:pt x="0" y="37592"/>
                    <a:pt x="0" y="84074"/>
                  </a:cubicBezTo>
                  <a:cubicBezTo>
                    <a:pt x="0" y="130556"/>
                    <a:pt x="37592" y="168148"/>
                    <a:pt x="84074" y="168148"/>
                  </a:cubicBezTo>
                  <a:cubicBezTo>
                    <a:pt x="130556" y="168148"/>
                    <a:pt x="168148" y="130556"/>
                    <a:pt x="168148" y="84074"/>
                  </a:cubicBezTo>
                  <a:cubicBezTo>
                    <a:pt x="168148" y="37592"/>
                    <a:pt x="130556" y="0"/>
                    <a:pt x="84074" y="0"/>
                  </a:cubicBezTo>
                </a:path>
              </a:pathLst>
            </a:custGeom>
            <a:solidFill>
              <a:srgbClr val="C7D7F3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63500" y="63500"/>
              <a:ext cx="3282950" cy="1235710"/>
            </a:xfrm>
            <a:custGeom>
              <a:avLst/>
              <a:gdLst/>
              <a:ahLst/>
              <a:cxnLst/>
              <a:rect r="r" b="b" t="t" l="l"/>
              <a:pathLst>
                <a:path h="1235710" w="3282950">
                  <a:moveTo>
                    <a:pt x="1333373" y="0"/>
                  </a:moveTo>
                  <a:lnTo>
                    <a:pt x="1516126" y="182753"/>
                  </a:lnTo>
                  <a:lnTo>
                    <a:pt x="2081784" y="182753"/>
                  </a:lnTo>
                  <a:lnTo>
                    <a:pt x="2264537" y="0"/>
                  </a:lnTo>
                  <a:lnTo>
                    <a:pt x="2205228" y="0"/>
                  </a:lnTo>
                  <a:lnTo>
                    <a:pt x="2064385" y="140716"/>
                  </a:lnTo>
                  <a:lnTo>
                    <a:pt x="1533398" y="140716"/>
                  </a:lnTo>
                  <a:lnTo>
                    <a:pt x="1392682" y="0"/>
                  </a:lnTo>
                  <a:close/>
                  <a:moveTo>
                    <a:pt x="0" y="190373"/>
                  </a:moveTo>
                  <a:lnTo>
                    <a:pt x="0" y="218313"/>
                  </a:lnTo>
                  <a:lnTo>
                    <a:pt x="938149" y="218313"/>
                  </a:lnTo>
                  <a:lnTo>
                    <a:pt x="1251204" y="531368"/>
                  </a:lnTo>
                  <a:lnTo>
                    <a:pt x="1255268" y="535432"/>
                  </a:lnTo>
                  <a:lnTo>
                    <a:pt x="2546731" y="535432"/>
                  </a:lnTo>
                  <a:lnTo>
                    <a:pt x="2815717" y="266446"/>
                  </a:lnTo>
                  <a:lnTo>
                    <a:pt x="2795905" y="246634"/>
                  </a:lnTo>
                  <a:lnTo>
                    <a:pt x="2535047" y="507492"/>
                  </a:lnTo>
                  <a:lnTo>
                    <a:pt x="1266825" y="507492"/>
                  </a:lnTo>
                  <a:lnTo>
                    <a:pt x="953770" y="194437"/>
                  </a:lnTo>
                  <a:lnTo>
                    <a:pt x="949706" y="190373"/>
                  </a:lnTo>
                  <a:close/>
                  <a:moveTo>
                    <a:pt x="0" y="531749"/>
                  </a:moveTo>
                  <a:lnTo>
                    <a:pt x="0" y="559689"/>
                  </a:lnTo>
                  <a:lnTo>
                    <a:pt x="782574" y="559689"/>
                  </a:lnTo>
                  <a:lnTo>
                    <a:pt x="782574" y="531749"/>
                  </a:lnTo>
                  <a:close/>
                  <a:moveTo>
                    <a:pt x="1599819" y="667131"/>
                  </a:moveTo>
                  <a:lnTo>
                    <a:pt x="1193292" y="1073658"/>
                  </a:lnTo>
                  <a:lnTo>
                    <a:pt x="102870" y="1073658"/>
                  </a:lnTo>
                  <a:lnTo>
                    <a:pt x="0" y="1176401"/>
                  </a:lnTo>
                  <a:lnTo>
                    <a:pt x="0" y="1235710"/>
                  </a:lnTo>
                  <a:lnTo>
                    <a:pt x="120269" y="1115568"/>
                  </a:lnTo>
                  <a:lnTo>
                    <a:pt x="1210691" y="1115568"/>
                  </a:lnTo>
                  <a:lnTo>
                    <a:pt x="1617218" y="709041"/>
                  </a:lnTo>
                  <a:lnTo>
                    <a:pt x="3282950" y="709041"/>
                  </a:lnTo>
                  <a:lnTo>
                    <a:pt x="3282950" y="667131"/>
                  </a:lnTo>
                  <a:close/>
                </a:path>
              </a:pathLst>
            </a:custGeom>
            <a:solidFill>
              <a:srgbClr val="C7D7F3"/>
            </a:solidFill>
          </p:spPr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554924" y="6860762"/>
            <a:ext cx="460629" cy="460629"/>
          </a:xfrm>
          <a:custGeom>
            <a:avLst/>
            <a:gdLst/>
            <a:ahLst/>
            <a:cxnLst/>
            <a:rect r="r" b="b" t="t" l="l"/>
            <a:pathLst>
              <a:path h="460629" w="460629">
                <a:moveTo>
                  <a:pt x="0" y="0"/>
                </a:moveTo>
                <a:lnTo>
                  <a:pt x="460629" y="0"/>
                </a:lnTo>
                <a:lnTo>
                  <a:pt x="460629" y="460629"/>
                </a:lnTo>
                <a:lnTo>
                  <a:pt x="0" y="4606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3534492" y="2766441"/>
            <a:ext cx="244450" cy="232915"/>
            <a:chOff x="0" y="0"/>
            <a:chExt cx="244450" cy="23291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63500" y="63500"/>
              <a:ext cx="117475" cy="21209"/>
            </a:xfrm>
            <a:custGeom>
              <a:avLst/>
              <a:gdLst/>
              <a:ahLst/>
              <a:cxnLst/>
              <a:rect r="r" b="b" t="t" l="l"/>
              <a:pathLst>
                <a:path h="21209" w="117475">
                  <a:moveTo>
                    <a:pt x="117475" y="21209"/>
                  </a:moveTo>
                  <a:lnTo>
                    <a:pt x="0" y="21209"/>
                  </a:lnTo>
                  <a:lnTo>
                    <a:pt x="0" y="0"/>
                  </a:lnTo>
                  <a:lnTo>
                    <a:pt x="117475" y="0"/>
                  </a:lnTo>
                  <a:lnTo>
                    <a:pt x="117475" y="21209"/>
                  </a:lnTo>
                </a:path>
              </a:pathLst>
            </a:custGeom>
            <a:solidFill>
              <a:srgbClr val="5E8AD6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63500" y="105918"/>
              <a:ext cx="117475" cy="21082"/>
            </a:xfrm>
            <a:custGeom>
              <a:avLst/>
              <a:gdLst/>
              <a:ahLst/>
              <a:cxnLst/>
              <a:rect r="r" b="b" t="t" l="l"/>
              <a:pathLst>
                <a:path h="21082" w="117475">
                  <a:moveTo>
                    <a:pt x="117475" y="21082"/>
                  </a:moveTo>
                  <a:lnTo>
                    <a:pt x="0" y="21082"/>
                  </a:lnTo>
                  <a:lnTo>
                    <a:pt x="0" y="0"/>
                  </a:lnTo>
                  <a:lnTo>
                    <a:pt x="117475" y="0"/>
                  </a:lnTo>
                  <a:lnTo>
                    <a:pt x="117475" y="21082"/>
                  </a:lnTo>
                </a:path>
              </a:pathLst>
            </a:custGeom>
            <a:solidFill>
              <a:srgbClr val="5E8AD6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63500" y="148209"/>
              <a:ext cx="117475" cy="21209"/>
            </a:xfrm>
            <a:custGeom>
              <a:avLst/>
              <a:gdLst/>
              <a:ahLst/>
              <a:cxnLst/>
              <a:rect r="r" b="b" t="t" l="l"/>
              <a:pathLst>
                <a:path h="21209" w="117475">
                  <a:moveTo>
                    <a:pt x="117475" y="21209"/>
                  </a:moveTo>
                  <a:lnTo>
                    <a:pt x="0" y="21209"/>
                  </a:lnTo>
                  <a:lnTo>
                    <a:pt x="0" y="0"/>
                  </a:lnTo>
                  <a:lnTo>
                    <a:pt x="117475" y="0"/>
                  </a:lnTo>
                  <a:lnTo>
                    <a:pt x="117475" y="21209"/>
                  </a:lnTo>
                </a:path>
              </a:pathLst>
            </a:custGeom>
            <a:solidFill>
              <a:srgbClr val="5E8AD6"/>
            </a:solid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3945991" y="3537976"/>
            <a:ext cx="360436" cy="360359"/>
            <a:chOff x="0" y="0"/>
            <a:chExt cx="360426" cy="36036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63500" y="169545"/>
              <a:ext cx="233426" cy="21209"/>
            </a:xfrm>
            <a:custGeom>
              <a:avLst/>
              <a:gdLst/>
              <a:ahLst/>
              <a:cxnLst/>
              <a:rect r="r" b="b" t="t" l="l"/>
              <a:pathLst>
                <a:path h="21209" w="233426">
                  <a:moveTo>
                    <a:pt x="233426" y="21209"/>
                  </a:moveTo>
                  <a:lnTo>
                    <a:pt x="0" y="21209"/>
                  </a:lnTo>
                  <a:lnTo>
                    <a:pt x="0" y="0"/>
                  </a:lnTo>
                  <a:lnTo>
                    <a:pt x="233426" y="0"/>
                  </a:lnTo>
                  <a:lnTo>
                    <a:pt x="233426" y="21209"/>
                  </a:lnTo>
                </a:path>
              </a:pathLst>
            </a:custGeom>
            <a:solidFill>
              <a:srgbClr val="5E8AD6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69672" y="63500"/>
              <a:ext cx="21209" cy="233426"/>
            </a:xfrm>
            <a:custGeom>
              <a:avLst/>
              <a:gdLst/>
              <a:ahLst/>
              <a:cxnLst/>
              <a:rect r="r" b="b" t="t" l="l"/>
              <a:pathLst>
                <a:path h="233426" w="21209">
                  <a:moveTo>
                    <a:pt x="21082" y="233426"/>
                  </a:moveTo>
                  <a:lnTo>
                    <a:pt x="0" y="233426"/>
                  </a:lnTo>
                  <a:lnTo>
                    <a:pt x="0" y="0"/>
                  </a:lnTo>
                  <a:lnTo>
                    <a:pt x="21209" y="0"/>
                  </a:lnTo>
                  <a:lnTo>
                    <a:pt x="21209" y="233426"/>
                  </a:lnTo>
                </a:path>
              </a:pathLst>
            </a:custGeom>
            <a:solidFill>
              <a:srgbClr val="5E8AD6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591310" y="3162376"/>
            <a:ext cx="4420029" cy="1093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18"/>
              </a:lnSpc>
            </a:pPr>
            <a:r>
              <a:rPr lang="en-US" b="true" sz="6299" i="true">
                <a:solidFill>
                  <a:srgbClr val="FF914D"/>
                </a:solidFill>
                <a:latin typeface="Glacial Indifference Bold Italics"/>
                <a:ea typeface="Glacial Indifference Bold Italics"/>
                <a:cs typeface="Glacial Indifference Bold Italics"/>
                <a:sym typeface="Glacial Indifference Bold Italics"/>
              </a:rPr>
              <a:t>THANK YOU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275669" y="5412781"/>
            <a:ext cx="7103964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 i="true">
                <a:solidFill>
                  <a:srgbClr val="000000"/>
                </a:solidFill>
                <a:latin typeface="Glacial Indifference Bold Italics"/>
                <a:ea typeface="Glacial Indifference Bold Italics"/>
                <a:cs typeface="Glacial Indifference Bold Italics"/>
                <a:sym typeface="Glacial Indifference Bold Italics"/>
              </a:rPr>
              <a:t>For any inquiries, please contact me at:</a:t>
            </a:r>
          </a:p>
          <a:p>
            <a:pPr algn="ctr">
              <a:lnSpc>
                <a:spcPts val="4200"/>
              </a:lnSpc>
            </a:pPr>
            <a:r>
              <a:rPr lang="en-US" b="true" sz="3000" i="true">
                <a:solidFill>
                  <a:srgbClr val="000000"/>
                </a:solidFill>
                <a:latin typeface="Glacial Indifference Bold Italics"/>
                <a:ea typeface="Glacial Indifference Bold Italics"/>
                <a:cs typeface="Glacial Indifference Bold Italics"/>
                <a:sym typeface="Glacial Indifference Bold Italics"/>
              </a:rPr>
              <a:t>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054701" y="6454616"/>
            <a:ext cx="4243464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3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akinyimarilyn@gmail.com</a:t>
            </a:r>
          </a:p>
          <a:p>
            <a:pPr algn="l">
              <a:lnSpc>
                <a:spcPts val="7500"/>
              </a:lnSpc>
            </a:pPr>
            <a:r>
              <a:rPr lang="en-US" sz="3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UserName: Marilyn Akinyi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DAGt5Y1DG9I</dc:identifier>
  <dcterms:modified xsi:type="dcterms:W3CDTF">2011-08-01T06:04:30Z</dcterms:modified>
  <cp:revision>1</cp:revision>
  <dc:title>Presentation .pdf</dc:title>
</cp:coreProperties>
</file>